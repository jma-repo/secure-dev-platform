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1" Type="http://schemas.openxmlformats.org/officeDocument/2006/relationships/slide" Target="slides/slide1.xml" /><Relationship Id="rId15" Type="http://schemas.openxmlformats.org/officeDocument/2006/relationships/slide" Target="slides/slide15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6" Type="http://schemas.openxmlformats.org/officeDocument/2006/relationships/notesMaster" Target="notesMasters/notesMaster1.xml" 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9" Type="http://schemas.openxmlformats.org/officeDocument/2006/relationships/slide" Target="slides/slide9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FFFFFF', position: 'relative', padding: 0, fontFamily: 'Microsoft YaHei' }}&gt;&#10;    &lt;Box style={{ position: 'absolute', left: 0, top: 0, width: 748, height: 720, background: 'linear-gradient(135deg, #167762 0%, #0F1E19 100%)' }} /&gt;&#10;    &lt;Box style={{ position: 'absolute', left: 0, top: 0, width: 748, height: 720, padding: '62px 56px 56px 64px', flexDirection: 'column', justifyContent: 'space-between' }}&gt;&#10;        &lt;Text style={{ fontSize: 15, color: 'rgba(255,255,255,0.62)', letterSpacing: 3 }}&gt;SENTINEL · 方案沟通&lt;/Text&gt;&#10;        &lt;Box style={{ flexDirection: 'column', gap: 22 }}&gt;&#10;            &lt;Text style={{ fontSize: 72, fontWeight: 'bold', color: '#FFFFFF', lineHeight: 1.15, letterSpacing: -0.5 }}&gt;&#10;                安全的多人在线&lt;br /&gt;开发环境&#10;            &lt;/Text&gt;&#10;            &lt;Box style={{ width: 64, height: 4, background: 'rgba(255,255,255,0.85)' }} /&gt;&#10;            &lt;Text style={{ fontSize: 22, color: 'rgba(255,255,255,0.84)', lineHeight: 1.6 }}&gt;&#10;                统一仓库 · 五道安全关卡 · 权限化内部知识问答&#10;            &lt;/Text&gt;&#10;        &lt;/Box&gt;&#10;        &lt;Box style={{ flexDirection: 'column', gap: 8 }}&gt;&#10;            &lt;Text style={{ fontSize: 15, color: 'rgba(255,255,255,0.7)' }}&gt;2026 年 10 月 · 需求对齐稿&lt;/Text&gt;&#10;            &lt;Text style={{ fontSize: 14, color: 'rgba(255,255,255,0.5)' }}&gt;本稿含未验证项，已逐条标注，不做完成度承诺&lt;/Text&gt;&#10;        &lt;/Box&gt;&#10;    &lt;/Box&gt;&#10;    &lt;Box style={{ position: 'absolute', left: 812, top: 0, width: 404, height: 720, flexDirection: 'column', justifyContent: 'center', gap: 44 }}&gt;&#10;        &lt;Box style={{ flexDirection: 'column', gap: 6 }}&gt;&#10;            &lt;Text style={{ fontSize: 40, fontWeight: 'bold', color: '#167762', fontFamily: 'Consolas' }}&gt;3&lt;/Text&gt;&#10;            &lt;Text style={{ fontSize: 18, color: '#0F1E19', fontWeight: 'bold' }}&gt;条可选路线&lt;/Text&gt;&#10;            &lt;Text style={{ fontSize: 15, color: '#6B7A72', lineHeight: 1.5 }}&gt;选哪条由数据边界决定&lt;/Text&gt;&#10;        &lt;/Box&gt;&#10;        &lt;Box style={{ width: 120, height: 1, background: 'rgba(15,30,25,0.12)' }} /&gt;&#10;        &lt;Box style={{ flexDirection: 'column', gap: 6 }}&gt;&#10;            &lt;Text style={{ fontSize: 40, fontWeight: 'bold', color: '#167762', fontFamily: 'Consolas' }}&gt;5&lt;/Text&gt;&#10;            &lt;Text style={{ fontSize: 18, color: '#0F1E19', fontWeight: 'bold' }}&gt;道安全关卡&lt;/Text&gt;&#10;            &lt;Text style={{ fontSize: 15, color: '#6B7A72', lineHeight: 1.5 }}&gt;放在每条必经之路上&lt;/Text&gt;&#10;        &lt;/Box&gt;&#10;        &lt;Box style={{ width: 120, height: 1, background: 'rgba(15,30,25,0.12)' }} /&gt;&#10;        &lt;Box style={{ flexDirection: 'column', gap: 6 }}&gt;&#10;            &lt;Text style={{ fontSize: 40, fontWeight: 'bold', color: '#167762', fontFamily: 'Consolas' }}&gt;26&lt;/Text&gt;&#10;            &lt;Text style={{ fontSize: 18, color: '#0F1E19', fontWeight: 'bold' }}&gt;项自动化测试&lt;/Text&gt;&#10;            &lt;Text style={{ fontSize: 15, color: '#6B7A72', lineHeight: 1.5 }}&gt;本地实测通过，可复跑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7124700" cy="6858000"/>
          </a:xfrm>
          <a:prstGeom prst="rect">
            <a:avLst/>
          </a:prstGeom>
          <a:gradFill>
            <a:gsLst>
              <a:gs pos="0">
                <a:srgbClr val="167762"/>
              </a:gs>
              <a:gs pos="100000">
                <a:srgbClr val="0F1E1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590550"/>
            <a:ext cx="5981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 xml:space="preserve">SENTINEL · </a:t>
            </a:r>
            <a:r>
              <a:rPr lang="zh-CN" sz="1125" spc="225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方案沟通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1962150"/>
            <a:ext cx="5981700" cy="18954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5400" b="1" spc="-37">
                <a:solidFill>
                  <a:srgbClr val="FFFFFF"/>
                </a:solidFill>
                <a:latin typeface="Microsoft YaHei"/>
                <a:ea typeface="Microsoft YaHei"/>
              </a:rPr>
              <a:t>安全的多人在线</a:t>
            </a:r>
            <a:endParaRPr/>
          </a:p>
          <a:p>
            <a:pPr>
              <a:lnSpc>
                <a:spcPct val="114999"/>
              </a:lnSpc>
            </a:pPr>
            <a:r>
              <a:rPr lang="zh-CN" sz="5400" b="1" spc="-37">
                <a:solidFill>
                  <a:srgbClr val="FFFFFF"/>
                </a:solidFill>
                <a:latin typeface="Microsoft YaHei"/>
                <a:ea typeface="Microsoft YaHei"/>
              </a:rPr>
              <a:t>开发环境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4067175"/>
            <a:ext cx="609600" cy="381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4314825"/>
            <a:ext cx="59817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FFFFFF">
                    <a:alpha val="84000"/>
                  </a:srgbClr>
                </a:solidFill>
                <a:latin typeface="Microsoft YaHei"/>
                <a:ea typeface="Microsoft YaHei"/>
              </a:rPr>
              <a:t>统一仓库</a:t>
            </a:r>
            <a:r>
              <a:rPr lang="en-US" sz="1650">
                <a:solidFill>
                  <a:srgbClr val="FFFFFF">
                    <a:alpha val="84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>
                <a:solidFill>
                  <a:srgbClr val="FFFFFF">
                    <a:alpha val="84000"/>
                  </a:srgbClr>
                </a:solidFill>
                <a:latin typeface="Microsoft YaHei"/>
                <a:ea typeface="Microsoft YaHei"/>
              </a:rPr>
              <a:t>五道安全关卡</a:t>
            </a:r>
            <a:r>
              <a:rPr lang="en-US" sz="1650">
                <a:solidFill>
                  <a:srgbClr val="FFFFFF">
                    <a:alpha val="84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>
                <a:solidFill>
                  <a:srgbClr val="FFFFFF">
                    <a:alpha val="84000"/>
                  </a:srgbClr>
                </a:solidFill>
                <a:latin typeface="Microsoft YaHei"/>
                <a:ea typeface="Microsoft YaHei"/>
              </a:rPr>
              <a:t>权限化内部知识问答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5915025"/>
            <a:ext cx="5981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12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年</a:t>
            </a:r>
            <a:r>
              <a:rPr lang="en-US" sz="112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12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月</a:t>
            </a:r>
            <a:r>
              <a:rPr lang="en-US" sz="112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需求对齐稿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6162675"/>
            <a:ext cx="598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本稿含未验证项，已逐条标注，不做完成度承诺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734300" y="1028700"/>
            <a:ext cx="38481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67762"/>
                </a:solidFill>
                <a:latin typeface="Consolas"/>
                <a:ea typeface="Consolas"/>
              </a:rPr>
              <a:t>3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734300" y="1543050"/>
            <a:ext cx="3848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E19"/>
                </a:solidFill>
                <a:latin typeface="Microsoft YaHei"/>
                <a:ea typeface="Microsoft YaHei"/>
              </a:rPr>
              <a:t>条可选路线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734300" y="1809750"/>
            <a:ext cx="38481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B7A72"/>
                </a:solidFill>
                <a:latin typeface="Microsoft YaHei"/>
                <a:ea typeface="Microsoft YaHei"/>
              </a:rPr>
              <a:t>选哪条由数据边界决定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7734300" y="2486025"/>
            <a:ext cx="1143000" cy="9525"/>
          </a:xfrm>
          <a:prstGeom prst="rect">
            <a:avLst/>
          </a:prstGeom>
          <a:solidFill>
            <a:srgbClr val="0F1E19">
              <a:alpha val="12000"/>
            </a:srgbClr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7734300" y="2914650"/>
            <a:ext cx="38481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67762"/>
                </a:solidFill>
                <a:latin typeface="Consolas"/>
                <a:ea typeface="Consolas"/>
              </a:rPr>
              <a:t>5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7734300" y="3429000"/>
            <a:ext cx="3848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E19"/>
                </a:solidFill>
                <a:latin typeface="Microsoft YaHei"/>
                <a:ea typeface="Microsoft YaHei"/>
              </a:rPr>
              <a:t>道安全关卡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7734300" y="3695700"/>
            <a:ext cx="38481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B7A72"/>
                </a:solidFill>
                <a:latin typeface="Microsoft YaHei"/>
                <a:ea typeface="Microsoft YaHei"/>
              </a:rPr>
              <a:t>放在每条必经之路上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7734300" y="4371975"/>
            <a:ext cx="1143000" cy="9525"/>
          </a:xfrm>
          <a:prstGeom prst="rect">
            <a:avLst/>
          </a:prstGeom>
          <a:solidFill>
            <a:srgbClr val="0F1E19">
              <a:alpha val="12000"/>
            </a:srgbClr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734300" y="4800600"/>
            <a:ext cx="38481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67762"/>
                </a:solidFill>
                <a:latin typeface="Consolas"/>
                <a:ea typeface="Consolas"/>
              </a:rPr>
              <a:t>26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7734300" y="5314950"/>
            <a:ext cx="3848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E19"/>
                </a:solidFill>
                <a:latin typeface="Microsoft YaHei"/>
                <a:ea typeface="Microsoft YaHei"/>
              </a:rPr>
              <a:t>项自动化测试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7734300" y="5581650"/>
            <a:ext cx="38481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B7A72"/>
                </a:solidFill>
                <a:latin typeface="Microsoft YaHei"/>
                <a:ea typeface="Microsoft YaHei"/>
              </a:rPr>
              <a:t>本地实测通过，可复跑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40" name="" descr="&lt;Slide style={{ width: 1280, height: 720, background: '#FFFFFF', padding: '26px 64px 18px 64px', position: 'relative', fontFamily: 'Microsoft YaHei' }}&gt;&#10;    &lt;Box style={{ flexDirection: 'row', gap: 56, height: 600 }}&gt;&#10;        &lt;Box style={{ width: 292, flexDirection: 'column', justifyContent: 'center', gap: 16 }}&gt;&#10;            &lt;Text style={{ fontSize: 44, fontWeight: 'bold', color: '#0F1E19', lineHeight: 1.2 }}&gt;目录&lt;/Text&gt;&#10;            &lt;Box style={{ width: 56, height: 3, background: '#167762' }} /&gt;&#10;            &lt;Text style={{ fontSize: 17, color: '#6B7A72', lineHeight: 1.6 }}&gt;15 页 · 3 章&lt;/Text&gt;&#10;            &lt;Text style={{ fontSize: 16, color: '#C2410C', lineHeight: 1.6 }}&gt;只有第三章需要你做决定，前面都是把话对齐&lt;/Text&gt;&#10;        &lt;/Box&gt;&#10;        &lt;Box style={{ flex: 1, flexDirection: 'column', justifyContent: 'center', gap: 26 }}&gt;&#10;            &lt;Box style={{ flexDirection: 'row', gap: 24, paddingBottom: 20, borderBottom: '1px solid rgba(15,30,25,0.12)' }}&gt;&#10;                &lt;Text style={{ width: 52, fontSize: 26, fontWeight: 'bold', color: '#167762', fontFamily: 'Consolas' }}&gt;01&lt;/Text&gt;&#10;                &lt;Box style={{ flex: 1, flexDirection: 'column', gap: 6 }}&gt;&#10;                    &lt;Text style={{ fontSize: 24, fontWeight: 'bold', color: '#0F1E19' }}&gt;需求对齐&lt;/Text&gt;&#10;                    &lt;Text style={{ fontSize: 17, color: '#44534C', lineHeight: 1.6 }}&gt;RAG 不是训练；权限不是&quot;略微不同&quot;；环境要分开&lt;/Text&gt;&#10;                &lt;/Box&gt;&#10;                &lt;Text style={{ fontSize: 14, color: '#6B7A72', fontFamily: 'Consolas' }}&gt;P03–P05&lt;/Text&gt;&#10;            &lt;/Box&gt;&#10;            &lt;Box style={{ flexDirection: 'row', gap: 24, paddingBottom: 20, borderBottom: '1px solid rgba(15,30,25,0.12)' }}&gt;&#10;                &lt;Text style={{ width: 52, fontSize: 26, fontWeight: 'bold', color: '#167762', fontFamily: 'Consolas' }}&gt;02&lt;/Text&gt;&#10;                &lt;Box style={{ flex: 1, flexDirection: 'column', gap: 6 }}&gt;&#10;                    &lt;Text style={{ fontSize: 24, fontWeight: 'bold', color: '#0F1E19' }}&gt;方案与安全设计&lt;/Text&gt;&#10;                    &lt;Text style={{ fontSize: 17, color: '#44534C', lineHeight: 1.6 }}&gt;三条路线取舍、离线架构、五道关卡、权限化检索、容灾&lt;/Text&gt;&#10;                &lt;/Box&gt;&#10;                &lt;Text style={{ fontSize: 14, color: '#6B7A72', fontFamily: 'Consolas' }}&gt;P06–P11&lt;/Text&gt;&#10;            &lt;/Box&gt;&#10;            &lt;Box style={{ flexDirection: 'row', gap: 24 }}&gt;&#10;                &lt;Text style={{ width: 52, fontSize: 26, fontWeight: 'bold', color: '#C2410C', fontFamily: 'Consolas' }}&gt;03&lt;/Text&gt;&#10;                &lt;Box style={{ flex: 1, flexDirection: 'column', gap: 6 }}&gt;&#10;                    &lt;Text style={{ fontSize: 24, fontWeight: 'bold', color: '#0F1E19' }}&gt;现状与下一步&lt;/Text&gt;&#10;                    &lt;Text style={{ fontSize: 17, color: '#44534C', lineHeight: 1.6 }}&gt;哪些已经验证、哪些还没有、需要你定哪五件事&lt;/Text&gt;&#10;                &lt;/Box&gt;&#10;                &lt;Text style={{ fontSize: 14, color: '#6B7A72', fontFamily: 'Consolas' }}&gt;P12–P14&lt;/Text&gt;&#10;            &lt;/Box&gt;&#10;        &lt;/Box&gt;&#10;    &lt;/Box&gt;&#10;    &lt;Box style={{ position: 'absolute', left: 64, right: 64, bottom: 12, flexDirection: 'row', justifyContent: 'space-between' }}&gt;&#10;        &lt;Text style={{ fontSize: 14, color: '#6B7A72' }}&gt;SENTINEL · 安全开发环境方案&lt;/Text&gt;&#10;        &lt;Text style={{ fontSize: 14, color: '#6B7A72', fontFamily: 'Consolas' }}&gt;02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09600" y="2105025"/>
            <a:ext cx="2781300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300" b="1">
                <a:solidFill>
                  <a:srgbClr val="0F1E19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09600" y="2867025"/>
            <a:ext cx="533400" cy="28575"/>
          </a:xfrm>
          <a:prstGeom prst="rect">
            <a:avLst/>
          </a:prstGeom>
          <a:solidFill>
            <a:srgbClr val="167762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09600" y="3048000"/>
            <a:ext cx="27813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>
                <a:solidFill>
                  <a:srgbClr val="6B7A72"/>
                </a:solidFill>
                <a:latin typeface="Microsoft YaHei"/>
                <a:ea typeface="Microsoft YaHei"/>
              </a:rPr>
              <a:t xml:space="preserve">15 </a:t>
            </a:r>
            <a:r>
              <a:rPr lang="zh-CN" sz="1275">
                <a:solidFill>
                  <a:srgbClr val="6B7A72"/>
                </a:solidFill>
                <a:latin typeface="Microsoft YaHei"/>
                <a:ea typeface="Microsoft YaHei"/>
              </a:rPr>
              <a:t>页</a:t>
            </a:r>
            <a:r>
              <a:rPr lang="en-US" sz="1275">
                <a:solidFill>
                  <a:srgbClr val="6B7A72"/>
                </a:solidFill>
                <a:latin typeface="Microsoft YaHei"/>
                <a:ea typeface="Microsoft YaHei"/>
              </a:rPr>
              <a:t xml:space="preserve"> · 3 </a:t>
            </a:r>
            <a:r>
              <a:rPr lang="zh-CN" sz="1275">
                <a:solidFill>
                  <a:srgbClr val="6B7A72"/>
                </a:solidFill>
                <a:latin typeface="Microsoft YaHei"/>
                <a:ea typeface="Microsoft YaHei"/>
              </a:rPr>
              <a:t>章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09600" y="3514725"/>
            <a:ext cx="27813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C2410C"/>
                </a:solidFill>
                <a:latin typeface="Microsoft YaHei"/>
                <a:ea typeface="Microsoft YaHei"/>
              </a:rPr>
              <a:t>只有第三章需要你做决定，前面都是把话对齐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3924300" y="1685925"/>
            <a:ext cx="7658100" cy="857250"/>
          </a:xfrm>
          <a:custGeom>
            <a:pathLst>
              <a:path w="804" h="90">
                <a:moveTo>
                  <a:pt x="0" y="89"/>
                </a:moveTo>
                <a:lnTo>
                  <a:pt x="804" y="89"/>
                </a:lnTo>
                <a:lnTo>
                  <a:pt x="804" y="90"/>
                </a:lnTo>
                <a:lnTo>
                  <a:pt x="0" y="90"/>
                </a:lnTo>
                <a:close/>
              </a:path>
            </a:pathLst>
          </a:custGeom>
          <a:solidFill>
            <a:srgbClr val="0F1E19">
              <a:alpha val="12000"/>
            </a:srgbClr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3924300" y="1685925"/>
            <a:ext cx="4953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67762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4648200" y="1685925"/>
            <a:ext cx="6191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E19"/>
                </a:solidFill>
                <a:latin typeface="Microsoft YaHei"/>
                <a:ea typeface="Microsoft YaHei"/>
              </a:rPr>
              <a:t>需求对齐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4648200" y="2019300"/>
            <a:ext cx="61912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>
                <a:solidFill>
                  <a:srgbClr val="44534C"/>
                </a:solidFill>
                <a:latin typeface="Microsoft YaHei"/>
                <a:ea typeface="Microsoft YaHei"/>
              </a:rPr>
              <a:t xml:space="preserve">RAG </a:t>
            </a:r>
            <a:r>
              <a:rPr lang="zh-CN" sz="1275">
                <a:solidFill>
                  <a:srgbClr val="44534C"/>
                </a:solidFill>
                <a:latin typeface="Microsoft YaHei"/>
                <a:ea typeface="Microsoft YaHei"/>
              </a:rPr>
              <a:t>不是训练；权限不是</a:t>
            </a:r>
            <a:r>
              <a:rPr lang="en-US" sz="1275">
                <a:solidFill>
                  <a:srgbClr val="44534C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4534C"/>
                </a:solidFill>
                <a:latin typeface="Microsoft YaHei"/>
                <a:ea typeface="Microsoft YaHei"/>
              </a:rPr>
              <a:t>略微不同</a:t>
            </a:r>
            <a:r>
              <a:rPr lang="en-US" sz="1275">
                <a:solidFill>
                  <a:srgbClr val="44534C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4534C"/>
                </a:solidFill>
                <a:latin typeface="Microsoft YaHei"/>
                <a:ea typeface="Microsoft YaHei"/>
              </a:rPr>
              <a:t>；环境要分开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1068050" y="1685925"/>
            <a:ext cx="5143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A72"/>
                </a:solidFill>
                <a:latin typeface="Consolas"/>
                <a:ea typeface="Consolas"/>
              </a:rPr>
              <a:t>P03–P05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3924300" y="2781300"/>
            <a:ext cx="7658100" cy="857250"/>
          </a:xfrm>
          <a:custGeom>
            <a:pathLst>
              <a:path w="804" h="90">
                <a:moveTo>
                  <a:pt x="0" y="89"/>
                </a:moveTo>
                <a:lnTo>
                  <a:pt x="804" y="89"/>
                </a:lnTo>
                <a:lnTo>
                  <a:pt x="804" y="90"/>
                </a:lnTo>
                <a:lnTo>
                  <a:pt x="0" y="90"/>
                </a:lnTo>
                <a:close/>
              </a:path>
            </a:pathLst>
          </a:custGeom>
          <a:solidFill>
            <a:srgbClr val="0F1E19">
              <a:alpha val="12000"/>
            </a:srgbClr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3924300" y="2781300"/>
            <a:ext cx="4953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67762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4648200" y="2781300"/>
            <a:ext cx="6191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E19"/>
                </a:solidFill>
                <a:latin typeface="Microsoft YaHei"/>
                <a:ea typeface="Microsoft YaHei"/>
              </a:rPr>
              <a:t>方案与安全设计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4648200" y="3114675"/>
            <a:ext cx="61912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44534C"/>
                </a:solidFill>
                <a:latin typeface="Microsoft YaHei"/>
                <a:ea typeface="Microsoft YaHei"/>
              </a:rPr>
              <a:t>三条路线取舍、离线架构、五道关卡、权限化检索、容灾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1068050" y="2781300"/>
            <a:ext cx="5143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A72"/>
                </a:solidFill>
                <a:latin typeface="Consolas"/>
                <a:ea typeface="Consolas"/>
              </a:rPr>
              <a:t>P06–P11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3924300" y="3876675"/>
            <a:ext cx="4953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C2410C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4648200" y="3876675"/>
            <a:ext cx="6191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E19"/>
                </a:solidFill>
                <a:latin typeface="Microsoft YaHei"/>
                <a:ea typeface="Microsoft YaHei"/>
              </a:rPr>
              <a:t>现状与下一步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4648200" y="4210050"/>
            <a:ext cx="61912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44534C"/>
                </a:solidFill>
                <a:latin typeface="Microsoft YaHei"/>
                <a:ea typeface="Microsoft YaHei"/>
              </a:rPr>
              <a:t>哪些已经验证、哪些还没有、需要你定哪五件事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1068050" y="3876675"/>
            <a:ext cx="5143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A72"/>
                </a:solidFill>
                <a:latin typeface="Consolas"/>
                <a:ea typeface="Consolas"/>
              </a:rPr>
              <a:t>P12–P14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09600" y="6581775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A72"/>
                </a:solidFill>
                <a:latin typeface="Microsoft YaHei"/>
                <a:ea typeface="Microsoft YaHei"/>
              </a:rPr>
              <a:t xml:space="preserve">SENTINEL · </a:t>
            </a:r>
            <a:r>
              <a:rPr lang="zh-CN" sz="1050">
                <a:solidFill>
                  <a:srgbClr val="6B7A72"/>
                </a:solidFill>
                <a:latin typeface="Microsoft YaHei"/>
                <a:ea typeface="Microsoft YaHei"/>
              </a:rPr>
              <a:t>安全开发环境方案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1068050" y="65817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A72"/>
                </a:solidFill>
                <a:latin typeface="Consolas"/>
                <a:ea typeface="Consolas"/>
              </a:rPr>
              <a:t>02 / 15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62" name="" descr="&lt;Slide style={{ width: 1280, height: 720, background: '#FFFFFF', position: 'relative', padding: 0, fontFamily: 'Microsoft YaHei' }}&gt;&#10;    &lt;Box style={{ position: 'absolute', left: 0, top: 0, width: 480, height: 720, background: '#167762', alignItems: 'center', justifyContent: 'center' }}&gt;&#10;        &lt;Text style={{ fontSize: 220, fontWeight: 'bold', color: 'rgba(255,255,255,0.24)', fontFamily: 'Consolas', lineHeight: 1 }}&gt;01&lt;/Text&gt;&#10;    &lt;/Box&gt;&#10;    &lt;Box style={{ position: 'absolute', left: 480, top: 0, width: 800, height: 720, padding: '0 88px 0 72px', flexDirection: 'column', justifyContent: 'center', gap: 22 }}&gt;&#10;        &lt;Text style={{ fontSize: 15, color: '#167762', letterSpacing: 3 }}&gt;第一章&lt;/Text&gt;&#10;        &lt;Text style={{ fontSize: 64, fontWeight: 'bold', color: '#0F1E19', lineHeight: 1.15 }}&gt;需求对齐&lt;/Text&gt;&#10;        &lt;Box style={{ width: 64, height: 3, background: '#167762' }} /&gt;&#10;        &lt;Text style={{ fontSize: 22, color: '#44534C', lineHeight: 1.65 }}&gt;先把三个词说准：RAG、权限、环境。&lt;/Text&gt;&#10;        &lt;Text style={{ fontSize: 16, color: '#6B7A72', lineHeight: 1.6 }}&gt;这三个词各错一步，后面的架构和预算就全歪了。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4" name=""/>
          <p:cNvSpPr/>
          <p:nvPr/>
        </p:nvSpPr>
        <p:spPr>
          <a:xfrm rot="0" flipH="0" flipV="0">
            <a:off x="0" y="0"/>
            <a:ext cx="4572000" cy="6858000"/>
          </a:xfrm>
          <a:prstGeom prst="rect">
            <a:avLst/>
          </a:prstGeom>
          <a:solidFill>
            <a:srgbClr val="167762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1133475" y="2171700"/>
            <a:ext cx="2305050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FFFFFF">
                    <a:alpha val="24000"/>
                  </a:srgbClr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257800" y="2133600"/>
            <a:ext cx="609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167762"/>
                </a:solidFill>
                <a:latin typeface="Microsoft YaHei"/>
                <a:ea typeface="Microsoft YaHei"/>
              </a:rPr>
              <a:t>第一章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5257800" y="2514600"/>
            <a:ext cx="6096000" cy="8477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800" b="1">
                <a:solidFill>
                  <a:srgbClr val="0F1E19"/>
                </a:solidFill>
                <a:latin typeface="Microsoft YaHei"/>
                <a:ea typeface="Microsoft YaHei"/>
              </a:rPr>
              <a:t>需求对齐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5257800" y="3571875"/>
            <a:ext cx="609600" cy="28575"/>
          </a:xfrm>
          <a:prstGeom prst="rect">
            <a:avLst/>
          </a:prstGeom>
          <a:solidFill>
            <a:srgbClr val="167762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5257800" y="3810000"/>
            <a:ext cx="6096000" cy="4191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650">
                <a:solidFill>
                  <a:srgbClr val="44534C"/>
                </a:solidFill>
                <a:latin typeface="Microsoft YaHei"/>
                <a:ea typeface="Microsoft YaHei"/>
              </a:rPr>
              <a:t>先把三个词说准：</a:t>
            </a:r>
            <a:r>
              <a:rPr lang="en-US" sz="1650">
                <a:solidFill>
                  <a:srgbClr val="44534C"/>
                </a:solidFill>
                <a:latin typeface="Microsoft YaHei"/>
                <a:ea typeface="Microsoft YaHei"/>
              </a:rPr>
              <a:t>RAG</a:t>
            </a:r>
            <a:r>
              <a:rPr lang="zh-CN" sz="1650">
                <a:solidFill>
                  <a:srgbClr val="44534C"/>
                </a:solidFill>
                <a:latin typeface="Microsoft YaHei"/>
                <a:ea typeface="Microsoft YaHei"/>
              </a:rPr>
              <a:t>、权限、环境。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5257800" y="4438650"/>
            <a:ext cx="6096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6B7A72"/>
                </a:solidFill>
                <a:latin typeface="Microsoft YaHei"/>
                <a:ea typeface="Microsoft YaHei"/>
              </a:rPr>
              <a:t>这三个词各错一步，后面的架构和预算就全歪了。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71" name="" descr="&lt;Slide style={{ width: 1280, height: 720, background: '#FFFFFF', padding: '26px 64px 18px 64px', position: 'relative', fontFamily: 'Microsoft YaHei' }}&gt;&#10;    &lt;Box style={{ flexDirection: 'column', gap: 6, height: 108 }}&gt;&#10;        &lt;Text style={{ fontSize: 36, fontWeight: 'bold', color: '#0F1E19', lineHeight: 1.3 }}&gt;RAG 不是训练，是检索&lt;/Text&gt;&#10;        &lt;Text style={{ fontSize: 17, color: '#6B7A72', lineHeight: 1.5 }}&gt;这一个区别，决定了成本、周期，以及能不能按人控权&lt;/Text&gt;&#10;    &lt;/Box&gt;&#10;    &lt;Box style={{ flexDirection: 'row', gap: 40, height: 522 }}&gt;&#10;        &lt;Box style={{ width: 690, flexDirection: 'column', gap: 14 }}&gt;&#10;            &lt;Table&#10;                style={{ width: 690, height: 372 }}&#10;                defaultTextStyle={{ fontSize: 16, textAlign: 'left', color: '#0F1E19' }}&#10;                defaultCellStyle={{&#10;                    border: {&#10;                        left: { width: 0, color: '#FFFFFF' },&#10;                        right: { width: 0, color: '#FFFFFF' },&#10;                        top: { width: 0, color: '#FFFFFF' },&#10;                        bottom: { width: 1, color: 'rgba(15,30,25,0.10)' },&#10;                    },&#10;                }}&#10;                cells={[&#10;                    [&#10;                        { text: '维度', textStyle: { bold: true, color: '#FFFFFF', fontSize: 16 }, cellStyle: { background: { color: '#0F1E19' } } },&#10;                        { text: '训练 / 微调模型', textStyle: { bold: true, color: '#FFFFFF', fontSize: 16 }, cellStyle: { background: { color: '#0F1E19' } } },&#10;                        { text: 'RAG 检索增强', textStyle: { bold: true, color: '#FFFFFF', fontSize: 16 }, cellStyle: { background: { color: '#167762' } } },&#10;                    ],&#10;                    ['改什么', '改模型参数，知识固化进权重', { text: '不改模型，只换文档', textStyle: { bold: true, color: '#167762' } }],&#10;                    ['知识放在哪', '训练数据里，事后说不清来源', { text: '你自己的文档里，可随时改', textStyle: { bold: true, color: '#167762' } }],&#10;                    ['多久能上线', '数周至数月，还要算力', { text: '数天，先跑通再扩', textStyle: { bold: true, color: '#167762' } }],&#10;                    ['能否按人控权', { text: '做不到：参数里没有权限', textStyle: { color: '#C2410C', bold: true } }, { text: '可以：检索前按人过滤', textStyle: { bold: true, color: '#167762' } }],&#10;                ]}&#10;            /&gt;&#10;            &lt;Text style={{ fontSize: 15, color: '#6B7A72', lineHeight: 1.5 }}&gt;我们做的是右列。左列是客户原话里&quot;train&quot;容易引发的误解，也是预算被高估的来源。&lt;/Text&gt;&#10;        &lt;/Box&gt;&#10;        &lt;Box style={{ flex: 1, flexDirection: 'column', gap: 18 }}&gt;&#10;            &lt;Text style={{ fontSize: 14, color: '#167762', letterSpacing: 2 }}&gt;客户原话 → 我们的理解&lt;/Text&gt;&#10;            &lt;Box style={{ flexDirection: 'column', gap: 8, paddingLeft: 16, borderLeft: '3px solid #167762' }}&gt;&#10;                &lt;Text style={{ fontSize: 17, color: '#0F1E19', lineHeight: 1.5 }}&gt;&quot;不是真的 train，应该是 RAG&quot;&lt;/Text&gt;&#10;                &lt;Text style={{ fontSize: 16, color: '#44534C', lineHeight: 1.6 }}&gt;对。我们不训练、不微调基础模型，只做检索 + 生成。知识更新是换文档，不是重训。&lt;/Text&gt;&#10;            &lt;/Box&gt;&#10;            &lt;Box style={{ flexDirection: 'column', gap: 8, paddingLeft: 16, borderLeft: '3px solid #C2410C' }}&gt;&#10;                &lt;Text style={{ fontSize: 17, color: '#0F1E19', lineHeight: 1.5 }}&gt;&quot;每人只能看有权限的内容&quot;&lt;/Text&gt;&#10;                &lt;Text style={{ fontSize: 16, color: '#44534C', lineHeight: 1.6 }}&gt;这件事必须在检索之前生效。检索完再删结果是假安全——答案和引用都已经泄露了。&lt;/Text&gt;&#10;            &lt;/Box&gt;&#10;            &lt;Box style={{ flexDirection: 'column', gap: 6, marginTop: 'auto', padding: 14, background: 'rgba(22,119,98,0.07)', borderRadius: 6 }}&gt;&#10;                &lt;Text style={{ fontSize: 15, color: '#0F1E19', lineHeight: 1.6 }}&gt;一句话：不是买算力训模型，是把文档和人管好。&lt;/Text&gt;&#10;            &lt;/Box&gt;&#10;        &lt;/Box&gt;&#10;    &lt;/Box&gt;&#10;    &lt;Box style={{ position: 'absolute', left: 64, right: 64, bottom: 12, flexDirection: 'row', justifyContent: 'space-between' }}&gt;&#10;        &lt;Text style={{ fontSize: 14, color: '#6B7A72' }}&gt;SENTINEL · 安全开发环境方案&lt;/Text&gt;&#10;        &lt;Text style={{ fontSize: 14, color: '#6B7A72', fontFamily: 'Consolas' }}&gt;04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09600" y="247650"/>
            <a:ext cx="109728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700" b="1">
                <a:solidFill>
                  <a:srgbClr val="0F1E19"/>
                </a:solidFill>
                <a:latin typeface="Microsoft YaHei"/>
                <a:ea typeface="Microsoft YaHei"/>
              </a:rPr>
              <a:t xml:space="preserve">RAG </a:t>
            </a:r>
            <a:r>
              <a:rPr lang="zh-CN" sz="2700" b="1">
                <a:solidFill>
                  <a:srgbClr val="0F1E19"/>
                </a:solidFill>
                <a:latin typeface="Microsoft YaHei"/>
                <a:ea typeface="Microsoft YaHei"/>
              </a:rPr>
              <a:t>不是训练，是检索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09600" y="847725"/>
            <a:ext cx="109728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6B7A72"/>
                </a:solidFill>
                <a:latin typeface="Microsoft YaHei"/>
                <a:ea typeface="Microsoft YaHei"/>
              </a:rPr>
              <a:t>这一个区别，决定了成本、周期，以及能不能按人控权</a:t>
            </a:r>
            <a:endParaRPr/>
          </a:p>
        </p:txBody>
      </p:sp>
      <p:graphicFrame>
        <p:nvGraphicFramePr>
          <p:cNvPr id="175" name=""/>
          <p:cNvGraphicFramePr/>
          <p:nvPr/>
        </p:nvGraphicFramePr>
        <p:xfrm rot="0" flipH="0" flipV="0">
          <a:off x="609600" y="1276350"/>
          <a:ext cx="6572250" cy="3543300"/>
        </p:xfrm>
        <a:graphic>
          <a:graphicData uri="http://schemas.openxmlformats.org/drawingml/2006/table">
            <a:tbl>
              <a:tblGrid>
                <a:gridCol w="1322465">
                  <a:extLst>
                    <a:ext uri="{9D8B030D-6E8A-4147-A177-3AD203B41FA5}">
                      <a16:colId val="1"/>
                    </a:ext>
                  </a:extLst>
                </a:gridCol>
                <a:gridCol w="2725079">
                  <a:extLst>
                    <a:ext uri="{9D8B030D-6E8A-4147-A177-3AD203B41FA5}">
                      <a16:colId val="2"/>
                    </a:ext>
                  </a:extLst>
                </a:gridCol>
                <a:gridCol w="2524706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7086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E1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训练 / 微调模型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E1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RAG 检索增强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7762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7086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改什么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改模型参数，知识固化进权重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67762"/>
                          </a:solidFill>
                          <a:latin typeface="Microsoft YaHei"/>
                          <a:ea typeface="Microsoft YaHei"/>
                        </a:rPr>
                        <a:t>不改模型，只换文档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7086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知识放在哪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训练数据里，事后说不清来源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67762"/>
                          </a:solidFill>
                          <a:latin typeface="Microsoft YaHei"/>
                          <a:ea typeface="Microsoft YaHei"/>
                        </a:rPr>
                        <a:t>你自己的文档里，可随时改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7086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多久能上线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数周至数月，还要算力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67762"/>
                          </a:solidFill>
                          <a:latin typeface="Microsoft YaHei"/>
                          <a:ea typeface="Microsoft YaHei"/>
                        </a:rPr>
                        <a:t>数天，先跑通再扩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7086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能否按人控权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C2410C"/>
                          </a:solidFill>
                          <a:latin typeface="Microsoft YaHei"/>
                          <a:ea typeface="Microsoft YaHei"/>
                        </a:rPr>
                        <a:t>做不到：参数里没有权限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67762"/>
                          </a:solidFill>
                          <a:latin typeface="Microsoft YaHei"/>
                          <a:ea typeface="Microsoft YaHei"/>
                        </a:rPr>
                        <a:t>可以：检索前按人过滤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09600" y="4953000"/>
            <a:ext cx="6572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B7A72"/>
                </a:solidFill>
                <a:latin typeface="Microsoft YaHei"/>
                <a:ea typeface="Microsoft YaHei"/>
              </a:rPr>
              <a:t>我们做的是右列。左列是客户原话里</a:t>
            </a:r>
            <a:r>
              <a:rPr lang="en-US" sz="1125">
                <a:solidFill>
                  <a:srgbClr val="6B7A72"/>
                </a:solidFill>
                <a:latin typeface="Microsoft YaHei"/>
                <a:ea typeface="Microsoft YaHei"/>
              </a:rPr>
              <a:t>"train"</a:t>
            </a:r>
            <a:r>
              <a:rPr lang="zh-CN" sz="1125">
                <a:solidFill>
                  <a:srgbClr val="6B7A72"/>
                </a:solidFill>
                <a:latin typeface="Microsoft YaHei"/>
                <a:ea typeface="Microsoft YaHei"/>
              </a:rPr>
              <a:t>容易引发的误解，也是预算被高估的来源。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7562850" y="1276350"/>
            <a:ext cx="4019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167762"/>
                </a:solidFill>
                <a:latin typeface="Microsoft YaHei"/>
                <a:ea typeface="Microsoft YaHei"/>
              </a:rPr>
              <a:t>客户原话</a:t>
            </a:r>
            <a:r>
              <a:rPr lang="en-US" sz="1050" spc="150">
                <a:solidFill>
                  <a:srgbClr val="167762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 spc="150">
                <a:solidFill>
                  <a:srgbClr val="167762"/>
                </a:solidFill>
                <a:latin typeface="Microsoft YaHei"/>
                <a:ea typeface="Microsoft YaHei"/>
              </a:rPr>
              <a:t>我们的理解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7562850" y="1609725"/>
            <a:ext cx="4048125" cy="962025"/>
          </a:xfrm>
          <a:custGeom>
            <a:pathLst>
              <a:path w="425" h="101">
                <a:moveTo>
                  <a:pt x="0" y="0"/>
                </a:moveTo>
                <a:lnTo>
                  <a:pt x="3" y="0"/>
                </a:lnTo>
                <a:lnTo>
                  <a:pt x="3" y="101"/>
                </a:lnTo>
                <a:lnTo>
                  <a:pt x="0" y="101"/>
                </a:lnTo>
                <a:close/>
              </a:path>
            </a:pathLst>
          </a:custGeom>
          <a:solidFill>
            <a:srgbClr val="167762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7743825" y="1609725"/>
            <a:ext cx="38385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0F1E19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0F1E19"/>
                </a:solidFill>
                <a:latin typeface="Microsoft YaHei"/>
                <a:ea typeface="Microsoft YaHei"/>
              </a:rPr>
              <a:t>不是真的</a:t>
            </a:r>
            <a:r>
              <a:rPr lang="en-US" sz="1275">
                <a:solidFill>
                  <a:srgbClr val="0F1E19"/>
                </a:solidFill>
                <a:latin typeface="Microsoft YaHei"/>
                <a:ea typeface="Microsoft YaHei"/>
              </a:rPr>
              <a:t xml:space="preserve"> train</a:t>
            </a:r>
            <a:r>
              <a:rPr lang="zh-CN" sz="1275">
                <a:solidFill>
                  <a:srgbClr val="0F1E19"/>
                </a:solidFill>
                <a:latin typeface="Microsoft YaHei"/>
                <a:ea typeface="Microsoft YaHei"/>
              </a:rPr>
              <a:t>，应该是</a:t>
            </a:r>
            <a:r>
              <a:rPr lang="en-US" sz="1275">
                <a:solidFill>
                  <a:srgbClr val="0F1E19"/>
                </a:solidFill>
                <a:latin typeface="Microsoft YaHei"/>
                <a:ea typeface="Microsoft YaHei"/>
              </a:rPr>
              <a:t xml:space="preserve"> RAG"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7743825" y="1981200"/>
            <a:ext cx="38385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4534C"/>
                </a:solidFill>
                <a:latin typeface="Microsoft YaHei"/>
                <a:ea typeface="Microsoft YaHei"/>
              </a:rPr>
              <a:t>对。我们不训练、不微调基础模型，只做检索</a:t>
            </a:r>
            <a:r>
              <a:rPr lang="en-US" sz="1200">
                <a:solidFill>
                  <a:srgbClr val="44534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44534C"/>
                </a:solidFill>
                <a:latin typeface="Microsoft YaHei"/>
                <a:ea typeface="Microsoft YaHei"/>
              </a:rPr>
              <a:t>生成。知识更新是换文档，不是重训。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7562850" y="2743200"/>
            <a:ext cx="4048125" cy="962025"/>
          </a:xfrm>
          <a:custGeom>
            <a:pathLst>
              <a:path w="425" h="101">
                <a:moveTo>
                  <a:pt x="0" y="0"/>
                </a:moveTo>
                <a:lnTo>
                  <a:pt x="3" y="0"/>
                </a:lnTo>
                <a:lnTo>
                  <a:pt x="3" y="101"/>
                </a:lnTo>
                <a:lnTo>
                  <a:pt x="0" y="101"/>
                </a:ln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7743825" y="2743200"/>
            <a:ext cx="38385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0F1E19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0F1E19"/>
                </a:solidFill>
                <a:latin typeface="Microsoft YaHei"/>
                <a:ea typeface="Microsoft YaHei"/>
              </a:rPr>
              <a:t>每人只能看有权限的内容</a:t>
            </a:r>
            <a:r>
              <a:rPr lang="en-US" sz="1275">
                <a:solidFill>
                  <a:srgbClr val="0F1E1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7743825" y="3114675"/>
            <a:ext cx="38385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4534C"/>
                </a:solidFill>
                <a:latin typeface="Microsoft YaHei"/>
                <a:ea typeface="Microsoft YaHei"/>
              </a:rPr>
              <a:t>这件事必须在检索之前生效。检索完再删结果是假安全——答案和引用都已经泄露了。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7562850" y="5705475"/>
            <a:ext cx="4019550" cy="542925"/>
          </a:xfrm>
          <a:prstGeom prst="roundRect">
            <a:avLst>
              <a:gd name="adj" fmla="val 10526"/>
            </a:avLst>
          </a:prstGeom>
          <a:solidFill>
            <a:srgbClr val="167762">
              <a:alpha val="7000"/>
            </a:srgbClr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7696200" y="5838825"/>
            <a:ext cx="37528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0F1E19"/>
                </a:solidFill>
                <a:latin typeface="Microsoft YaHei"/>
                <a:ea typeface="Microsoft YaHei"/>
              </a:rPr>
              <a:t>一句话：不是买算力训模型，是把文档和人管好。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09600" y="6581775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A72"/>
                </a:solidFill>
                <a:latin typeface="Microsoft YaHei"/>
                <a:ea typeface="Microsoft YaHei"/>
              </a:rPr>
              <a:t xml:space="preserve">SENTINEL · </a:t>
            </a:r>
            <a:r>
              <a:rPr lang="zh-CN" sz="1050">
                <a:solidFill>
                  <a:srgbClr val="6B7A72"/>
                </a:solidFill>
                <a:latin typeface="Microsoft YaHei"/>
                <a:ea typeface="Microsoft YaHei"/>
              </a:rPr>
              <a:t>安全开发环境方案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1068050" y="65817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A72"/>
                </a:solidFill>
                <a:latin typeface="Consolas"/>
                <a:ea typeface="Consolas"/>
              </a:rPr>
              <a:t>04 / 15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88" name="" descr="&lt;Slide style={{ width: 1280, height: 720, background: '#FFFFFF', padding: '26px 64px 18px 64px', position: 'relative', fontFamily: 'Microsoft YaHei' }}&gt;&#10;    &lt;Box style={{ flexDirection: 'column', gap: 6, height: 108 }}&gt;&#10;        &lt;Text style={{ fontSize: 36, fontWeight: 'bold', color: '#0F1E19', lineHeight: 1.3 }}&gt;别把权限做成&quot;略微不同&quot;&lt;/Text&gt;&#10;        &lt;Text style={{ fontSize: 17, color: '#6B7A72', lineHeight: 1.5 }}&gt;按角色的最小权限 + 变更留痕，才是能过审计的做法&lt;/Text&gt;&#10;    &lt;/Box&gt;&#10;    &lt;Box style={{ flexDirection: 'row', gap: 44, height: 522 }}&gt;&#10;        &lt;Box style={{ width: 300, height: 480, background: '#0F1E19', borderRadius: 10, padding: '36px 28px', flexDirection: 'column', justifyContent: 'space-between' }}&gt;&#10;            &lt;Box style={{ flexDirection: 'column', gap: 4 }}&gt;&#10;                &lt;Text style={{ fontSize: 14, color: 'rgba(255,255,255,0.55)', letterSpacing: 3 }}&gt;两条线&lt;/Text&gt;&#10;                &lt;Text style={{ fontSize: 40, fontWeight: 'bold', color: '#FFFFFF', lineHeight: 1.3 }}&gt;权限&lt;/Text&gt;&#10;                &lt;Text style={{ fontSize: 40, fontWeight: 'bold', color: '#FFFFFF', lineHeight: 1.3 }}&gt;环境&lt;/Text&gt;&#10;            &lt;/Box&gt;&#10;            &lt;Box style={{ flexDirection: 'column', gap: 10 }}&gt;&#10;                &lt;Box style={{ width: 40, height: 2, background: '#167762' }} /&gt;&#10;                &lt;Text style={{ fontSize: 16, color: 'rgba(255,255,255,0.72)', lineHeight: 1.65 }}&gt;这两件事必须在写第一行代码之前定下来，事后补的代价是重做数据分层。&lt;/Text&gt;&#10;            &lt;/Box&gt;&#10;        &lt;/Box&gt;&#10;        &lt;Box style={{ flex: 1, flexDirection: 'column', justifyContent: 'space-between' }}&gt;&#10;            &lt;Box style={{ flexDirection: 'row', gap: 16, paddingBottom: 18, borderBottom: '1px solid rgba(15,30,25,0.10)' }}&gt;&#10;                &lt;Text style={{ width: 28, fontSize: 17, fontWeight: 'bold', color: '#167762', fontFamily: 'Consolas', lineHeight: 1.6 }}&gt;01&lt;/Text&gt;&#10;                &lt;Box style={{ flex: 1, flexDirection: 'column', gap: 4 }}&gt;&#10;                    &lt;Text style={{ fontSize: 20, fontWeight: 'bold', color: '#0F1E19' }}&gt;身份只认企业目录&lt;/Text&gt;&#10;                    &lt;Text style={{ fontSize: 16, color: '#44534C', lineHeight: 1.65 }}&gt;接 Entra ID 或 AD，不新建一套账号。员工离职停号，知识库和代码库同时失去访问——不用逐个系统去删。&lt;/Text&gt;&#10;                &lt;/Box&gt;&#10;            &lt;/Box&gt;&#10;            &lt;Box style={{ flexDirection: 'row', gap: 16, paddingBottom: 18, borderBottom: '1px solid rgba(15,30,25,0.10)' }}&gt;&#10;                &lt;Text style={{ width: 28, fontSize: 17, fontWeight: 'bold', color: '#167762', fontFamily: 'Consolas', lineHeight: 1.6 }}&gt;02&lt;/Text&gt;&#10;                &lt;Box style={{ flex: 1, flexDirection: 'column', gap: 4 }}&gt;&#10;                    &lt;Text style={{ fontSize: 20, fontWeight: 'bold', color: '#0F1E19' }}&gt;文档入库就打标签&lt;/Text&gt;&#10;                    &lt;Text style={{ fontSize: 16, color: '#44534C', lineHeight: 1.65 }}&gt;部门、项目、密级三个维度。标签不是给人看的分类，是检索时的过滤条件——没标签的文档默认谁都看不到。&lt;/Text&gt;&#10;                &lt;/Box&gt;&#10;            &lt;/Box&gt;&#10;            &lt;Box style={{ flexDirection: 'row', gap: 16, paddingBottom: 18, borderBottom: '1px solid rgba(15,30,25,0.10)' }}&gt;&#10;                &lt;Text style={{ width: 28, fontSize: 17, fontWeight: 'bold', color: '#C2410C', fontFamily: 'Consolas', lineHeight: 1.6 }}&gt;03&lt;/Text&gt;&#10;                &lt;Box style={{ flex: 1, flexDirection: 'column', gap: 4 }}&gt;&#10;                    &lt;Text style={{ fontSize: 20, fontWeight: 'bold', color: '#0F1E19' }}&gt;先过滤，再检索&lt;/Text&gt;&#10;                    &lt;Text style={{ fontSize: 16, color: '#44534C', lineHeight: 1.65 }}&gt;权限在相似度计算之前生效。检索完再删结果是假安全：答案已经生成，引用也已经暴露了文件名。&lt;/Text&gt;&#10;                &lt;/Box&gt;&#10;            &lt;/Box&gt;&#10;            &lt;Box style={{ flexDirection: 'row', gap: 16 }}&gt;&#10;                &lt;Text style={{ width: 28, fontSize: 17, fontWeight: 'bold', color: '#167762', fontFamily: 'Consolas', lineHeight: 1.6 }}&gt;04&lt;/Text&gt;&#10;                &lt;Box style={{ flex: 1, flexDirection: 'column', gap: 4 }}&gt;&#10;                    &lt;Text style={{ fontSize: 20, fontWeight: 'bold', color: '#0F1E19' }}&gt;环境必须分开&lt;/Text&gt;&#10;                    &lt;Text style={{ fontSize: 16, color: '#44534C', lineHeight: 1.65 }}&gt;Test / UAT / PROD 三套独立索引、独立凭据、独立权限。索引不能跨环境复制，否则测试数据会把生产答案带出来。&lt;/Text&gt;&#10;                &lt;/Box&gt;&#10;            &lt;/Box&gt;&#10;        &lt;/Box&gt;&#10;    &lt;/Box&gt;&#10;    &lt;Box style={{ position: 'absolute', left: 64, right: 64, bottom: 12, flexDirection: 'row', justifyContent: 'space-between' }}&gt;&#10;        &lt;Text style={{ fontSize: 14, color: '#6B7A72' }}&gt;SENTINEL · 安全开发环境方案&lt;/Text&gt;&#10;        &lt;Text style={{ fontSize: 14, color: '#6B7A72', fontFamily: 'Consolas' }}&gt;05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609600" y="247650"/>
            <a:ext cx="109728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F1E19"/>
                </a:solidFill>
                <a:latin typeface="Microsoft YaHei"/>
                <a:ea typeface="Microsoft YaHei"/>
              </a:rPr>
              <a:t>别把权限做成</a:t>
            </a:r>
            <a:r>
              <a:rPr lang="en-US" sz="2700" b="1">
                <a:solidFill>
                  <a:srgbClr val="0F1E19"/>
                </a:solidFill>
                <a:latin typeface="Microsoft YaHei"/>
                <a:ea typeface="Microsoft YaHei"/>
              </a:rPr>
              <a:t>"</a:t>
            </a:r>
            <a:r>
              <a:rPr lang="zh-CN" sz="2700" b="1">
                <a:solidFill>
                  <a:srgbClr val="0F1E19"/>
                </a:solidFill>
                <a:latin typeface="Microsoft YaHei"/>
                <a:ea typeface="Microsoft YaHei"/>
              </a:rPr>
              <a:t>略微不同</a:t>
            </a:r>
            <a:r>
              <a:rPr lang="en-US" sz="2700" b="1">
                <a:solidFill>
                  <a:srgbClr val="0F1E1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09600" y="847725"/>
            <a:ext cx="109728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6B7A72"/>
                </a:solidFill>
                <a:latin typeface="Microsoft YaHei"/>
                <a:ea typeface="Microsoft YaHei"/>
              </a:rPr>
              <a:t>按角色的最小权限</a:t>
            </a:r>
            <a:r>
              <a:rPr lang="en-US" sz="1275">
                <a:solidFill>
                  <a:srgbClr val="6B7A72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>
                <a:solidFill>
                  <a:srgbClr val="6B7A72"/>
                </a:solidFill>
                <a:latin typeface="Microsoft YaHei"/>
                <a:ea typeface="Microsoft YaHei"/>
              </a:rPr>
              <a:t>变更留痕，才是能过审计的做法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609600" y="1276350"/>
            <a:ext cx="2857500" cy="4572000"/>
          </a:xfrm>
          <a:prstGeom prst="roundRect">
            <a:avLst>
              <a:gd name="adj" fmla="val 3333"/>
            </a:avLst>
          </a:prstGeom>
          <a:solidFill>
            <a:srgbClr val="0F1E19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876300" y="1619250"/>
            <a:ext cx="2324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两条线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76300" y="1819275"/>
            <a:ext cx="2324100" cy="6000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权限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876300" y="2457450"/>
            <a:ext cx="2324100" cy="6000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环境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876300" y="4476750"/>
            <a:ext cx="381000" cy="19050"/>
          </a:xfrm>
          <a:prstGeom prst="rect">
            <a:avLst/>
          </a:prstGeom>
          <a:solidFill>
            <a:srgbClr val="167762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76300" y="4591050"/>
            <a:ext cx="232410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这两件事必须在写第一行代码之前定下来，事后补的代价是重做数据分层。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3886200" y="1276350"/>
            <a:ext cx="7696200" cy="1066800"/>
          </a:xfrm>
          <a:custGeom>
            <a:pathLst>
              <a:path w="808" h="112">
                <a:moveTo>
                  <a:pt x="0" y="111"/>
                </a:moveTo>
                <a:lnTo>
                  <a:pt x="808" y="111"/>
                </a:lnTo>
                <a:lnTo>
                  <a:pt x="808" y="112"/>
                </a:lnTo>
                <a:lnTo>
                  <a:pt x="0" y="112"/>
                </a:lnTo>
                <a:close/>
              </a:path>
            </a:pathLst>
          </a:custGeom>
          <a:solidFill>
            <a:srgbClr val="0F1E19">
              <a:alpha val="10000"/>
            </a:srgbClr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3886200" y="1276350"/>
            <a:ext cx="266700" cy="8763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 b="1">
                <a:solidFill>
                  <a:srgbClr val="167762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4305300" y="1276350"/>
            <a:ext cx="7277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E19"/>
                </a:solidFill>
                <a:latin typeface="Microsoft YaHei"/>
                <a:ea typeface="Microsoft YaHei"/>
              </a:rPr>
              <a:t>身份只认企业目录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305300" y="1543050"/>
            <a:ext cx="72771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44534C"/>
                </a:solidFill>
                <a:latin typeface="Microsoft YaHei"/>
                <a:ea typeface="Microsoft YaHei"/>
              </a:rPr>
              <a:t>接</a:t>
            </a:r>
            <a:r>
              <a:rPr lang="en-US" sz="1200">
                <a:solidFill>
                  <a:srgbClr val="44534C"/>
                </a:solidFill>
                <a:latin typeface="Microsoft YaHei"/>
                <a:ea typeface="Microsoft YaHei"/>
              </a:rPr>
              <a:t xml:space="preserve"> Entra ID </a:t>
            </a:r>
            <a:r>
              <a:rPr lang="zh-CN" sz="1200">
                <a:solidFill>
                  <a:srgbClr val="44534C"/>
                </a:solidFill>
                <a:latin typeface="Microsoft YaHei"/>
                <a:ea typeface="Microsoft YaHei"/>
              </a:rPr>
              <a:t>或</a:t>
            </a:r>
            <a:r>
              <a:rPr lang="en-US" sz="1200">
                <a:solidFill>
                  <a:srgbClr val="44534C"/>
                </a:solidFill>
                <a:latin typeface="Microsoft YaHei"/>
                <a:ea typeface="Microsoft YaHei"/>
              </a:rPr>
              <a:t xml:space="preserve"> AD</a:t>
            </a:r>
            <a:r>
              <a:rPr lang="zh-CN" sz="1200">
                <a:solidFill>
                  <a:srgbClr val="44534C"/>
                </a:solidFill>
                <a:latin typeface="Microsoft YaHei"/>
                <a:ea typeface="Microsoft YaHei"/>
              </a:rPr>
              <a:t>，不新建一套账号。员工离职停号，知识库和代码库同时失去访问——不用逐个系统去删。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3886200" y="2743200"/>
            <a:ext cx="7696200" cy="1066800"/>
          </a:xfrm>
          <a:custGeom>
            <a:pathLst>
              <a:path w="808" h="112">
                <a:moveTo>
                  <a:pt x="0" y="111"/>
                </a:moveTo>
                <a:lnTo>
                  <a:pt x="808" y="111"/>
                </a:lnTo>
                <a:lnTo>
                  <a:pt x="808" y="112"/>
                </a:lnTo>
                <a:lnTo>
                  <a:pt x="0" y="112"/>
                </a:lnTo>
                <a:close/>
              </a:path>
            </a:pathLst>
          </a:custGeom>
          <a:solidFill>
            <a:srgbClr val="0F1E19">
              <a:alpha val="10000"/>
            </a:srgbClr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3886200" y="2743200"/>
            <a:ext cx="266700" cy="8763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 b="1">
                <a:solidFill>
                  <a:srgbClr val="167762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4305300" y="2743200"/>
            <a:ext cx="7277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E19"/>
                </a:solidFill>
                <a:latin typeface="Microsoft YaHei"/>
                <a:ea typeface="Microsoft YaHei"/>
              </a:rPr>
              <a:t>文档入库就打标签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4305300" y="3009900"/>
            <a:ext cx="72771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44534C"/>
                </a:solidFill>
                <a:latin typeface="Microsoft YaHei"/>
                <a:ea typeface="Microsoft YaHei"/>
              </a:rPr>
              <a:t>部门、项目、密级三个维度。标签不是给人看的分类，是检索时的过滤条件——没标签的文档默认谁都看不到。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3886200" y="4210050"/>
            <a:ext cx="7696200" cy="762000"/>
          </a:xfrm>
          <a:custGeom>
            <a:pathLst>
              <a:path w="808" h="80">
                <a:moveTo>
                  <a:pt x="0" y="79"/>
                </a:moveTo>
                <a:lnTo>
                  <a:pt x="808" y="79"/>
                </a:lnTo>
                <a:lnTo>
                  <a:pt x="808" y="80"/>
                </a:lnTo>
                <a:lnTo>
                  <a:pt x="0" y="80"/>
                </a:lnTo>
                <a:close/>
              </a:path>
            </a:pathLst>
          </a:custGeom>
          <a:solidFill>
            <a:srgbClr val="0F1E19">
              <a:alpha val="10000"/>
            </a:srgbClr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3886200" y="4210050"/>
            <a:ext cx="266700" cy="5715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 b="1">
                <a:solidFill>
                  <a:srgbClr val="C2410C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4305300" y="4210050"/>
            <a:ext cx="7277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E19"/>
                </a:solidFill>
                <a:latin typeface="Microsoft YaHei"/>
                <a:ea typeface="Microsoft YaHei"/>
              </a:rPr>
              <a:t>先过滤，再检索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4305300" y="4476750"/>
            <a:ext cx="72771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44534C"/>
                </a:solidFill>
                <a:latin typeface="Microsoft YaHei"/>
                <a:ea typeface="Microsoft YaHei"/>
              </a:rPr>
              <a:t>权限在相似度计算之前生效。检索完再删结果是假安全：答案已经生成，引用也已经暴露了文件名。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3886200" y="5372100"/>
            <a:ext cx="266700" cy="8763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 b="1">
                <a:solidFill>
                  <a:srgbClr val="167762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4305300" y="5372100"/>
            <a:ext cx="7277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E19"/>
                </a:solidFill>
                <a:latin typeface="Microsoft YaHei"/>
                <a:ea typeface="Microsoft YaHei"/>
              </a:rPr>
              <a:t>环境必须分开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4305300" y="5638800"/>
            <a:ext cx="72771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200">
                <a:solidFill>
                  <a:srgbClr val="44534C"/>
                </a:solidFill>
                <a:latin typeface="Microsoft YaHei"/>
                <a:ea typeface="Microsoft YaHei"/>
              </a:rPr>
              <a:t xml:space="preserve">Test / UAT / PROD </a:t>
            </a:r>
            <a:r>
              <a:rPr lang="zh-CN" sz="1200">
                <a:solidFill>
                  <a:srgbClr val="44534C"/>
                </a:solidFill>
                <a:latin typeface="Microsoft YaHei"/>
                <a:ea typeface="Microsoft YaHei"/>
              </a:rPr>
              <a:t>三套独立索引、独立凭据、独立权限。索引不能跨环境复制，否则测试数据会把生产答案带出来。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609600" y="6581775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A72"/>
                </a:solidFill>
                <a:latin typeface="Microsoft YaHei"/>
                <a:ea typeface="Microsoft YaHei"/>
              </a:rPr>
              <a:t xml:space="preserve">SENTINEL · </a:t>
            </a:r>
            <a:r>
              <a:rPr lang="zh-CN" sz="1050">
                <a:solidFill>
                  <a:srgbClr val="6B7A72"/>
                </a:solidFill>
                <a:latin typeface="Microsoft YaHei"/>
                <a:ea typeface="Microsoft YaHei"/>
              </a:rPr>
              <a:t>安全开发环境方案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1068050" y="65817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A72"/>
                </a:solidFill>
                <a:latin typeface="Consolas"/>
                <a:ea typeface="Consolas"/>
              </a:rPr>
              <a:t>05 / 15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15" name="" descr="&lt;Slide style={{ width: 1280, height: 720, background: '#FFFFFF', position: 'relative', padding: 0, fontFamily: 'Microsoft YaHei' }}&gt;&#10;    &lt;Box style={{ position: 'absolute', left: 0, top: 0, width: 480, height: 720, background: '#167762', alignItems: 'center', justifyContent: 'center' }}&gt;&#10;        &lt;Text style={{ fontSize: 220, fontWeight: 'bold', color: 'rgba(255,255,255,0.24)', fontFamily: 'Consolas', lineHeight: 1 }}&gt;02&lt;/Text&gt;&#10;    &lt;/Box&gt;&#10;    &lt;Box style={{ position: 'absolute', left: 480, top: 0, width: 800, height: 720, padding: '0 88px 0 72px', flexDirection: 'column', justifyContent: 'center', gap: 22 }}&gt;&#10;        &lt;Text style={{ fontSize: 15, color: '#167762', letterSpacing: 3 }}&gt;第二章&lt;/Text&gt;&#10;        &lt;Text style={{ fontSize: 64, fontWeight: 'bold', color: '#0F1E19', lineHeight: 1.15 }}&gt;方案与安全设计&lt;/Text&gt;&#10;        &lt;Box style={{ width: 64, height: 3, background: '#167762' }} /&gt;&#10;        &lt;Text style={{ fontSize: 22, color: '#44534C', lineHeight: 1.65 }}&gt;先选路线，再谈关卡。&lt;/Text&gt;&#10;        &lt;Text style={{ fontSize: 16, color: '#6B7A72', lineHeight: 1.6 }}&gt;路线决定数据放在哪；关卡决定出了问题会不会变成事故。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7" name=""/>
          <p:cNvSpPr/>
          <p:nvPr/>
        </p:nvSpPr>
        <p:spPr>
          <a:xfrm rot="0" flipH="0" flipV="0">
            <a:off x="0" y="0"/>
            <a:ext cx="4572000" cy="6858000"/>
          </a:xfrm>
          <a:prstGeom prst="rect">
            <a:avLst/>
          </a:prstGeom>
          <a:solidFill>
            <a:srgbClr val="167762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1133475" y="2171700"/>
            <a:ext cx="2305050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FFFFFF">
                    <a:alpha val="24000"/>
                  </a:srgbClr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5257800" y="2133600"/>
            <a:ext cx="609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167762"/>
                </a:solidFill>
                <a:latin typeface="Microsoft YaHei"/>
                <a:ea typeface="Microsoft YaHei"/>
              </a:rPr>
              <a:t>第二章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5257800" y="2514600"/>
            <a:ext cx="6096000" cy="8477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800" b="1">
                <a:solidFill>
                  <a:srgbClr val="0F1E19"/>
                </a:solidFill>
                <a:latin typeface="Microsoft YaHei"/>
                <a:ea typeface="Microsoft YaHei"/>
              </a:rPr>
              <a:t>方案与安全设计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5257800" y="3571875"/>
            <a:ext cx="609600" cy="28575"/>
          </a:xfrm>
          <a:prstGeom prst="rect">
            <a:avLst/>
          </a:prstGeom>
          <a:solidFill>
            <a:srgbClr val="167762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5257800" y="3810000"/>
            <a:ext cx="6096000" cy="4191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650">
                <a:solidFill>
                  <a:srgbClr val="44534C"/>
                </a:solidFill>
                <a:latin typeface="Microsoft YaHei"/>
                <a:ea typeface="Microsoft YaHei"/>
              </a:rPr>
              <a:t>先选路线，再谈关卡。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5257800" y="4438650"/>
            <a:ext cx="6096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6B7A72"/>
                </a:solidFill>
                <a:latin typeface="Microsoft YaHei"/>
                <a:ea typeface="Microsoft YaHei"/>
              </a:rPr>
              <a:t>路线决定数据放在哪；关卡决定出了问题会不会变成事故。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24" name="" descr="&lt;Slide style={{ width: 1280, height: 720, background: '#FFFFFF', padding: '26px 64px 18px 64px', position: 'relative', fontFamily: 'Microsoft YaHei' }}&gt;&#10;    &lt;Box style={{ flexDirection: 'column', gap: 6, height: 104 }}&gt;&#10;        &lt;Text style={{ fontSize: 36, fontWeight: 'bold', color: '#0F1E19', lineHeight: 1.3 }}&gt;三条路线：数据边界决定选型&lt;/Text&gt;&#10;        &lt;Text style={{ fontSize: 17, color: '#6B7A72', lineHeight: 1.5 }}&gt;不是&quot;哪个先进选哪个&quot;，而是&quot;数据允许放在哪&quot;&lt;/Text&gt;&#10;    &lt;/Box&gt;&#10;    &lt;Box style={{ flexDirection: 'column', gap: 16, height: 526 }}&gt;&#10;        &lt;Table&#10;            style={{ width: 1152, height: 400 }}&#10;            defaultTextStyle={{ fontSize: 15, textAlign: 'left', color: '#0F1E19' }}&#10;            defaultCellStyle={{&#10;                border: {&#10;                    left: { width: 0, color: '#FFFFFF' },&#10;                    right: { width: 0, color: '#FFFFFF' },&#10;                    top: { width: 0, color: '#FFFFFF' },&#10;                    bottom: { width: 1, color: 'rgba(15,30,25,0.10)' },&#10;                },&#10;            }}&#10;            cells={[&#10;                [&#10;                    { text: '维度', textStyle: { bold: true, color: '#FFFFFF', fontSize: 15 }, cellStyle: { background: { color: '#0F1E19' } } },&#10;                    { text: '微软 Copilot（M365）', textStyle: { bold: true, color: '#FFFFFF', fontSize: 15 }, cellStyle: { background: { color: '#0F1E19' } } },&#10;                    { text: 'Azure 自建', textStyle: { bold: true, color: '#FFFFFF', fontSize: 15 }, cellStyle: { background: { color: '#0F1E19' } } },&#10;                    { text: '完全离线自建', textStyle: { bold: true, color: '#FFFFFF', fontSize: 15 }, cellStyle: { background: { color: '#167762' } } },&#10;                ],&#10;                ['数据在哪', '你的 M365 租户（微软云）', '你的 Azure 订阅', { text: '你自己的机房', textStyle: { bold: true, color: '#167762' } }],&#10;                ['权限从哪来', '复用 SharePoint / Entra 权限', '要自己实现', { text: '要自己实现', textStyle: { bold: true, color: '#167762' } }],&#10;                ['上线速度', '快：许可到位即可', '中：要先搭环境', '慢：要硬件、镜像、模型'],&#10;                ['成本形态', '按用户按月', '云资源 + 人力', '硬件 + 人力'],&#10;                [&#10;                    { text: '能否不出内网', textStyle: { bold: true } },&#10;                    { text: '不能：数据出到微软云', textStyle: { bold: true, color: '#C2410C' } },&#10;                    { text: '不能：数据出到 Azure', textStyle: { bold: true, color: '#C2410C' } },&#10;                    { text: '能：全程内网', textStyle: { bold: true, color: '#167762' } },&#10;                ],&#10;                ['适合谁', '已经在用 M365、能接受云', '要定制、能上云', '数据绝对不允许出网'],&#10;            ]}&#10;        /&gt;&#10;        &lt;Box style={{ flexDirection: 'row', gap: 16, alignItems: 'center', padding: '14px 20px', background: 'rgba(194,65,12,0.08)', borderRadius: 6 }}&gt;&#10;            &lt;Text style={{ fontSize: 15, fontWeight: 'bold', color: '#C2410C' }}&gt;结论&lt;/Text&gt;&#10;            &lt;Text style={{ fontSize: 16, color: '#0F1E19', lineHeight: 1.55 }}&gt;&quot;不出内网&quot;和&quot;用云端 Copilot&quot;是互斥的两个选择。这一条先拍板，否则后面的架构、预算、时间表全要重做。&lt;/Text&gt;&#10;        &lt;/Box&gt;&#10;    &lt;/Box&gt;&#10;    &lt;Box style={{ position: 'absolute', left: 64, right: 64, bottom: 12, flexDirection: 'row', justifyContent: 'space-between' }}&gt;&#10;        &lt;Text style={{ fontSize: 14, color: '#6B7A72' }}&gt;SENTINEL · 安全开发环境方案&lt;/Text&gt;&#10;        &lt;Text style={{ fontSize: 14, color: '#6B7A72', fontFamily: 'Consolas' }}&gt;07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609600" y="247650"/>
            <a:ext cx="109728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F1E19"/>
                </a:solidFill>
                <a:latin typeface="Microsoft YaHei"/>
                <a:ea typeface="Microsoft YaHei"/>
              </a:rPr>
              <a:t>三条路线：数据边界决定选型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09600" y="847725"/>
            <a:ext cx="109728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6B7A72"/>
                </a:solidFill>
                <a:latin typeface="Microsoft YaHei"/>
                <a:ea typeface="Microsoft YaHei"/>
              </a:rPr>
              <a:t>不是</a:t>
            </a:r>
            <a:r>
              <a:rPr lang="en-US" sz="1275">
                <a:solidFill>
                  <a:srgbClr val="6B7A72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6B7A72"/>
                </a:solidFill>
                <a:latin typeface="Microsoft YaHei"/>
                <a:ea typeface="Microsoft YaHei"/>
              </a:rPr>
              <a:t>哪个先进选哪个</a:t>
            </a:r>
            <a:r>
              <a:rPr lang="en-US" sz="1275">
                <a:solidFill>
                  <a:srgbClr val="6B7A72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6B7A72"/>
                </a:solidFill>
                <a:latin typeface="Microsoft YaHei"/>
                <a:ea typeface="Microsoft YaHei"/>
              </a:rPr>
              <a:t>，而是</a:t>
            </a:r>
            <a:r>
              <a:rPr lang="en-US" sz="1275">
                <a:solidFill>
                  <a:srgbClr val="6B7A72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6B7A72"/>
                </a:solidFill>
                <a:latin typeface="Microsoft YaHei"/>
                <a:ea typeface="Microsoft YaHei"/>
              </a:rPr>
              <a:t>数据允许放在哪</a:t>
            </a:r>
            <a:r>
              <a:rPr lang="en-US" sz="1275">
                <a:solidFill>
                  <a:srgbClr val="6B7A72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graphicFrame>
        <p:nvGraphicFramePr>
          <p:cNvPr id="228" name=""/>
          <p:cNvGraphicFramePr/>
          <p:nvPr/>
        </p:nvGraphicFramePr>
        <p:xfrm rot="0" flipH="0" flipV="0">
          <a:off x="609600" y="1238250"/>
          <a:ext cx="10972800" cy="3810000"/>
        </p:xfrm>
        <a:graphic>
          <a:graphicData uri="http://schemas.openxmlformats.org/drawingml/2006/table">
            <a:tbl>
              <a:tblGrid>
                <a:gridCol w="1690735">
                  <a:extLst>
                    <a:ext uri="{9D8B030D-6E8A-4147-A177-3AD203B41FA5}">
                      <a16:colId val="1"/>
                    </a:ext>
                  </a:extLst>
                </a:gridCol>
                <a:gridCol w="3541037">
                  <a:extLst>
                    <a:ext uri="{9D8B030D-6E8A-4147-A177-3AD203B41FA5}">
                      <a16:colId val="2"/>
                    </a:ext>
                  </a:extLst>
                </a:gridCol>
                <a:gridCol w="2777150">
                  <a:extLst>
                    <a:ext uri="{9D8B030D-6E8A-4147-A177-3AD203B41FA5}">
                      <a16:colId val="3"/>
                    </a:ext>
                  </a:extLst>
                </a:gridCol>
                <a:gridCol w="2963878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54428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E1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微软 Copilot（M365）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E1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Azure 自建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E1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完全离线自建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7762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4428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数据在哪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你的 M365 租户（微软云）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你的 Azure 订阅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67762"/>
                          </a:solidFill>
                          <a:latin typeface="Microsoft YaHei"/>
                          <a:ea typeface="Microsoft YaHei"/>
                        </a:rPr>
                        <a:t>你自己的机房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4428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权限从哪来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复用 SharePoint / Entra 权限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要自己实现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67762"/>
                          </a:solidFill>
                          <a:latin typeface="Microsoft YaHei"/>
                          <a:ea typeface="Microsoft YaHei"/>
                        </a:rPr>
                        <a:t>要自己实现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4428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上线速度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快：许可到位即可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中：要先搭环境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慢：要硬件、镜像、模型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4428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成本形态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按用户按月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云资源 + 人力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硬件 + 人力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54428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能否不出内网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C2410C"/>
                          </a:solidFill>
                          <a:latin typeface="Microsoft YaHei"/>
                          <a:ea typeface="Microsoft YaHei"/>
                        </a:rPr>
                        <a:t>不能：数据出到微软云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C2410C"/>
                          </a:solidFill>
                          <a:latin typeface="Microsoft YaHei"/>
                          <a:ea typeface="Microsoft YaHei"/>
                        </a:rPr>
                        <a:t>不能：数据出到 Azure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67762"/>
                          </a:solidFill>
                          <a:latin typeface="Microsoft YaHei"/>
                          <a:ea typeface="Microsoft YaHei"/>
                        </a:rPr>
                        <a:t>能：全程内网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54428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适合谁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已经在用 M365、能接受云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要定制、能上云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数据绝对不允许出网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229" name=""/>
          <p:cNvSpPr/>
          <p:nvPr/>
        </p:nvSpPr>
        <p:spPr>
          <a:xfrm rot="0" flipH="0" flipV="0">
            <a:off x="609600" y="5200650"/>
            <a:ext cx="10972800" cy="552450"/>
          </a:xfrm>
          <a:prstGeom prst="roundRect">
            <a:avLst>
              <a:gd name="adj" fmla="val 10345"/>
            </a:avLst>
          </a:prstGeom>
          <a:solidFill>
            <a:srgbClr val="C2410C">
              <a:alpha val="8000"/>
            </a:srgbClr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800100" y="53911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2410C"/>
                </a:solidFill>
                <a:latin typeface="Microsoft YaHei"/>
                <a:ea typeface="Microsoft YaHei"/>
              </a:rPr>
              <a:t>结论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1238250" y="5334000"/>
            <a:ext cx="7400925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0F1E19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0F1E19"/>
                </a:solidFill>
                <a:latin typeface="Microsoft YaHei"/>
                <a:ea typeface="Microsoft YaHei"/>
              </a:rPr>
              <a:t>不出内网</a:t>
            </a:r>
            <a:r>
              <a:rPr lang="en-US" sz="1200">
                <a:solidFill>
                  <a:srgbClr val="0F1E19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0F1E19"/>
                </a:solidFill>
                <a:latin typeface="Microsoft YaHei"/>
                <a:ea typeface="Microsoft YaHei"/>
              </a:rPr>
              <a:t>和</a:t>
            </a:r>
            <a:r>
              <a:rPr lang="en-US" sz="1200">
                <a:solidFill>
                  <a:srgbClr val="0F1E19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0F1E19"/>
                </a:solidFill>
                <a:latin typeface="Microsoft YaHei"/>
                <a:ea typeface="Microsoft YaHei"/>
              </a:rPr>
              <a:t>用云端</a:t>
            </a:r>
            <a:r>
              <a:rPr lang="en-US" sz="1200">
                <a:solidFill>
                  <a:srgbClr val="0F1E19"/>
                </a:solidFill>
                <a:latin typeface="Microsoft YaHei"/>
                <a:ea typeface="Microsoft YaHei"/>
              </a:rPr>
              <a:t xml:space="preserve"> Copilot"</a:t>
            </a:r>
            <a:r>
              <a:rPr lang="zh-CN" sz="1200">
                <a:solidFill>
                  <a:srgbClr val="0F1E19"/>
                </a:solidFill>
                <a:latin typeface="Microsoft YaHei"/>
                <a:ea typeface="Microsoft YaHei"/>
              </a:rPr>
              <a:t>是互斥的两个选择。这一条先拍板，否则后面的架构、预算、时间表全要重做。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09600" y="6581775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A72"/>
                </a:solidFill>
                <a:latin typeface="Microsoft YaHei"/>
                <a:ea typeface="Microsoft YaHei"/>
              </a:rPr>
              <a:t xml:space="preserve">SENTINEL · </a:t>
            </a:r>
            <a:r>
              <a:rPr lang="zh-CN" sz="1050">
                <a:solidFill>
                  <a:srgbClr val="6B7A72"/>
                </a:solidFill>
                <a:latin typeface="Microsoft YaHei"/>
                <a:ea typeface="Microsoft YaHei"/>
              </a:rPr>
              <a:t>安全开发环境方案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11068050" y="65817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A72"/>
                </a:solidFill>
                <a:latin typeface="Consolas"/>
                <a:ea typeface="Consolas"/>
              </a:rPr>
              <a:t>07 / 15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34" name="" descr="&lt;Slide style={{ width: 1280, height: 720, background: '#FFFFFF', padding: '26px 64px 18px 64px', position: 'relative', fontFamily: 'Microsoft YaHei' }}&gt;&#13;&#10;    &lt;Box style={{ flexDirection: 'column', gap: 6, height: 100 }}&gt;&#13;&#10;        &lt;Text style={{ fontSize: 36, fontWeight: 'bold', color: '#0F1E19', lineHeight: 1.3 }}&gt;离线架构：一条边界，两条产线&lt;/Text&gt;&#13;&#10;        &lt;Text style={{ fontSize: 17, color: '#6B7A72', lineHeight: 1.5 }}&gt;代码怎么进来、知识怎么用，都在同一道边界里完成&lt;/Text&gt;&#13;&#10;    &lt;/Box&gt;&#13;&#10;    &lt;Box style={{ flexDirection: 'column', gap: 12, height: 520, justifyContent: 'space-between' }}&gt;&#13;&#10;        &lt;Box style={{ flexDirection: 'row', alignItems: 'center', gap: 12, height: 44, padding: '0 18px', background: 'rgba(194,65,12,0.08)', borderRadius: 6 }}&gt;&#13;&#10;            &lt;Text style={{ fontSize: 14, fontWeight: 'bold', color: '#C2410C' }}&gt;唯一出口&lt;/Text&gt;&#13;&#10;            &lt;Text style={{ fontSize: 15, color: '#0F1E19' }}&gt;补丁与镜像导入 · 时间同步 · 加密备份外送（全部白名单 + 留日志）&lt;/Text&gt;&#13;&#10;        &lt;/Box&gt;&#13;&#10;        &lt;Box style={{ flexDirection: 'column', height: 262, border: '2px dashed #167762', borderRadius: 10, padding: '14px 16px', gap: 8, position: 'relative' }}&gt;&#13;&#10;            &lt;Text style={{ fontSize: 14, color: '#167762', letterSpacing: 2 }}&gt;内网边界&lt;/Text&gt;&#13;&#10;            &lt;Text style={{ fontSize: 13, color: '#6B7A72' }}&gt;代码产线&lt;/Text&gt;&#13;&#10;            &lt;Box style={{ flexDirection: 'row', gap: 24 }}&gt;&#13;&#10;                &lt;Box style={{ width: 204, height: 66, background: 'rgba(22,119,98,0.09)', borderRadius: 6, padding: '8px 12px', flexDirection: 'column', justifyContent: 'center' }}&gt;&#13;&#10;                    &lt;Text style={{ fontSize: 16, fontWeight: 'bold', color: '#0F1E19' }}&gt;开发工作区&lt;/Text&gt;&#13;&#10;                    &lt;Text style={{ fontSize: 13, color: '#44534C' }}&gt;每人一个容器，同一镜像&lt;/Text&gt;&#13;&#10;                &lt;/Box&gt;&#13;&#10;                &lt;Box style={{ width: 204, height: 66, background: 'rgba(22,119,98,0.09)', borderRadius: 6, padding: '8px 12px', flexDirection: 'column', justifyContent: 'center' }}&gt;&#13;&#10;                    &lt;Text style={{ fontSize: 16, fontWeight: 'bold', color: '#0F1E19' }}&gt;内网 Git&lt;/Text&gt;&#13;&#10;                    &lt;Text style={{ fontSize: 13, color: '#44534C' }}&gt;自建 GitLab / Gitea&lt;/Text&gt;&#13;&#10;                &lt;/Box&gt;&#13;&#10;                &lt;Box style={{ width: 204, height: 66, background: 'rgba(22,119,98,0.09)', borderRadius: 6, padding: '8px 12px', flexDirection: 'column', justifyContent: 'center' }}&gt;&#13;&#10;                    &lt;Text style={{ fontSize: 16, fontWeight: 'bold', color: '#0F1E19' }}&gt;CI Runner&lt;/Text&gt;&#13;&#10;                    &lt;Text style={{ fontSize: 13, color: '#44534C' }}&gt;五道关卡在这里跑&lt;/Text&gt;&#13;&#10;                &lt;/Box&gt;&#13;&#10;                &lt;Box style={{ width: 204, height: 66, background: 'rgba(22,119,98,0.09)', borderRadius: 6, padding: '8px 12px', flexDirection: 'column', justifyContent: 'center' }}&gt;&#13;&#10;                    &lt;Text style={{ fontSize: 16, fontWeight: 'bold', color: '#0F1E19' }}&gt;制品库&lt;/Text&gt;&#13;&#10;                    &lt;Text style={{ fontSize: 13, color: '#44534C' }}&gt;镜像与依赖的内网源&lt;/Text&gt;&#13;&#10;                &lt;/Box&gt;&#13;&#10;                &lt;Box style={{ width: 204, height: 66, background: '#167762', borderRadius: 6, padding: '8px 12px', flexDirection: 'column', justifyContent: 'center' }}&gt;&#13;&#10;                    &lt;Text style={{ fontSize: 16, fontWeight: 'bold', color: '#FFFFFF' }}&gt;运行环境&lt;/Text&gt;&#13;&#10;                    &lt;Text style={{ fontSize: 13, color: 'rgba(255,255,255,0.82)' }}&gt;非 root · 只读 · 限额&lt;/Text&gt;&#13;&#10;                &lt;/Box&gt;&#13;&#10;            &lt;/Box&gt;&#13;&#10;            &lt;Text style={{ fontSize: 13, color: '#6B7A72', marginTop: 6 }}&gt;知识产线&lt;/Text&gt;&#13;&#10;            &lt;Box style={{ flexDirection: 'row', gap: 24 }}&gt;&#13;&#10;                &lt;Box style={{ width: 204, height: 66, background: 'rgba(22,119,98,0.09)', borderRadius: 6, padding: '8px 12px', flexDirection: 'column', justifyContent: 'center' }}&gt;&#13;&#10;                    &lt;Text style={{ fontSize: 16, fontWeight: 'bold', color: '#0F1E19' }}&gt;文档库&lt;/Text&gt;&#13;&#10;                    &lt;Text style={{ fontSize: 13, color: '#44534C' }}&gt;按部门 / 项目 / 密级打标&lt;/Text&gt;&#13;&#10;                &lt;/Box&gt;&#13;&#10;                &lt;Box style={{ width: 204, height: 66, background: 'rgba(22,119,98,0.09)', borderRadius: 6, padding: '8px 12px', flexDirection: 'column', justifyContent: 'center' }}&gt;&#13;&#10;                    &lt;Text style={{ fontSize: 16, fontWeight: 'bold', color: '#0F1E19' }}&gt;切块与向量化&lt;/Text&gt;&#13;&#10;                    &lt;Text style={{ fontSize: 13, color: '#44534C' }}&gt;本地 embedding 模型&lt;/Text&gt;&#13;&#10;                &lt;/Box&gt;&#13;&#10;                &lt;Box style={{ width: 204, height: 66, background: 'rgba(22,119,98,0.09)', borderRadius: 6, padding: '8px 12px', flexDirection: 'column', justifyContent: 'center' }}&gt;&#13;&#10;                    &lt;Text style={{ fontSize: 16, fontWeight: 'bold', color: '#0F1E19' }}&gt;向量索引&lt;/Text&gt;&#13;&#10;                    &lt;Text style={{ fontSize: 13, color: '#44534C' }}&gt;pgvector / Qdrant&lt;/Text&gt;&#13;&#10;                &lt;/Box&gt;&#13;&#10;                &lt;Box style={{ width: 204, height: 66, background: 'rgba(22,119,98,0.09)', borderRadius: 6, padding: '8px 12px', flexDirection: 'column', justifyContent: 'center' }}&gt;&#13;&#10;                    &lt;Text style={{ fontSize: 16, fontWeight: 'bold', color: '#0F1E19' }}&gt;本地大模型&lt;/Text&gt;&#13;&#10;                    &lt;Text style={{ fontSize: 13, color: '#44534C' }}&gt;Qwen，只监听回环&lt;/Text&gt;&#13;&#10;                &lt;/Box&gt;&#13;&#10;                &lt;Box style={{ width: 204, height: 66, background: 'rgba(22,119,98,0.09)', borderRadius: 6, padding: '8px 12px', flexDirection: 'column', justifyContent: 'center' }}&gt;&#13;&#10;                    &lt;Text style={{ fontSize: 16, fontWeight: 'bold', color: '#0F1E19' }}&gt;问答服务&lt;/Text&gt;&#13;&#10;                    &lt;Text style={{ fontSize: 13, color: '#44534C' }}&gt;带引用，可拒答&lt;/Text&gt;&#13;&#10;                &lt;/Box&gt;&#13;&#10;            &lt;/Box&gt;&#13;&#10;        &lt;/Box&gt;&#13;&#10;        &lt;Box style={{ flexDirection: 'row', gap: 16 }}&gt;&#13;&#10;            &lt;Box style={{ flex: 1, padding: '12px 16px', background: 'rgba(15,30,25,0.04)', borderRadius: 6, flexDirection: 'column', gap: 4 }}&gt;&#13;&#10;                &lt;Text style={{ fontSize: 16, fontWeight: 'bold', color: '#0F1E19' }}&gt;边界不是防火墙&lt;/Text&gt;&#13;&#10;                &lt;Text style={{ fontSize: 14, color: '#44534C', lineHeight: 1.55 }}&gt;真正管住风险的是出站通道：默认拒绝、白名单放行、每条出站留日志。&lt;/Text&gt;&#13;&#10;            &lt;/Box&gt;&#13;&#10;            &lt;Box style={{ flex: 1, padding: '12px 16px', background: 'rgba(15,30,25,0.04)', borderRadius: 6, flexDirection: 'column', gap: 4 }}&gt;&#13;&#10;                &lt;Text style={{ fontSize: 16, fontWeight: 'bold', color: '#0F1E19' }}&gt;依赖要自建镜像源&lt;/Text&gt;&#13;&#10;                &lt;Text style={{ fontSize: 14, color: '#44534C', lineHeight: 1.55 }}&gt;npm / pip / 容器镜像必须有内网源，否则一条 install 就卡死，开发直接停摆。&lt;/Text&gt;&#13;&#10;            &lt;/Box&gt;&#13;&#10;            &lt;Box style={{ flex: 1, padding: '12px 16px', background: 'rgba(15,30,25,0.04)', borderRadius: 6, flexDirection: 'column', gap: 4 }}&gt;&#13;&#10;                &lt;Text style={{ fontSize: 16, fontWeight: 'bold', color: '#0F1E19' }}&gt;模型不出网&lt;/Text&gt;&#13;&#10;                &lt;Text style={{ fontSize: 14, color: '#44534C', lineHeight: 1.55 }}&gt;推理走本机回环，代码里写死地址校验，配成外部地址直接拒绝。&lt;/Text&gt;&#13;&#10;            &lt;/Box&gt;&#13;&#10;        &lt;/Box&gt;&#13;&#10;    &lt;/Box&gt;&#13;&#10;    &lt;Box style={{ position: 'absolute', left: 64, right: 64, bottom: 12, flexDirection: 'row', justifyContent: 'space-between' }}&gt;&#13;&#10;        &lt;Text style={{ fontSize: 14, color: '#6B7A72' }}&gt;SENTINEL · 安全开发环境方案&lt;/Text&gt;&#13;&#10;        &lt;Text style={{ fontSize: 14, color: '#6B7A72', fontFamily: 'Consolas' }}&gt;08 / 15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09600" y="247650"/>
            <a:ext cx="109728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F1E19"/>
                </a:solidFill>
                <a:latin typeface="Microsoft YaHei"/>
                <a:ea typeface="Microsoft YaHei"/>
              </a:rPr>
              <a:t>离线架构：一条边界，两条产线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09600" y="847725"/>
            <a:ext cx="109728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6B7A72"/>
                </a:solidFill>
                <a:latin typeface="Microsoft YaHei"/>
                <a:ea typeface="Microsoft YaHei"/>
              </a:rPr>
              <a:t>代码怎么进来、知识怎么用，都在同一道边界里完成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609600" y="1200150"/>
            <a:ext cx="10972800" cy="419100"/>
          </a:xfrm>
          <a:prstGeom prst="roundRect">
            <a:avLst>
              <a:gd name="adj" fmla="val 13636"/>
            </a:avLst>
          </a:prstGeom>
          <a:solidFill>
            <a:srgbClr val="C2410C">
              <a:alpha val="8000"/>
            </a:srgbClr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781050" y="13335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2410C"/>
                </a:solidFill>
                <a:latin typeface="Microsoft YaHei"/>
                <a:ea typeface="Microsoft YaHei"/>
              </a:rPr>
              <a:t>唯一出口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1428750" y="1323975"/>
            <a:ext cx="428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E19"/>
                </a:solidFill>
                <a:latin typeface="Microsoft YaHei"/>
                <a:ea typeface="Microsoft YaHei"/>
              </a:rPr>
              <a:t>补丁与镜像导入</a:t>
            </a:r>
            <a:r>
              <a:rPr lang="en-US" sz="1125">
                <a:solidFill>
                  <a:srgbClr val="0F1E1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0F1E19"/>
                </a:solidFill>
                <a:latin typeface="Microsoft YaHei"/>
                <a:ea typeface="Microsoft YaHei"/>
              </a:rPr>
              <a:t>时间同步</a:t>
            </a:r>
            <a:r>
              <a:rPr lang="en-US" sz="1125">
                <a:solidFill>
                  <a:srgbClr val="0F1E1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0F1E19"/>
                </a:solidFill>
                <a:latin typeface="Microsoft YaHei"/>
                <a:ea typeface="Microsoft YaHei"/>
              </a:rPr>
              <a:t>加密备份外送（全部白名单</a:t>
            </a:r>
            <a:r>
              <a:rPr lang="en-US" sz="1125">
                <a:solidFill>
                  <a:srgbClr val="0F1E1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0F1E19"/>
                </a:solidFill>
                <a:latin typeface="Microsoft YaHei"/>
                <a:ea typeface="Microsoft YaHei"/>
              </a:rPr>
              <a:t>留日志）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609600" y="5191125"/>
            <a:ext cx="3552825" cy="962025"/>
          </a:xfrm>
          <a:prstGeom prst="roundRect">
            <a:avLst>
              <a:gd name="adj" fmla="val 5941"/>
            </a:avLst>
          </a:prstGeom>
          <a:solidFill>
            <a:srgbClr val="0F1E19">
              <a:alpha val="4000"/>
            </a:srgbClr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762000" y="5305425"/>
            <a:ext cx="3248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E19"/>
                </a:solidFill>
                <a:latin typeface="Microsoft YaHei"/>
                <a:ea typeface="Microsoft YaHei"/>
              </a:rPr>
              <a:t>边界不是防火墙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762000" y="5534025"/>
            <a:ext cx="32480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44534C"/>
                </a:solidFill>
                <a:latin typeface="Microsoft YaHei"/>
                <a:ea typeface="Microsoft YaHei"/>
              </a:rPr>
              <a:t>真正管住风险的是出站通道：默认拒绝、白名单放行、每条出站留日志。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4314825" y="5191125"/>
            <a:ext cx="3562350" cy="962025"/>
          </a:xfrm>
          <a:prstGeom prst="roundRect">
            <a:avLst>
              <a:gd name="adj" fmla="val 5941"/>
            </a:avLst>
          </a:prstGeom>
          <a:solidFill>
            <a:srgbClr val="0F1E19">
              <a:alpha val="4000"/>
            </a:srgbClr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4467225" y="5305425"/>
            <a:ext cx="3257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E19"/>
                </a:solidFill>
                <a:latin typeface="Microsoft YaHei"/>
                <a:ea typeface="Microsoft YaHei"/>
              </a:rPr>
              <a:t>依赖要自建镜像源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4467225" y="5534025"/>
            <a:ext cx="32575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050">
                <a:solidFill>
                  <a:srgbClr val="44534C"/>
                </a:solidFill>
                <a:latin typeface="Microsoft YaHei"/>
                <a:ea typeface="Microsoft YaHei"/>
              </a:rPr>
              <a:t xml:space="preserve">npm / pip / </a:t>
            </a:r>
            <a:r>
              <a:rPr lang="zh-CN" sz="1050">
                <a:solidFill>
                  <a:srgbClr val="44534C"/>
                </a:solidFill>
                <a:latin typeface="Microsoft YaHei"/>
                <a:ea typeface="Microsoft YaHei"/>
              </a:rPr>
              <a:t>容器镜像必须有内网源，否则一条</a:t>
            </a:r>
            <a:r>
              <a:rPr lang="en-US" sz="1050">
                <a:solidFill>
                  <a:srgbClr val="44534C"/>
                </a:solidFill>
                <a:latin typeface="Microsoft YaHei"/>
                <a:ea typeface="Microsoft YaHei"/>
              </a:rPr>
              <a:t xml:space="preserve"> install </a:t>
            </a:r>
            <a:r>
              <a:rPr lang="zh-CN" sz="1050">
                <a:solidFill>
                  <a:srgbClr val="44534C"/>
                </a:solidFill>
                <a:latin typeface="Microsoft YaHei"/>
                <a:ea typeface="Microsoft YaHei"/>
              </a:rPr>
              <a:t>就卡死，开发直接停摆。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8029575" y="5191125"/>
            <a:ext cx="3552825" cy="962025"/>
          </a:xfrm>
          <a:prstGeom prst="roundRect">
            <a:avLst>
              <a:gd name="adj" fmla="val 5941"/>
            </a:avLst>
          </a:prstGeom>
          <a:solidFill>
            <a:srgbClr val="0F1E19">
              <a:alpha val="4000"/>
            </a:srgbClr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8181975" y="5305425"/>
            <a:ext cx="3248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E19"/>
                </a:solidFill>
                <a:latin typeface="Microsoft YaHei"/>
                <a:ea typeface="Microsoft YaHei"/>
              </a:rPr>
              <a:t>模型不出网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8181975" y="5534025"/>
            <a:ext cx="32480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44534C"/>
                </a:solidFill>
                <a:latin typeface="Microsoft YaHei"/>
                <a:ea typeface="Microsoft YaHei"/>
              </a:rPr>
              <a:t>推理走本机回环，代码里写死地址校验，配成外部地址直接拒绝。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609600" y="2162175"/>
            <a:ext cx="10972800" cy="2495550"/>
          </a:xfrm>
          <a:prstGeom prst="roundRect">
            <a:avLst>
              <a:gd name="adj" fmla="val 3817"/>
            </a:avLst>
          </a:prstGeom>
          <a:ln w="25400">
            <a:solidFill>
              <a:srgbClr val="167762"/>
            </a:solidFill>
            <a:prstDash val="dash"/>
          </a:ln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762000" y="2295525"/>
            <a:ext cx="1066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167762"/>
                </a:solidFill>
                <a:latin typeface="Microsoft YaHei"/>
                <a:ea typeface="Microsoft YaHei"/>
              </a:rPr>
              <a:t>内网边界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762000" y="2533650"/>
            <a:ext cx="10668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7A72"/>
                </a:solidFill>
                <a:latin typeface="Microsoft YaHei"/>
                <a:ea typeface="Microsoft YaHei"/>
              </a:rPr>
              <a:t>代码产线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762000" y="2762250"/>
            <a:ext cx="1943100" cy="628650"/>
          </a:xfrm>
          <a:prstGeom prst="roundRect">
            <a:avLst>
              <a:gd name="adj" fmla="val 9091"/>
            </a:avLst>
          </a:prstGeom>
          <a:solidFill>
            <a:srgbClr val="167762">
              <a:alpha val="9000"/>
            </a:srgbClr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876300" y="2905125"/>
            <a:ext cx="171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E19"/>
                </a:solidFill>
                <a:latin typeface="Microsoft YaHei"/>
                <a:ea typeface="Microsoft YaHei"/>
              </a:rPr>
              <a:t>开发工作区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876300" y="3095625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4534C"/>
                </a:solidFill>
                <a:latin typeface="Microsoft YaHei"/>
                <a:ea typeface="Microsoft YaHei"/>
              </a:rPr>
              <a:t>每人一个容器，同一镜像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2933700" y="2762250"/>
            <a:ext cx="1943100" cy="628650"/>
          </a:xfrm>
          <a:prstGeom prst="roundRect">
            <a:avLst>
              <a:gd name="adj" fmla="val 9091"/>
            </a:avLst>
          </a:prstGeom>
          <a:solidFill>
            <a:srgbClr val="167762">
              <a:alpha val="9000"/>
            </a:srgbClr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3048000" y="2905125"/>
            <a:ext cx="171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E19"/>
                </a:solidFill>
                <a:latin typeface="Microsoft YaHei"/>
                <a:ea typeface="Microsoft YaHei"/>
              </a:rPr>
              <a:t>内网</a:t>
            </a:r>
            <a:r>
              <a:rPr lang="en-US" sz="1200" b="1">
                <a:solidFill>
                  <a:srgbClr val="0F1E19"/>
                </a:solidFill>
                <a:latin typeface="Microsoft YaHei"/>
                <a:ea typeface="Microsoft YaHei"/>
              </a:rPr>
              <a:t xml:space="preserve"> Git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3048000" y="3095625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4534C"/>
                </a:solidFill>
                <a:latin typeface="Microsoft YaHei"/>
                <a:ea typeface="Microsoft YaHei"/>
              </a:rPr>
              <a:t>自建</a:t>
            </a:r>
            <a:r>
              <a:rPr lang="en-US" sz="975">
                <a:solidFill>
                  <a:srgbClr val="44534C"/>
                </a:solidFill>
                <a:latin typeface="Microsoft YaHei"/>
                <a:ea typeface="Microsoft YaHei"/>
              </a:rPr>
              <a:t xml:space="preserve"> GitLab / Gitea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5105400" y="2762250"/>
            <a:ext cx="1943100" cy="628650"/>
          </a:xfrm>
          <a:prstGeom prst="roundRect">
            <a:avLst>
              <a:gd name="adj" fmla="val 9091"/>
            </a:avLst>
          </a:prstGeom>
          <a:solidFill>
            <a:srgbClr val="167762">
              <a:alpha val="9000"/>
            </a:srgbClr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5219700" y="2905125"/>
            <a:ext cx="171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E19"/>
                </a:solidFill>
                <a:latin typeface="Microsoft YaHei"/>
                <a:ea typeface="Microsoft YaHei"/>
              </a:rPr>
              <a:t>CI Runner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5219700" y="3095625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4534C"/>
                </a:solidFill>
                <a:latin typeface="Microsoft YaHei"/>
                <a:ea typeface="Microsoft YaHei"/>
              </a:rPr>
              <a:t>五道关卡在这里跑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7277100" y="2762250"/>
            <a:ext cx="1943100" cy="628650"/>
          </a:xfrm>
          <a:prstGeom prst="roundRect">
            <a:avLst>
              <a:gd name="adj" fmla="val 9091"/>
            </a:avLst>
          </a:prstGeom>
          <a:solidFill>
            <a:srgbClr val="167762">
              <a:alpha val="9000"/>
            </a:srgbClr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7391400" y="2905125"/>
            <a:ext cx="171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E19"/>
                </a:solidFill>
                <a:latin typeface="Microsoft YaHei"/>
                <a:ea typeface="Microsoft YaHei"/>
              </a:rPr>
              <a:t>制品库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7391400" y="3095625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4534C"/>
                </a:solidFill>
                <a:latin typeface="Microsoft YaHei"/>
                <a:ea typeface="Microsoft YaHei"/>
              </a:rPr>
              <a:t>镜像与依赖的内网源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9448800" y="2762250"/>
            <a:ext cx="1943100" cy="628650"/>
          </a:xfrm>
          <a:prstGeom prst="roundRect">
            <a:avLst>
              <a:gd name="adj" fmla="val 9091"/>
            </a:avLst>
          </a:prstGeom>
          <a:solidFill>
            <a:srgbClr val="167762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9563100" y="2905125"/>
            <a:ext cx="171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运行环境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9563100" y="3095625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非</a:t>
            </a:r>
            <a:r>
              <a:rPr lang="en-US" sz="97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root · </a:t>
            </a:r>
            <a:r>
              <a:rPr lang="zh-CN" sz="97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只读</a:t>
            </a:r>
            <a:r>
              <a:rPr lang="en-US" sz="97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限额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762000" y="3524250"/>
            <a:ext cx="10668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7A72"/>
                </a:solidFill>
                <a:latin typeface="Microsoft YaHei"/>
                <a:ea typeface="Microsoft YaHei"/>
              </a:rPr>
              <a:t>知识产线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762000" y="3752850"/>
            <a:ext cx="1943100" cy="628650"/>
          </a:xfrm>
          <a:prstGeom prst="roundRect">
            <a:avLst>
              <a:gd name="adj" fmla="val 9091"/>
            </a:avLst>
          </a:prstGeom>
          <a:solidFill>
            <a:srgbClr val="167762">
              <a:alpha val="9000"/>
            </a:srgbClr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876300" y="3895725"/>
            <a:ext cx="171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E19"/>
                </a:solidFill>
                <a:latin typeface="Microsoft YaHei"/>
                <a:ea typeface="Microsoft YaHei"/>
              </a:rPr>
              <a:t>文档库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876300" y="4086225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4534C"/>
                </a:solidFill>
                <a:latin typeface="Microsoft YaHei"/>
                <a:ea typeface="Microsoft YaHei"/>
              </a:rPr>
              <a:t>按部门</a:t>
            </a:r>
            <a:r>
              <a:rPr lang="en-US" sz="975">
                <a:solidFill>
                  <a:srgbClr val="44534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44534C"/>
                </a:solidFill>
                <a:latin typeface="Microsoft YaHei"/>
                <a:ea typeface="Microsoft YaHei"/>
              </a:rPr>
              <a:t>项目</a:t>
            </a:r>
            <a:r>
              <a:rPr lang="en-US" sz="975">
                <a:solidFill>
                  <a:srgbClr val="44534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44534C"/>
                </a:solidFill>
                <a:latin typeface="Microsoft YaHei"/>
                <a:ea typeface="Microsoft YaHei"/>
              </a:rPr>
              <a:t>密级打标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2933700" y="3752850"/>
            <a:ext cx="1943100" cy="628650"/>
          </a:xfrm>
          <a:prstGeom prst="roundRect">
            <a:avLst>
              <a:gd name="adj" fmla="val 9091"/>
            </a:avLst>
          </a:prstGeom>
          <a:solidFill>
            <a:srgbClr val="167762">
              <a:alpha val="9000"/>
            </a:srgbClr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3048000" y="3895725"/>
            <a:ext cx="171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E19"/>
                </a:solidFill>
                <a:latin typeface="Microsoft YaHei"/>
                <a:ea typeface="Microsoft YaHei"/>
              </a:rPr>
              <a:t>切块与向量化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3048000" y="4086225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4534C"/>
                </a:solidFill>
                <a:latin typeface="Microsoft YaHei"/>
                <a:ea typeface="Microsoft YaHei"/>
              </a:rPr>
              <a:t>本地</a:t>
            </a:r>
            <a:r>
              <a:rPr lang="en-US" sz="975">
                <a:solidFill>
                  <a:srgbClr val="44534C"/>
                </a:solidFill>
                <a:latin typeface="Microsoft YaHei"/>
                <a:ea typeface="Microsoft YaHei"/>
              </a:rPr>
              <a:t xml:space="preserve"> embedding </a:t>
            </a:r>
            <a:r>
              <a:rPr lang="zh-CN" sz="975">
                <a:solidFill>
                  <a:srgbClr val="44534C"/>
                </a:solidFill>
                <a:latin typeface="Microsoft YaHei"/>
                <a:ea typeface="Microsoft YaHei"/>
              </a:rPr>
              <a:t>模型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5105400" y="3752850"/>
            <a:ext cx="1943100" cy="628650"/>
          </a:xfrm>
          <a:prstGeom prst="roundRect">
            <a:avLst>
              <a:gd name="adj" fmla="val 9091"/>
            </a:avLst>
          </a:prstGeom>
          <a:solidFill>
            <a:srgbClr val="167762">
              <a:alpha val="9000"/>
            </a:srgbClr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5219700" y="3895725"/>
            <a:ext cx="171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E19"/>
                </a:solidFill>
                <a:latin typeface="Microsoft YaHei"/>
                <a:ea typeface="Microsoft YaHei"/>
              </a:rPr>
              <a:t>向量索引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5219700" y="4086225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4534C"/>
                </a:solidFill>
                <a:latin typeface="Microsoft YaHei"/>
                <a:ea typeface="Microsoft YaHei"/>
              </a:rPr>
              <a:t>pgvector / Qdrant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7277100" y="3752850"/>
            <a:ext cx="1943100" cy="628650"/>
          </a:xfrm>
          <a:prstGeom prst="roundRect">
            <a:avLst>
              <a:gd name="adj" fmla="val 9091"/>
            </a:avLst>
          </a:prstGeom>
          <a:solidFill>
            <a:srgbClr val="167762">
              <a:alpha val="9000"/>
            </a:srgbClr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7391400" y="3895725"/>
            <a:ext cx="171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E19"/>
                </a:solidFill>
                <a:latin typeface="Microsoft YaHei"/>
                <a:ea typeface="Microsoft YaHei"/>
              </a:rPr>
              <a:t>本地大模型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7391400" y="4086225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4534C"/>
                </a:solidFill>
                <a:latin typeface="Microsoft YaHei"/>
                <a:ea typeface="Microsoft YaHei"/>
              </a:rPr>
              <a:t>Qwen</a:t>
            </a:r>
            <a:r>
              <a:rPr lang="zh-CN" sz="975">
                <a:solidFill>
                  <a:srgbClr val="44534C"/>
                </a:solidFill>
                <a:latin typeface="Microsoft YaHei"/>
                <a:ea typeface="Microsoft YaHei"/>
              </a:rPr>
              <a:t>，只监听回环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9448800" y="3752850"/>
            <a:ext cx="1943100" cy="628650"/>
          </a:xfrm>
          <a:prstGeom prst="roundRect">
            <a:avLst>
              <a:gd name="adj" fmla="val 9091"/>
            </a:avLst>
          </a:prstGeom>
          <a:solidFill>
            <a:srgbClr val="167762">
              <a:alpha val="9000"/>
            </a:srgbClr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9563100" y="3895725"/>
            <a:ext cx="171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E19"/>
                </a:solidFill>
                <a:latin typeface="Microsoft YaHei"/>
                <a:ea typeface="Microsoft YaHei"/>
              </a:rPr>
              <a:t>问答服务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9563100" y="4086225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4534C"/>
                </a:solidFill>
                <a:latin typeface="Microsoft YaHei"/>
                <a:ea typeface="Microsoft YaHei"/>
              </a:rPr>
              <a:t>带引用，可拒答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609600" y="6581775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A72"/>
                </a:solidFill>
                <a:latin typeface="Microsoft YaHei"/>
                <a:ea typeface="Microsoft YaHei"/>
              </a:rPr>
              <a:t xml:space="preserve">SENTINEL · </a:t>
            </a:r>
            <a:r>
              <a:rPr lang="zh-CN" sz="1050">
                <a:solidFill>
                  <a:srgbClr val="6B7A72"/>
                </a:solidFill>
                <a:latin typeface="Microsoft YaHei"/>
                <a:ea typeface="Microsoft YaHei"/>
              </a:rPr>
              <a:t>安全开发环境方案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11068050" y="65817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A72"/>
                </a:solidFill>
                <a:latin typeface="Consolas"/>
                <a:ea typeface="Consolas"/>
              </a:rPr>
              <a:t>08 / 15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86" name="" descr="&lt;Slide style={{ width: 1280, height: 720, background: '#FFFFFF', padding: '26px 64px 18px 64px', position: 'relative', fontFamily: 'Microsoft YaHei' }}&gt;&#10;    &lt;Box style={{ flexDirection: 'column', gap: 6, height: 104 }}&gt;&#10;        &lt;Text style={{ fontSize: 36, fontWeight: 'bold', color: '#0F1E19', lineHeight: 1.3 }}&gt;五道关卡，卡在必经之路上&lt;/Text&gt;&#10;        &lt;Text style={{ fontSize: 17, color: '#6B7A72', lineHeight: 1.5 }}&gt;安全不是扫描器越多越好，是每一关都绕不过去&lt;/Text&gt;&#10;    &lt;/Box&gt;&#10;    &lt;Box style={{ flexDirection: 'row', gap: 40, height: 526 }}&gt;&#10;        &lt;Box style={{ width: 712, flexDirection: 'column', justifyContent: 'space-between' }}&gt;&#10;            &lt;Box style={{ flexDirection: 'row', gap: 16, alignItems: 'center', paddingBottom: 14, borderBottom: '1px solid rgba(15,30,25,0.10)' }}&gt;&#10;                &lt;Box style={{ width: 40, height: 40, borderRadius: 20, background: '#167762', alignItems: 'center', justifyContent: 'center' }}&gt;&#10;                    &lt;Text style={{ fontSize: 16, fontWeight: 'bold', color: '#FFFFFF', fontFamily: 'Consolas' }}&gt;1&lt;/Text&gt;&#10;                &lt;/Box&gt;&#10;                &lt;Box style={{ flex: 1, flexDirection: 'column', gap: 2 }}&gt;&#10;                    &lt;Text style={{ fontSize: 19, fontWeight: 'bold', color: '#0F1E19' }}&gt;统一环境&lt;/Text&gt;&#10;                    &lt;Text style={{ fontSize: 15, color: '#44534C' }}&gt;Dev Container + 固定版本，挡住&quot;我这能跑&quot;&lt;/Text&gt;&#10;                &lt;/Box&gt;&#10;                &lt;Text style={{ fontSize: 14, color: '#6B7A72', fontFamily: 'Consolas' }}&gt;写代码时&lt;/Text&gt;&#10;            &lt;/Box&gt;&#10;            &lt;Box style={{ flexDirection: 'row', gap: 16, alignItems: 'center', paddingBottom: 14, borderBottom: '1px solid rgba(15,30,25,0.10)' }}&gt;&#10;                &lt;Box style={{ width: 40, height: 40, borderRadius: 20, background: '#167762', alignItems: 'center', justifyContent: 'center' }}&gt;&#10;                    &lt;Text style={{ fontSize: 16, fontWeight: 'bold', color: '#FFFFFF', fontFamily: 'Consolas' }}&gt;2&lt;/Text&gt;&#10;                &lt;/Box&gt;&#10;                &lt;Box style={{ flex: 1, flexDirection: 'column', gap: 2 }}&gt;&#10;                    &lt;Text style={{ fontSize: 19, fontWeight: 'bold', color: '#0F1E19' }}&gt;提交前扫描&lt;/Text&gt;&#10;                    &lt;Text style={{ fontSize: 15, color: '#44534C' }}&gt;扫 Git 暂存区，挡住&quot;删了密钥但忘了 add&quot;&lt;/Text&gt;&#10;                &lt;/Box&gt;&#10;                &lt;Text style={{ fontSize: 14, color: '#6B7A72', fontFamily: 'Consolas' }}&gt;commit 时&lt;/Text&gt;&#10;            &lt;/Box&gt;&#10;            &lt;Box style={{ flexDirection: 'row', gap: 16, alignItems: 'center', paddingBottom: 14, borderBottom: '1px solid rgba(15,30,25,0.10)' }}&gt;&#10;                &lt;Box style={{ width: 40, height: 40, borderRadius: 20, background: '#167762', alignItems: 'center', justifyContent: 'center' }}&gt;&#10;                    &lt;Text style={{ fontSize: 16, fontWeight: 'bold', color: '#FFFFFF', fontFamily: 'Consolas' }}&gt;3&lt;/Text&gt;&#10;                &lt;/Box&gt;&#10;                &lt;Box style={{ flex: 1, flexDirection: 'column', gap: 2 }}&gt;&#10;                    &lt;Text style={{ fontSize: 19, fontWeight: 'bold', color: '#0F1E19' }}&gt;CI 五项并行&lt;/Text&gt;&#10;                    &lt;Text style={{ fontSize: 15, color: '#44534C' }}&gt;测试 / 历史密钥 / IaC / 依赖 / 镜像，挡住&quot;本地跳过&quot;&lt;/Text&gt;&#10;                &lt;/Box&gt;&#10;                &lt;Text style={{ fontSize: 14, color: '#6B7A72', fontFamily: 'Consolas' }}&gt;开 PR 时&lt;/Text&gt;&#10;            &lt;/Box&gt;&#10;            &lt;Box style={{ flexDirection: 'row', gap: 16, alignItems: 'center', paddingBottom: 14, borderBottom: '1px solid rgba(15,30,25,0.10)' }}&gt;&#10;                &lt;Box style={{ width: 40, height: 40, borderRadius: 20, background: 'rgba(194,65,12,0.12)', alignItems: 'center', justifyContent: 'center' }}&gt;&#10;                    &lt;Text style={{ fontSize: 16, fontWeight: 'bold', color: '#C2410C', fontFamily: 'Consolas' }}&gt;4&lt;/Text&gt;&#10;                &lt;/Box&gt;&#10;                &lt;Box style={{ flex: 1, flexDirection: 'column', gap: 2 }}&gt;&#10;                    &lt;Text style={{ fontSize: 19, fontWeight: 'bold', color: '#0F1E19' }}&gt;评审 + 分支保护&lt;/Text&gt;&#10;                    &lt;Text style={{ fontSize: 15, color: '#44534C' }}&gt;一人评审、禁强推，挡住&quot;直接推 main&quot;（模板未启用）&lt;/Text&gt;&#10;                &lt;/Box&gt;&#10;                &lt;Text style={{ fontSize: 14, color: '#C2410C', fontFamily: 'Consolas' }}&gt;待启用&lt;/Text&gt;&#10;            &lt;/Box&gt;&#10;            &lt;Box style={{ flexDirection: 'row', gap: 16, alignItems: 'center' }}&gt;&#10;                &lt;Box style={{ width: 40, height: 40, borderRadius: 20, background: '#167762', alignItems: 'center', justifyContent: 'center' }}&gt;&#10;                    &lt;Text style={{ fontSize: 16, fontWeight: 'bold', color: '#FFFFFF', fontFamily: 'Consolas' }}&gt;5&lt;/Text&gt;&#10;                &lt;/Box&gt;&#10;                &lt;Box style={{ flex: 1, flexDirection: 'column', gap: 2 }}&gt;&#10;                    &lt;Text style={{ fontSize: 19, fontWeight: 'bold', color: '#0F1E19' }}&gt;运行时加固&lt;/Text&gt;&#10;                    &lt;Text style={{ fontSize: 15, color: '#44534C' }}&gt;非 root、只读、无特权、限额，挡住&quot;漏洞变成事故&quot;&lt;/Text&gt;&#10;                &lt;/Box&gt;&#10;                &lt;Text style={{ fontSize: 14, color: '#6B7A72', fontFamily: 'Consolas' }}&gt;运行时&lt;/Text&gt;&#10;            &lt;/Box&gt;&#10;        &lt;/Box&gt;&#10;        &lt;Box style={{ flex: 1, flexDirection: 'column', justifyContent: 'center', gap: 10 }}&gt;&#10;            &lt;Text style={{ fontSize: 96, fontWeight: 'bold', color: '#167762', fontFamily: 'Consolas', lineHeight: 1 }}&gt;26&lt;/Text&gt;&#10;            &lt;Text style={{ fontSize: 20, fontWeight: 'bold', color: '#0F1E19' }}&gt;项自动化测试&lt;/Text&gt;&#10;            &lt;Text style={{ fontSize: 15, color: '#44534C', lineHeight: 1.65 }}&gt;每一道关卡都有对应的实测证据，不是流程图上的一个框。&lt;/Text&gt;&#10;            &lt;Box style={{ flexDirection: 'column', gap: 4, marginTop: 14, padding: 12, background: 'rgba(194,65,12,0.08)', borderRadius: 6 }}&gt;&#10;                &lt;Text style={{ fontSize: 14, fontWeight: 'bold', color: '#C2410C' }}&gt;第 4 道还差一步&lt;/Text&gt;&#10;                &lt;Text style={{ fontSize: 14, color: '#0F1E19', lineHeight: 1.55 }}&gt;模板已写好，需要仓库管理员在 GitHub 上应用后才生效。&lt;/Text&gt;&#10;            &lt;/Box&gt;&#10;        &lt;/Box&gt;&#10;    &lt;/Box&gt;&#10;    &lt;Box style={{ position: 'absolute', left: 64, right: 64, bottom: 12, flexDirection: 'row', justifyContent: 'space-between' }}&gt;&#10;        &lt;Text style={{ fontSize: 14, color: '#6B7A72' }}&gt;SENTINEL · 安全开发环境方案&lt;/Text&gt;&#10;        &lt;Text style={{ fontSize: 14, color: '#6B7A72', fontFamily: 'Consolas' }}&gt;09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609600" y="247650"/>
            <a:ext cx="109728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F1E19"/>
                </a:solidFill>
                <a:latin typeface="Microsoft YaHei"/>
                <a:ea typeface="Microsoft YaHei"/>
              </a:rPr>
              <a:t>五道关卡，卡在必经之路上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609600" y="847725"/>
            <a:ext cx="109728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6B7A72"/>
                </a:solidFill>
                <a:latin typeface="Microsoft YaHei"/>
                <a:ea typeface="Microsoft YaHei"/>
              </a:rPr>
              <a:t>安全不是扫描器越多越好，是每一关都绕不过去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609600" y="1238250"/>
            <a:ext cx="6781800" cy="561975"/>
          </a:xfrm>
          <a:custGeom>
            <a:pathLst>
              <a:path w="712" h="59">
                <a:moveTo>
                  <a:pt x="0" y="58"/>
                </a:moveTo>
                <a:lnTo>
                  <a:pt x="712" y="58"/>
                </a:lnTo>
                <a:lnTo>
                  <a:pt x="712" y="59"/>
                </a:lnTo>
                <a:lnTo>
                  <a:pt x="0" y="59"/>
                </a:lnTo>
                <a:close/>
              </a:path>
            </a:pathLst>
          </a:custGeom>
          <a:solidFill>
            <a:srgbClr val="0F1E19">
              <a:alpha val="10000"/>
            </a:srgbClr>
          </a:solidFill>
          <a:ln/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609600" y="12573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67762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762000" y="135255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Consolas"/>
                <a:ea typeface="Consolas"/>
              </a:rPr>
              <a:t>1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1143000" y="1238250"/>
            <a:ext cx="5295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E19"/>
                </a:solidFill>
                <a:latin typeface="Microsoft YaHei"/>
                <a:ea typeface="Microsoft YaHei"/>
              </a:rPr>
              <a:t>统一环境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1143000" y="1476375"/>
            <a:ext cx="529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4534C"/>
                </a:solidFill>
                <a:latin typeface="Microsoft YaHei"/>
                <a:ea typeface="Microsoft YaHei"/>
              </a:rPr>
              <a:t xml:space="preserve">Dev Container + </a:t>
            </a: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固定版本，挡住</a:t>
            </a:r>
            <a:r>
              <a:rPr lang="en-US" sz="1125">
                <a:solidFill>
                  <a:srgbClr val="44534C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我这能跑</a:t>
            </a:r>
            <a:r>
              <a:rPr lang="en-US" sz="1125">
                <a:solidFill>
                  <a:srgbClr val="44534C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6591300" y="13620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A72"/>
                </a:solidFill>
                <a:latin typeface="Consolas"/>
                <a:ea typeface="Consolas"/>
              </a:rPr>
              <a:t>写代码时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609600" y="2390775"/>
            <a:ext cx="6781800" cy="561975"/>
          </a:xfrm>
          <a:custGeom>
            <a:pathLst>
              <a:path w="712" h="59">
                <a:moveTo>
                  <a:pt x="0" y="58"/>
                </a:moveTo>
                <a:lnTo>
                  <a:pt x="712" y="58"/>
                </a:lnTo>
                <a:lnTo>
                  <a:pt x="712" y="59"/>
                </a:lnTo>
                <a:lnTo>
                  <a:pt x="0" y="59"/>
                </a:lnTo>
                <a:close/>
              </a:path>
            </a:pathLst>
          </a:custGeom>
          <a:solidFill>
            <a:srgbClr val="0F1E19">
              <a:alpha val="10000"/>
            </a:srgbClr>
          </a:solidFill>
          <a:ln/>
        </p:spPr>
        <p:txBody>
          <a:bodyPr/>
          <a:p/>
        </p:txBody>
      </p:sp>
      <p:sp>
        <p:nvSpPr>
          <p:cNvPr id="297" name=""/>
          <p:cNvSpPr/>
          <p:nvPr/>
        </p:nvSpPr>
        <p:spPr>
          <a:xfrm rot="0" flipH="0" flipV="0">
            <a:off x="609600" y="24098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67762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762000" y="2505075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Consolas"/>
                <a:ea typeface="Consolas"/>
              </a:rPr>
              <a:t>2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1143000" y="2390775"/>
            <a:ext cx="5381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E19"/>
                </a:solidFill>
                <a:latin typeface="Microsoft YaHei"/>
                <a:ea typeface="Microsoft YaHei"/>
              </a:rPr>
              <a:t>提交前扫描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143000" y="2628900"/>
            <a:ext cx="538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扫</a:t>
            </a:r>
            <a:r>
              <a:rPr lang="en-US" sz="1125">
                <a:solidFill>
                  <a:srgbClr val="44534C"/>
                </a:solidFill>
                <a:latin typeface="Microsoft YaHei"/>
                <a:ea typeface="Microsoft YaHei"/>
              </a:rPr>
              <a:t xml:space="preserve"> Git </a:t>
            </a: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暂存区，挡住</a:t>
            </a:r>
            <a:r>
              <a:rPr lang="en-US" sz="1125">
                <a:solidFill>
                  <a:srgbClr val="44534C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删了密钥但忘了</a:t>
            </a:r>
            <a:r>
              <a:rPr lang="en-US" sz="1125">
                <a:solidFill>
                  <a:srgbClr val="44534C"/>
                </a:solidFill>
                <a:latin typeface="Microsoft YaHei"/>
                <a:ea typeface="Microsoft YaHei"/>
              </a:rPr>
              <a:t xml:space="preserve"> add"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6677025" y="2514600"/>
            <a:ext cx="714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A72"/>
                </a:solidFill>
                <a:latin typeface="Consolas"/>
                <a:ea typeface="Consolas"/>
              </a:rPr>
              <a:t xml:space="preserve">commit </a:t>
            </a:r>
            <a:r>
              <a:rPr lang="zh-CN" sz="1050">
                <a:solidFill>
                  <a:srgbClr val="6B7A72"/>
                </a:solidFill>
                <a:latin typeface="Consolas"/>
                <a:ea typeface="Consolas"/>
              </a:rPr>
              <a:t>时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609600" y="3543300"/>
            <a:ext cx="6781800" cy="561975"/>
          </a:xfrm>
          <a:custGeom>
            <a:pathLst>
              <a:path w="712" h="59">
                <a:moveTo>
                  <a:pt x="0" y="58"/>
                </a:moveTo>
                <a:lnTo>
                  <a:pt x="712" y="58"/>
                </a:lnTo>
                <a:lnTo>
                  <a:pt x="712" y="59"/>
                </a:lnTo>
                <a:lnTo>
                  <a:pt x="0" y="59"/>
                </a:lnTo>
                <a:close/>
              </a:path>
            </a:pathLst>
          </a:custGeom>
          <a:solidFill>
            <a:srgbClr val="0F1E19">
              <a:alpha val="10000"/>
            </a:srgbClr>
          </a:solidFill>
          <a:ln/>
        </p:spPr>
        <p:txBody>
          <a:bodyPr/>
          <a:p/>
        </p:txBody>
      </p:sp>
      <p:sp>
        <p:nvSpPr>
          <p:cNvPr id="303" name=""/>
          <p:cNvSpPr/>
          <p:nvPr/>
        </p:nvSpPr>
        <p:spPr>
          <a:xfrm rot="0" flipH="0" flipV="0">
            <a:off x="609600" y="35623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67762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762000" y="365760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Consolas"/>
                <a:ea typeface="Consolas"/>
              </a:rPr>
              <a:t>3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1143000" y="3543300"/>
            <a:ext cx="54006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F1E19"/>
                </a:solidFill>
                <a:latin typeface="Microsoft YaHei"/>
                <a:ea typeface="Microsoft YaHei"/>
              </a:rPr>
              <a:t xml:space="preserve">CI </a:t>
            </a:r>
            <a:r>
              <a:rPr lang="zh-CN" sz="1425" b="1">
                <a:solidFill>
                  <a:srgbClr val="0F1E19"/>
                </a:solidFill>
                <a:latin typeface="Microsoft YaHei"/>
                <a:ea typeface="Microsoft YaHei"/>
              </a:rPr>
              <a:t>五项并行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1143000" y="3781425"/>
            <a:ext cx="5400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测试</a:t>
            </a:r>
            <a:r>
              <a:rPr lang="en-US" sz="1125">
                <a:solidFill>
                  <a:srgbClr val="44534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历史密钥</a:t>
            </a:r>
            <a:r>
              <a:rPr lang="en-US" sz="1125">
                <a:solidFill>
                  <a:srgbClr val="44534C"/>
                </a:solidFill>
                <a:latin typeface="Microsoft YaHei"/>
                <a:ea typeface="Microsoft YaHei"/>
              </a:rPr>
              <a:t xml:space="preserve"> / IaC / </a:t>
            </a: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依赖</a:t>
            </a:r>
            <a:r>
              <a:rPr lang="en-US" sz="1125">
                <a:solidFill>
                  <a:srgbClr val="44534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镜像，挡住</a:t>
            </a:r>
            <a:r>
              <a:rPr lang="en-US" sz="1125">
                <a:solidFill>
                  <a:srgbClr val="44534C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本地跳过</a:t>
            </a:r>
            <a:r>
              <a:rPr lang="en-US" sz="1125">
                <a:solidFill>
                  <a:srgbClr val="44534C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6696075" y="3667125"/>
            <a:ext cx="695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A72"/>
                </a:solidFill>
                <a:latin typeface="Consolas"/>
                <a:ea typeface="Consolas"/>
              </a:rPr>
              <a:t>开</a:t>
            </a:r>
            <a:r>
              <a:rPr lang="en-US" sz="1050">
                <a:solidFill>
                  <a:srgbClr val="6B7A72"/>
                </a:solidFill>
                <a:latin typeface="Consolas"/>
                <a:ea typeface="Consolas"/>
              </a:rPr>
              <a:t xml:space="preserve"> PR </a:t>
            </a:r>
            <a:r>
              <a:rPr lang="zh-CN" sz="1050">
                <a:solidFill>
                  <a:srgbClr val="6B7A72"/>
                </a:solidFill>
                <a:latin typeface="Consolas"/>
                <a:ea typeface="Consolas"/>
              </a:rPr>
              <a:t>时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609600" y="4686300"/>
            <a:ext cx="6781800" cy="561975"/>
          </a:xfrm>
          <a:custGeom>
            <a:pathLst>
              <a:path w="712" h="59">
                <a:moveTo>
                  <a:pt x="0" y="58"/>
                </a:moveTo>
                <a:lnTo>
                  <a:pt x="712" y="58"/>
                </a:lnTo>
                <a:lnTo>
                  <a:pt x="712" y="59"/>
                </a:lnTo>
                <a:lnTo>
                  <a:pt x="0" y="59"/>
                </a:lnTo>
                <a:close/>
              </a:path>
            </a:pathLst>
          </a:custGeom>
          <a:solidFill>
            <a:srgbClr val="0F1E19">
              <a:alpha val="10000"/>
            </a:srgbClr>
          </a:solidFill>
          <a:ln/>
        </p:spPr>
        <p:txBody>
          <a:bodyPr/>
          <a:p/>
        </p:txBody>
      </p:sp>
      <p:sp>
        <p:nvSpPr>
          <p:cNvPr id="309" name=""/>
          <p:cNvSpPr/>
          <p:nvPr/>
        </p:nvSpPr>
        <p:spPr>
          <a:xfrm rot="0" flipH="0" flipV="0">
            <a:off x="609600" y="47053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C2410C">
              <a:alpha val="12000"/>
            </a:srgbClr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762000" y="480060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2410C"/>
                </a:solidFill>
                <a:latin typeface="Consolas"/>
                <a:ea typeface="Consolas"/>
              </a:rPr>
              <a:t>4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1143000" y="4686300"/>
            <a:ext cx="5495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E19"/>
                </a:solidFill>
                <a:latin typeface="Microsoft YaHei"/>
                <a:ea typeface="Microsoft YaHei"/>
              </a:rPr>
              <a:t>评审</a:t>
            </a:r>
            <a:r>
              <a:rPr lang="en-US" sz="1425" b="1">
                <a:solidFill>
                  <a:srgbClr val="0F1E1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425" b="1">
                <a:solidFill>
                  <a:srgbClr val="0F1E19"/>
                </a:solidFill>
                <a:latin typeface="Microsoft YaHei"/>
                <a:ea typeface="Microsoft YaHei"/>
              </a:rPr>
              <a:t>分支保护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1143000" y="4924425"/>
            <a:ext cx="5495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一人评审、禁强推，挡住</a:t>
            </a:r>
            <a:r>
              <a:rPr lang="en-US" sz="1125">
                <a:solidFill>
                  <a:srgbClr val="44534C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直接推</a:t>
            </a:r>
            <a:r>
              <a:rPr lang="en-US" sz="1125">
                <a:solidFill>
                  <a:srgbClr val="44534C"/>
                </a:solidFill>
                <a:latin typeface="Microsoft YaHei"/>
                <a:ea typeface="Microsoft YaHei"/>
              </a:rPr>
              <a:t xml:space="preserve"> main"</a:t>
            </a: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（模板未启用）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6791325" y="4810125"/>
            <a:ext cx="600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2410C"/>
                </a:solidFill>
                <a:latin typeface="Consolas"/>
                <a:ea typeface="Consolas"/>
              </a:rPr>
              <a:t>待启用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609600" y="58578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67762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762000" y="5953125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Consolas"/>
                <a:ea typeface="Consolas"/>
              </a:rPr>
              <a:t>5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1143000" y="5838825"/>
            <a:ext cx="5495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E19"/>
                </a:solidFill>
                <a:latin typeface="Microsoft YaHei"/>
                <a:ea typeface="Microsoft YaHei"/>
              </a:rPr>
              <a:t>运行时加固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1143000" y="6076950"/>
            <a:ext cx="5495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非</a:t>
            </a:r>
            <a:r>
              <a:rPr lang="en-US" sz="1125">
                <a:solidFill>
                  <a:srgbClr val="44534C"/>
                </a:solidFill>
                <a:latin typeface="Microsoft YaHei"/>
                <a:ea typeface="Microsoft YaHei"/>
              </a:rPr>
              <a:t xml:space="preserve"> root</a:t>
            </a: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、只读、无特权、限额，挡住</a:t>
            </a:r>
            <a:r>
              <a:rPr lang="en-US" sz="1125">
                <a:solidFill>
                  <a:srgbClr val="44534C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漏洞变成事故</a:t>
            </a:r>
            <a:r>
              <a:rPr lang="en-US" sz="1125">
                <a:solidFill>
                  <a:srgbClr val="44534C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6791325" y="5962650"/>
            <a:ext cx="600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A72"/>
                </a:solidFill>
                <a:latin typeface="Consolas"/>
                <a:ea typeface="Consolas"/>
              </a:rPr>
              <a:t>运行时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7772400" y="2381250"/>
            <a:ext cx="38100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167762"/>
                </a:solidFill>
                <a:latin typeface="Consolas"/>
                <a:ea typeface="Consolas"/>
              </a:rPr>
              <a:t>26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7772400" y="3581400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E19"/>
                </a:solidFill>
                <a:latin typeface="Microsoft YaHei"/>
                <a:ea typeface="Microsoft YaHei"/>
              </a:rPr>
              <a:t>项自动化测试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7772400" y="3905250"/>
            <a:ext cx="38100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每一道关卡都有对应的实测证据，不是流程图上的一个框。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7772400" y="4419600"/>
            <a:ext cx="3810000" cy="685800"/>
          </a:xfrm>
          <a:prstGeom prst="roundRect">
            <a:avLst>
              <a:gd name="adj" fmla="val 8333"/>
            </a:avLst>
          </a:prstGeom>
          <a:solidFill>
            <a:srgbClr val="C2410C">
              <a:alpha val="8000"/>
            </a:srgbClr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7886700" y="4533900"/>
            <a:ext cx="3581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2410C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C2410C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050" b="1">
                <a:solidFill>
                  <a:srgbClr val="C2410C"/>
                </a:solidFill>
                <a:latin typeface="Microsoft YaHei"/>
                <a:ea typeface="Microsoft YaHei"/>
              </a:rPr>
              <a:t>道还差一步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7886700" y="4733925"/>
            <a:ext cx="35814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0F1E19"/>
                </a:solidFill>
                <a:latin typeface="Microsoft YaHei"/>
                <a:ea typeface="Microsoft YaHei"/>
              </a:rPr>
              <a:t>模板已写好，需要仓库管理员在</a:t>
            </a:r>
            <a:r>
              <a:rPr lang="en-US" sz="1050">
                <a:solidFill>
                  <a:srgbClr val="0F1E19"/>
                </a:solidFill>
                <a:latin typeface="Microsoft YaHei"/>
                <a:ea typeface="Microsoft YaHei"/>
              </a:rPr>
              <a:t xml:space="preserve"> GitHub </a:t>
            </a:r>
            <a:r>
              <a:rPr lang="zh-CN" sz="1050">
                <a:solidFill>
                  <a:srgbClr val="0F1E19"/>
                </a:solidFill>
                <a:latin typeface="Microsoft YaHei"/>
                <a:ea typeface="Microsoft YaHei"/>
              </a:rPr>
              <a:t>上应用后才生效。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609600" y="6581775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A72"/>
                </a:solidFill>
                <a:latin typeface="Microsoft YaHei"/>
                <a:ea typeface="Microsoft YaHei"/>
              </a:rPr>
              <a:t xml:space="preserve">SENTINEL · </a:t>
            </a:r>
            <a:r>
              <a:rPr lang="zh-CN" sz="1050">
                <a:solidFill>
                  <a:srgbClr val="6B7A72"/>
                </a:solidFill>
                <a:latin typeface="Microsoft YaHei"/>
                <a:ea typeface="Microsoft YaHei"/>
              </a:rPr>
              <a:t>安全开发环境方案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11068050" y="65817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A72"/>
                </a:solidFill>
                <a:latin typeface="Consolas"/>
                <a:ea typeface="Consolas"/>
              </a:rPr>
              <a:t>09 / 15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1" name="" descr="&lt;Slide style={{ width: 1280, height: 720, background: '#FFFFFF', padding: '26px 64px 18px 64px', position: 'relative', fontFamily: 'Microsoft YaHei' }}&gt;&#10;    &lt;Box style={{ flexDirection: 'column', gap: 6, height: 104 }}&gt;&#10;        &lt;Text style={{ fontSize: 36, fontWeight: 'bold', color: '#0F1E19', lineHeight: 1.3 }}&gt;权限化 RAG：先过滤，再检索&lt;/Text&gt;&#10;        &lt;Text style={{ fontSize: 17, color: '#6B7A72', lineHeight: 1.5 }}&gt;顺序错了，后面做多少都没用&lt;/Text&gt;&#10;    &lt;/Box&gt;&#10;    &lt;Box style={{ flexDirection: 'row', gap: 44, height: 526 }}&gt;&#10;        &lt;Box style={{ width: 620, flexDirection: 'column', justifyContent: 'center', gap: 14 }}&gt;&#10;            &lt;Box style={{ flexDirection: 'row', gap: 16, alignItems: 'center', padding: '14px 18px', background: 'rgba(22,119,98,0.07)', borderRadius: 8 }}&gt;&#10;                &lt;Text style={{ width: 34, fontSize: 15, fontWeight: 'bold', color: '#167762', fontFamily: 'Consolas' }}&gt;01&lt;/Text&gt;&#10;                &lt;Box style={{ flex: 1, flexDirection: 'column', gap: 2 }}&gt;&#10;                    &lt;Text style={{ fontSize: 18, fontWeight: 'bold', color: '#0F1E19' }}&gt;认出这个人是谁&lt;/Text&gt;&#10;                    &lt;Text style={{ fontSize: 14, color: '#44534C' }}&gt;来自企业目录的身份，不是自建账号&lt;/Text&gt;&#10;                &lt;/Box&gt;&#10;            &lt;/Box&gt;&#10;            &lt;Box style={{ flexDirection: 'row', gap: 16, alignItems: 'center', padding: '14px 18px', background: 'rgba(22,119,98,0.07)', borderRadius: 8 }}&gt;&#10;                &lt;Text style={{ width: 34, fontSize: 15, fontWeight: 'bold', color: '#167762', fontFamily: 'Consolas' }}&gt;02&lt;/Text&gt;&#10;                &lt;Box style={{ flex: 1, flexDirection: 'column', gap: 2 }}&gt;&#10;                    &lt;Text style={{ fontSize: 18, fontWeight: 'bold', color: '#0F1E19' }}&gt;把候选范围压到他有权限的部分&lt;/Text&gt;&#10;                    &lt;Text style={{ fontSize: 14, color: '#44534C' }}&gt;按部门 / 项目 / 密级过滤，越权文档根本不进入计算&lt;/Text&gt;&#10;                &lt;/Box&gt;&#10;            &lt;/Box&gt;&#10;            &lt;Box style={{ flexDirection: 'row', gap: 16, alignItems: 'center', padding: '14px 18px', background: 'rgba(22,119,98,0.07)', borderRadius: 8 }}&gt;&#10;                &lt;Text style={{ width: 34, fontSize: 15, fontWeight: 'bold', color: '#167762', fontFamily: 'Consolas' }}&gt;03&lt;/Text&gt;&#10;                &lt;Box style={{ flex: 1, flexDirection: 'column', gap: 2 }}&gt;&#10;                    &lt;Text style={{ fontSize: 18, fontWeight: 'bold', color: '#0F1E19' }}&gt;只在允许的范围内做相似度检索&lt;/Text&gt;&#10;                    &lt;Text style={{ fontSize: 14, color: '#44534C' }}&gt;Top-K 从过滤后的集合里取，不是取完再筛&lt;/Text&gt;&#10;                &lt;/Box&gt;&#10;            &lt;/Box&gt;&#10;            &lt;Box style={{ flexDirection: 'row', gap: 16, alignItems: 'center', padding: '14px 18px', background: '#167762', borderRadius: 8 }}&gt;&#10;                &lt;Text style={{ width: 34, fontSize: 15, fontWeight: 'bold', color: 'rgba(255,255,255,0.75)', fontFamily: 'Consolas' }}&gt;04&lt;/Text&gt;&#10;                &lt;Box style={{ flex: 1, flexDirection: 'column', gap: 2 }}&gt;&#10;                    &lt;Text style={{ fontSize: 18, fontWeight: 'bold', color: '#FFFFFF' }}&gt;生成答案，引用同样过滤&lt;/Text&gt;&#10;                    &lt;Text style={{ fontSize: 14, color: 'rgba(255,255,255,0.82)' }}&gt;答案里的出处，只能是他能打开的那几份&lt;/Text&gt;&#10;                &lt;/Box&gt;&#10;            &lt;/Box&gt;&#10;            &lt;Text style={{ fontSize: 14, color: '#6B7A72', lineHeight: 1.6, marginTop: 4 }}&gt;每一步都是硬约束，不是提示词里&quot;请不要泄露&quot;。&lt;/Text&gt;&#10;        &lt;/Box&gt;&#10;        &lt;Box style={{ flex: 1, flexDirection: 'column', justifyContent: 'center', gap: 20 }}&gt;&#10;            &lt;Box style={{ flexDirection: 'column', gap: 6 }}&gt;&#10;                &lt;Text style={{ fontSize: 18, fontWeight: 'bold', color: '#C2410C' }}&gt;&quot;检索完再删结果&quot;为什么不行&lt;/Text&gt;&#10;                &lt;Text style={{ fontSize: 15, color: '#44534C', lineHeight: 1.65 }}&gt;模型已经读到了那段内容，答案里可能已经把它复述出来。删结果只能骗过眼睛，骗不过已经生成的文字。&lt;/Text&gt;&#10;            &lt;/Box&gt;&#10;            &lt;Box style={{ width: 100, height: 1, background: 'rgba(15,30,25,0.12)' }} /&gt;&#10;            &lt;Box style={{ flexDirection: 'column', gap: 6 }}&gt;&#10;                &lt;Text style={{ fontSize: 18, fontWeight: 'bold', color: '#0F1E19' }}&gt;引用本身就是信息&lt;/Text&gt;&#10;                &lt;Text style={{ fontSize: 15, color: '#44534C', lineHeight: 1.65 }}&gt;文件名、章节名、标题常常比正文更敏感。所以引用列表也要走同一套权限判断。&lt;/Text&gt;&#10;            &lt;/Box&gt;&#10;            &lt;Box style={{ width: 100, height: 1, background: 'rgba(15,30,25,0.12)' }} /&gt;&#10;            &lt;Box style={{ flexDirection: 'column', gap: 6 }}&gt;&#10;                &lt;Text style={{ fontSize: 18, fontWeight: 'bold', color: '#0F1E19' }}&gt;会说&quot;没有&quot;，才算可用&lt;/Text&gt;&#10;                &lt;Text style={{ fontSize: 15, color: '#44534C', lineHeight: 1.65 }}&gt;资料里没有就直说没有，不靠猜补齐。演示里问一个知识库外的问题，它会明确拒答。&lt;/Text&gt;&#10;            &lt;/Box&gt;&#10;        &lt;/Box&gt;&#10;    &lt;/Box&gt;&#10;    &lt;Box style={{ position: 'absolute', left: 64, right: 64, bottom: 12, flexDirection: 'row', justifyContent: 'space-between' }}&gt;&#10;        &lt;Text style={{ fontSize: 14, color: '#6B7A72' }}&gt;SENTINEL · 安全开发环境方案&lt;/Text&gt;&#10;        &lt;Text style={{ fontSize: 14, color: '#6B7A72', fontFamily: 'Consolas' }}&gt;10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09600" y="247650"/>
            <a:ext cx="109728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F1E19"/>
                </a:solidFill>
                <a:latin typeface="Microsoft YaHei"/>
                <a:ea typeface="Microsoft YaHei"/>
              </a:rPr>
              <a:t>权限化</a:t>
            </a:r>
            <a:r>
              <a:rPr lang="en-US" sz="2700" b="1">
                <a:solidFill>
                  <a:srgbClr val="0F1E19"/>
                </a:solidFill>
                <a:latin typeface="Microsoft YaHei"/>
                <a:ea typeface="Microsoft YaHei"/>
              </a:rPr>
              <a:t xml:space="preserve"> RAG</a:t>
            </a:r>
            <a:r>
              <a:rPr lang="zh-CN" sz="2700" b="1">
                <a:solidFill>
                  <a:srgbClr val="0F1E19"/>
                </a:solidFill>
                <a:latin typeface="Microsoft YaHei"/>
                <a:ea typeface="Microsoft YaHei"/>
              </a:rPr>
              <a:t>：先过滤，再检索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09600" y="847725"/>
            <a:ext cx="109728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6B7A72"/>
                </a:solidFill>
                <a:latin typeface="Microsoft YaHei"/>
                <a:ea typeface="Microsoft YaHei"/>
              </a:rPr>
              <a:t>顺序错了，后面做多少都没用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609600" y="2019300"/>
            <a:ext cx="5905500" cy="657225"/>
          </a:xfrm>
          <a:prstGeom prst="roundRect">
            <a:avLst>
              <a:gd name="adj" fmla="val 11594"/>
            </a:avLst>
          </a:prstGeom>
          <a:solidFill>
            <a:srgbClr val="167762">
              <a:alpha val="7000"/>
            </a:srgbClr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781050" y="2266950"/>
            <a:ext cx="323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67762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257300" y="2152650"/>
            <a:ext cx="5086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E19"/>
                </a:solidFill>
                <a:latin typeface="Microsoft YaHei"/>
                <a:ea typeface="Microsoft YaHei"/>
              </a:rPr>
              <a:t>认出这个人是谁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1257300" y="2381250"/>
            <a:ext cx="5086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4534C"/>
                </a:solidFill>
                <a:latin typeface="Microsoft YaHei"/>
                <a:ea typeface="Microsoft YaHei"/>
              </a:rPr>
              <a:t>来自企业目录的身份，不是自建账号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609600" y="2809875"/>
            <a:ext cx="5905500" cy="657225"/>
          </a:xfrm>
          <a:prstGeom prst="roundRect">
            <a:avLst>
              <a:gd name="adj" fmla="val 11594"/>
            </a:avLst>
          </a:prstGeom>
          <a:solidFill>
            <a:srgbClr val="167762">
              <a:alpha val="7000"/>
            </a:srgbClr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81050" y="3057525"/>
            <a:ext cx="323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67762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257300" y="2943225"/>
            <a:ext cx="5086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E19"/>
                </a:solidFill>
                <a:latin typeface="Microsoft YaHei"/>
                <a:ea typeface="Microsoft YaHei"/>
              </a:rPr>
              <a:t>把候选范围压到他有权限的部分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257300" y="3171825"/>
            <a:ext cx="5086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4534C"/>
                </a:solidFill>
                <a:latin typeface="Microsoft YaHei"/>
                <a:ea typeface="Microsoft YaHei"/>
              </a:rPr>
              <a:t>按部门</a:t>
            </a:r>
            <a:r>
              <a:rPr lang="en-US" sz="1050">
                <a:solidFill>
                  <a:srgbClr val="44534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44534C"/>
                </a:solidFill>
                <a:latin typeface="Microsoft YaHei"/>
                <a:ea typeface="Microsoft YaHei"/>
              </a:rPr>
              <a:t>项目</a:t>
            </a:r>
            <a:r>
              <a:rPr lang="en-US" sz="1050">
                <a:solidFill>
                  <a:srgbClr val="44534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44534C"/>
                </a:solidFill>
                <a:latin typeface="Microsoft YaHei"/>
                <a:ea typeface="Microsoft YaHei"/>
              </a:rPr>
              <a:t>密级过滤，越权文档根本不进入计算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09600" y="3600450"/>
            <a:ext cx="5905500" cy="657225"/>
          </a:xfrm>
          <a:prstGeom prst="roundRect">
            <a:avLst>
              <a:gd name="adj" fmla="val 11594"/>
            </a:avLst>
          </a:prstGeom>
          <a:solidFill>
            <a:srgbClr val="167762">
              <a:alpha val="7000"/>
            </a:srgbClr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781050" y="3848100"/>
            <a:ext cx="323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67762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257300" y="3733800"/>
            <a:ext cx="5086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E19"/>
                </a:solidFill>
                <a:latin typeface="Microsoft YaHei"/>
                <a:ea typeface="Microsoft YaHei"/>
              </a:rPr>
              <a:t>只在允许的范围内做相似度检索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257300" y="3962400"/>
            <a:ext cx="5086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4534C"/>
                </a:solidFill>
                <a:latin typeface="Microsoft YaHei"/>
                <a:ea typeface="Microsoft YaHei"/>
              </a:rPr>
              <a:t xml:space="preserve">Top-K </a:t>
            </a:r>
            <a:r>
              <a:rPr lang="zh-CN" sz="1050">
                <a:solidFill>
                  <a:srgbClr val="44534C"/>
                </a:solidFill>
                <a:latin typeface="Microsoft YaHei"/>
                <a:ea typeface="Microsoft YaHei"/>
              </a:rPr>
              <a:t>从过滤后的集合里取，不是取完再筛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609600" y="4391025"/>
            <a:ext cx="5905500" cy="657225"/>
          </a:xfrm>
          <a:prstGeom prst="roundRect">
            <a:avLst>
              <a:gd name="adj" fmla="val 11594"/>
            </a:avLst>
          </a:prstGeom>
          <a:solidFill>
            <a:srgbClr val="167762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81050" y="4638675"/>
            <a:ext cx="323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75000"/>
                  </a:srgbClr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257300" y="4524375"/>
            <a:ext cx="5086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生成答案，引用同样过滤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257300" y="4752975"/>
            <a:ext cx="5086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答案里的出处，只能是他能打开的那几份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09600" y="5219700"/>
            <a:ext cx="59055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6B7A72"/>
                </a:solidFill>
                <a:latin typeface="Microsoft YaHei"/>
                <a:ea typeface="Microsoft YaHei"/>
              </a:rPr>
              <a:t>每一步都是硬约束，不是提示词里</a:t>
            </a:r>
            <a:r>
              <a:rPr lang="en-US" sz="1050">
                <a:solidFill>
                  <a:srgbClr val="6B7A72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6B7A72"/>
                </a:solidFill>
                <a:latin typeface="Microsoft YaHei"/>
                <a:ea typeface="Microsoft YaHei"/>
              </a:rPr>
              <a:t>请不要泄露</a:t>
            </a:r>
            <a:r>
              <a:rPr lang="en-US" sz="1050">
                <a:solidFill>
                  <a:srgbClr val="6B7A72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6B7A72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934200" y="2095500"/>
            <a:ext cx="4648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C2410C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C2410C"/>
                </a:solidFill>
                <a:latin typeface="Microsoft YaHei"/>
                <a:ea typeface="Microsoft YaHei"/>
              </a:rPr>
              <a:t>检索完再删结果</a:t>
            </a:r>
            <a:r>
              <a:rPr lang="en-US" sz="1350" b="1">
                <a:solidFill>
                  <a:srgbClr val="C2410C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C2410C"/>
                </a:solidFill>
                <a:latin typeface="Microsoft YaHei"/>
                <a:ea typeface="Microsoft YaHei"/>
              </a:rPr>
              <a:t>为什么不行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934200" y="2362200"/>
            <a:ext cx="46482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模型已经读到了那段内容，答案里可能已经把它复述出来。删结果只能骗过眼睛，骗不过已经生成的文字。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6934200" y="3124200"/>
            <a:ext cx="952500" cy="9525"/>
          </a:xfrm>
          <a:prstGeom prst="rect">
            <a:avLst/>
          </a:prstGeom>
          <a:solidFill>
            <a:srgbClr val="0F1E19">
              <a:alpha val="12000"/>
            </a:srgbClr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934200" y="3324225"/>
            <a:ext cx="4648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E19"/>
                </a:solidFill>
                <a:latin typeface="Microsoft YaHei"/>
                <a:ea typeface="Microsoft YaHei"/>
              </a:rPr>
              <a:t>引用本身就是信息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934200" y="3590925"/>
            <a:ext cx="46482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文件名、章节名、标题常常比正文更敏感。所以引用列表也要走同一套权限判断。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6934200" y="4352925"/>
            <a:ext cx="952500" cy="9525"/>
          </a:xfrm>
          <a:prstGeom prst="rect">
            <a:avLst/>
          </a:prstGeom>
          <a:solidFill>
            <a:srgbClr val="0F1E19">
              <a:alpha val="12000"/>
            </a:srgbClr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934200" y="4552950"/>
            <a:ext cx="4648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E19"/>
                </a:solidFill>
                <a:latin typeface="Microsoft YaHei"/>
                <a:ea typeface="Microsoft YaHei"/>
              </a:rPr>
              <a:t>会说</a:t>
            </a:r>
            <a:r>
              <a:rPr lang="en-US" sz="1350" b="1">
                <a:solidFill>
                  <a:srgbClr val="0F1E19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0F1E19"/>
                </a:solidFill>
                <a:latin typeface="Microsoft YaHei"/>
                <a:ea typeface="Microsoft YaHei"/>
              </a:rPr>
              <a:t>没有</a:t>
            </a:r>
            <a:r>
              <a:rPr lang="en-US" sz="1350" b="1">
                <a:solidFill>
                  <a:srgbClr val="0F1E19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0F1E19"/>
                </a:solidFill>
                <a:latin typeface="Microsoft YaHei"/>
                <a:ea typeface="Microsoft YaHei"/>
              </a:rPr>
              <a:t>，才算可用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934200" y="4819650"/>
            <a:ext cx="46482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资料里没有就直说没有，不靠猜补齐。演示里问一个知识库外的问题，它会明确拒答。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09600" y="6581775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A72"/>
                </a:solidFill>
                <a:latin typeface="Microsoft YaHei"/>
                <a:ea typeface="Microsoft YaHei"/>
              </a:rPr>
              <a:t xml:space="preserve">SENTINEL · </a:t>
            </a:r>
            <a:r>
              <a:rPr lang="zh-CN" sz="1050">
                <a:solidFill>
                  <a:srgbClr val="6B7A72"/>
                </a:solidFill>
                <a:latin typeface="Microsoft YaHei"/>
                <a:ea typeface="Microsoft YaHei"/>
              </a:rPr>
              <a:t>安全开发环境方案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11068050" y="65817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A72"/>
                </a:solidFill>
                <a:latin typeface="Consolas"/>
                <a:ea typeface="Consolas"/>
              </a:rPr>
              <a:t>10 / 15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2" name="" descr="&lt;Slide style={{ width: 1280, height: 720, background: '#FFFFFF', padding: '26px 64px 18px 64px', position: 'relative', fontFamily: 'Microsoft YaHei' }}&gt;&#10;    &lt;Box style={{ flexDirection: 'column', gap: 6, height: 104 }}&gt;&#10;        &lt;Text style={{ fontSize: 36, fontWeight: 'bold', color: '#0F1E19', lineHeight: 1.3 }}&gt;完全离线：能做到，代价是什么&lt;/Text&gt;&#10;        &lt;Text style={{ fontSize: 17, color: '#6B7A72', lineHeight: 1.5 }}&gt;离线不是买断，是把外网依赖换成一条受控的窄通道&lt;/Text&gt;&#10;    &lt;/Box&gt;&#10;    &lt;Box style={{ flexDirection: 'row', gap: 40, height: 526 }}&gt;&#10;        &lt;Box style={{ width: 676, flexDirection: 'column', gap: 14 }}&gt;&#10;            &lt;Box style={{ flexDirection: 'row', paddingBottom: 8, borderBottom: '2px solid #0F1E19' }}&gt;&#10;                &lt;Text style={{ flex: 1, fontSize: 15, fontWeight: 'bold', color: '#0F1E19' }}&gt;能力&lt;/Text&gt;&#10;                &lt;Text style={{ flex: 1.35, fontSize: 15, fontWeight: 'bold', color: '#0F1E19' }}&gt;离线之后的代价&lt;/Text&gt;&#10;            &lt;/Box&gt;&#10;            &lt;Box style={{ flexDirection: 'row', paddingBottom: 10, borderBottom: '1px solid rgba(15,30,25,0.10)' }}&gt;&#10;                &lt;Text style={{ flex: 1, fontSize: 16, color: '#0F1E19' }}&gt;代码托管&lt;/Text&gt;&#10;                &lt;Text style={{ flex: 1.35, fontSize: 15, color: '#44534C', lineHeight: 1.5 }}&gt;自建 GitLab / Gitea，要有人维护、打补丁、做备份&lt;/Text&gt;&#10;            &lt;/Box&gt;&#10;            &lt;Box style={{ flexDirection: 'row', paddingBottom: 10, borderBottom: '1px solid rgba(15,30,25,0.10)' }}&gt;&#10;                &lt;Text style={{ flex: 1, fontSize: 16, color: '#0F1E19' }}&gt;依赖安装&lt;/Text&gt;&#10;                &lt;Text style={{ flex: 1.35, fontSize: 15, color: '#44534C', lineHeight: 1.5 }}&gt;npm / pip / 镜像走内网源，新包要人工审批后导入&lt;/Text&gt;&#10;            &lt;/Box&gt;&#10;            &lt;Box style={{ flexDirection: 'row', paddingBottom: 10, borderBottom: '1px solid rgba(15,30,25,0.10)' }}&gt;&#10;                &lt;Text style={{ flex: 1, fontSize: 16, color: '#0F1E19' }}&gt;安全补丁&lt;/Text&gt;&#10;                &lt;Text style={{ flex: 1.35, fontSize: 15, color: '#44534C', lineHeight: 1.5 }}&gt;摆渡导入 + 先扫描再放行，通常滞后数天到数周&lt;/Text&gt;&#10;            &lt;/Box&gt;&#10;            &lt;Box style={{ flexDirection: 'row' }}&gt;&#10;                &lt;Text style={{ flex: 1, fontSize: 16, color: '#0F1E19' }}&gt;模型更新&lt;/Text&gt;&#10;                &lt;Text style={{ flex: 1.35, fontSize: 15, color: '#44534C', lineHeight: 1.5 }}&gt;权重离线下载、校验、再分发，不能点一下&quot;更新&quot;&lt;/Text&gt;&#10;            &lt;/Box&gt;&#10;            &lt;Box style={{ marginTop: 'auto', padding: '12px 16px', background: 'rgba(22,119,98,0.07)', borderRadius: 6 }}&gt;&#10;                &lt;Text style={{ fontSize: 15, color: '#0F1E19', lineHeight: 1.6 }}&gt;所以真正的设计题不是&quot;能不能离线&quot;，而是&quot;离线之后，谁来承担这条窄通道的运维&quot;。&lt;/Text&gt;&#10;            &lt;/Box&gt;&#10;        &lt;/Box&gt;&#10;        &lt;Box style={{ flex: 1, flexDirection: 'column', justifyContent: 'center', gap: 18 }}&gt;&#10;            &lt;Text style={{ fontSize: 14, color: '#167762', letterSpacing: 2 }}&gt;坏了怎么办&lt;/Text&gt;&#10;            &lt;Box style={{ flexDirection: 'column', gap: 4 }}&gt;&#10;                &lt;Text style={{ fontSize: 18, fontWeight: 'bold', color: '#0F1E19' }}&gt;备份&lt;/Text&gt;&#10;                &lt;Text style={{ fontSize: 15, color: '#44534C', lineHeight: 1.6 }}&gt;仓库镜像 + 文档库 + 密钥，加密后外送一份。只留一份在原机房的，不叫备份。&lt;/Text&gt;&#10;            &lt;/Box&gt;&#10;            &lt;Box style={{ flexDirection: 'column', gap: 4 }}&gt;&#10;                &lt;Text style={{ fontSize: 18, fontWeight: 'bold', color: '#0F1E19' }}&gt;重建&lt;/Text&gt;&#10;                &lt;Text style={{ fontSize: 15, color: '#44534C', lineHeight: 1.6 }}&gt;环境用代码描述（IaC + 镜像），机器坏了是重装，不是重搭。恢复时间从几天压到几小时。&lt;/Text&gt;&#10;            &lt;/Box&gt;&#10;            &lt;Box style={{ flexDirection: 'column', gap: 4 }}&gt;&#10;                &lt;Text style={{ fontSize: 18, fontWeight: 'bold', color: '#0F1E19' }}&gt;演练&lt;/Text&gt;&#10;                &lt;Text style={{ fontSize: 15, color: '#44534C', lineHeight: 1.6 }}&gt;每季度真恢复一次。没演练过的备份，只能算&quot;希望&quot;。&lt;/Text&gt;&#10;            &lt;/Box&gt;&#10;            &lt;Box style={{ flexDirection: 'column', gap: 4, marginTop: 6, padding: 14, background: 'rgba(194,65,12,0.08)', borderRadius: 6 }}&gt;&#10;                &lt;Text style={{ fontSize: 15, fontWeight: 'bold', color: '#C2410C' }}&gt;需要你给两个数&lt;/Text&gt;&#10;                &lt;Text style={{ fontSize: 15, color: '#0F1E19', lineHeight: 1.6 }}&gt;RPO：最多能丢多少数据；RTO：多久必须恢复。这两个数直接决定备份频率和投入。&lt;/Text&gt;&#10;            &lt;/Box&gt;&#10;        &lt;/Box&gt;&#10;    &lt;/Box&gt;&#10;    &lt;Box style={{ position: 'absolute', left: 64, right: 64, bottom: 12, flexDirection: 'row', justifyContent: 'space-between' }}&gt;&#10;        &lt;Text style={{ fontSize: 14, color: '#6B7A72' }}&gt;SENTINEL · 安全开发环境方案&lt;/Text&gt;&#10;        &lt;Text style={{ fontSize: 14, color: '#6B7A72', fontFamily: 'Consolas' }}&gt;11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09600" y="247650"/>
            <a:ext cx="109728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F1E19"/>
                </a:solidFill>
                <a:latin typeface="Microsoft YaHei"/>
                <a:ea typeface="Microsoft YaHei"/>
              </a:rPr>
              <a:t>完全离线：能做到，代价是什么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09600" y="847725"/>
            <a:ext cx="109728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6B7A72"/>
                </a:solidFill>
                <a:latin typeface="Microsoft YaHei"/>
                <a:ea typeface="Microsoft YaHei"/>
              </a:rPr>
              <a:t>离线不是买断，是把外网依赖换成一条受控的窄通道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609600" y="1238250"/>
            <a:ext cx="6438900" cy="285750"/>
          </a:xfrm>
          <a:custGeom>
            <a:pathLst>
              <a:path w="676" h="30">
                <a:moveTo>
                  <a:pt x="0" y="28"/>
                </a:moveTo>
                <a:lnTo>
                  <a:pt x="676" y="28"/>
                </a:lnTo>
                <a:lnTo>
                  <a:pt x="676" y="30"/>
                </a:lnTo>
                <a:lnTo>
                  <a:pt x="0" y="30"/>
                </a:lnTo>
                <a:close/>
              </a:path>
            </a:pathLst>
          </a:custGeom>
          <a:solidFill>
            <a:srgbClr val="0F1E19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09600" y="1238250"/>
            <a:ext cx="2743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E19"/>
                </a:solidFill>
                <a:latin typeface="Microsoft YaHei"/>
                <a:ea typeface="Microsoft YaHei"/>
              </a:rPr>
              <a:t>能力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3352800" y="1238250"/>
            <a:ext cx="3695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E19"/>
                </a:solidFill>
                <a:latin typeface="Microsoft YaHei"/>
                <a:ea typeface="Microsoft YaHei"/>
              </a:rPr>
              <a:t>离线之后的代价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609600" y="1638300"/>
            <a:ext cx="6438900" cy="371475"/>
          </a:xfrm>
          <a:custGeom>
            <a:pathLst>
              <a:path w="676" h="39">
                <a:moveTo>
                  <a:pt x="0" y="38"/>
                </a:moveTo>
                <a:lnTo>
                  <a:pt x="676" y="38"/>
                </a:lnTo>
                <a:lnTo>
                  <a:pt x="676" y="39"/>
                </a:lnTo>
                <a:lnTo>
                  <a:pt x="0" y="39"/>
                </a:lnTo>
                <a:close/>
              </a:path>
            </a:pathLst>
          </a:custGeom>
          <a:solidFill>
            <a:srgbClr val="0F1E19">
              <a:alpha val="10000"/>
            </a:srgbClr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09600" y="1638300"/>
            <a:ext cx="274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F1E19"/>
                </a:solidFill>
                <a:latin typeface="Microsoft YaHei"/>
                <a:ea typeface="Microsoft YaHei"/>
              </a:rPr>
              <a:t>代码托管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3352800" y="1638300"/>
            <a:ext cx="36957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自建</a:t>
            </a:r>
            <a:r>
              <a:rPr lang="en-US" sz="1125">
                <a:solidFill>
                  <a:srgbClr val="44534C"/>
                </a:solidFill>
                <a:latin typeface="Microsoft YaHei"/>
                <a:ea typeface="Microsoft YaHei"/>
              </a:rPr>
              <a:t xml:space="preserve"> GitLab / Gitea</a:t>
            </a: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，要有人维护、打补丁、做备份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609600" y="2133600"/>
            <a:ext cx="6438900" cy="371475"/>
          </a:xfrm>
          <a:custGeom>
            <a:pathLst>
              <a:path w="676" h="39">
                <a:moveTo>
                  <a:pt x="0" y="38"/>
                </a:moveTo>
                <a:lnTo>
                  <a:pt x="676" y="38"/>
                </a:lnTo>
                <a:lnTo>
                  <a:pt x="676" y="39"/>
                </a:lnTo>
                <a:lnTo>
                  <a:pt x="0" y="39"/>
                </a:lnTo>
                <a:close/>
              </a:path>
            </a:pathLst>
          </a:custGeom>
          <a:solidFill>
            <a:srgbClr val="0F1E19">
              <a:alpha val="10000"/>
            </a:srgbClr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09600" y="2133600"/>
            <a:ext cx="274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F1E19"/>
                </a:solidFill>
                <a:latin typeface="Microsoft YaHei"/>
                <a:ea typeface="Microsoft YaHei"/>
              </a:rPr>
              <a:t>依赖安装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3352800" y="2133600"/>
            <a:ext cx="36957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4534C"/>
                </a:solidFill>
                <a:latin typeface="Microsoft YaHei"/>
                <a:ea typeface="Microsoft YaHei"/>
              </a:rPr>
              <a:t xml:space="preserve">npm / pip / </a:t>
            </a: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镜像走内网源，新包要人工审批后导入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609600" y="2628900"/>
            <a:ext cx="6438900" cy="371475"/>
          </a:xfrm>
          <a:custGeom>
            <a:pathLst>
              <a:path w="676" h="39">
                <a:moveTo>
                  <a:pt x="0" y="38"/>
                </a:moveTo>
                <a:lnTo>
                  <a:pt x="676" y="38"/>
                </a:lnTo>
                <a:lnTo>
                  <a:pt x="676" y="39"/>
                </a:lnTo>
                <a:lnTo>
                  <a:pt x="0" y="39"/>
                </a:lnTo>
                <a:close/>
              </a:path>
            </a:pathLst>
          </a:custGeom>
          <a:solidFill>
            <a:srgbClr val="0F1E19">
              <a:alpha val="10000"/>
            </a:srgbClr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09600" y="2628900"/>
            <a:ext cx="274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F1E19"/>
                </a:solidFill>
                <a:latin typeface="Microsoft YaHei"/>
                <a:ea typeface="Microsoft YaHei"/>
              </a:rPr>
              <a:t>安全补丁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3352800" y="2628900"/>
            <a:ext cx="36957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摆渡导入</a:t>
            </a:r>
            <a:r>
              <a:rPr lang="en-US" sz="1125">
                <a:solidFill>
                  <a:srgbClr val="44534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先扫描再放行，通常滞后数天到数周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09600" y="3124200"/>
            <a:ext cx="274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F1E19"/>
                </a:solidFill>
                <a:latin typeface="Microsoft YaHei"/>
                <a:ea typeface="Microsoft YaHei"/>
              </a:rPr>
              <a:t>模型更新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3352800" y="3124200"/>
            <a:ext cx="36957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权重离线下载、校验、再分发，不能点一下</a:t>
            </a:r>
            <a:r>
              <a:rPr lang="en-US" sz="1125">
                <a:solidFill>
                  <a:srgbClr val="44534C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更新</a:t>
            </a:r>
            <a:r>
              <a:rPr lang="en-US" sz="1125">
                <a:solidFill>
                  <a:srgbClr val="44534C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609600" y="5743575"/>
            <a:ext cx="6438900" cy="504825"/>
          </a:xfrm>
          <a:prstGeom prst="roundRect">
            <a:avLst>
              <a:gd name="adj" fmla="val 11321"/>
            </a:avLst>
          </a:prstGeom>
          <a:solidFill>
            <a:srgbClr val="167762">
              <a:alpha val="7000"/>
            </a:srgbClr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62000" y="5857875"/>
            <a:ext cx="61341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0F1E19"/>
                </a:solidFill>
                <a:latin typeface="Microsoft YaHei"/>
                <a:ea typeface="Microsoft YaHei"/>
              </a:rPr>
              <a:t>所以真正的设计题不是</a:t>
            </a:r>
            <a:r>
              <a:rPr lang="en-US" sz="1125">
                <a:solidFill>
                  <a:srgbClr val="0F1E19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0F1E19"/>
                </a:solidFill>
                <a:latin typeface="Microsoft YaHei"/>
                <a:ea typeface="Microsoft YaHei"/>
              </a:rPr>
              <a:t>能不能离线</a:t>
            </a:r>
            <a:r>
              <a:rPr lang="en-US" sz="1125">
                <a:solidFill>
                  <a:srgbClr val="0F1E19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0F1E19"/>
                </a:solidFill>
                <a:latin typeface="Microsoft YaHei"/>
                <a:ea typeface="Microsoft YaHei"/>
              </a:rPr>
              <a:t>，而是</a:t>
            </a:r>
            <a:r>
              <a:rPr lang="en-US" sz="1125">
                <a:solidFill>
                  <a:srgbClr val="0F1E19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0F1E19"/>
                </a:solidFill>
                <a:latin typeface="Microsoft YaHei"/>
                <a:ea typeface="Microsoft YaHei"/>
              </a:rPr>
              <a:t>离线之后，谁来承担这条窄通道的运维</a:t>
            </a:r>
            <a:r>
              <a:rPr lang="en-US" sz="1125">
                <a:solidFill>
                  <a:srgbClr val="0F1E19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0F1E1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7429500" y="1714500"/>
            <a:ext cx="415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167762"/>
                </a:solidFill>
                <a:latin typeface="Microsoft YaHei"/>
                <a:ea typeface="Microsoft YaHei"/>
              </a:rPr>
              <a:t>坏了怎么办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7429500" y="2047875"/>
            <a:ext cx="415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E19"/>
                </a:solidFill>
                <a:latin typeface="Microsoft YaHei"/>
                <a:ea typeface="Microsoft YaHei"/>
              </a:rPr>
              <a:t>备份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7429500" y="2295525"/>
            <a:ext cx="4152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仓库镜像</a:t>
            </a:r>
            <a:r>
              <a:rPr lang="en-US" sz="1125">
                <a:solidFill>
                  <a:srgbClr val="44534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文档库</a:t>
            </a:r>
            <a:r>
              <a:rPr lang="en-US" sz="1125">
                <a:solidFill>
                  <a:srgbClr val="44534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密钥，加密后外送一份。只留一份在原机房的，不叫备份。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7429500" y="3019425"/>
            <a:ext cx="415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E19"/>
                </a:solidFill>
                <a:latin typeface="Microsoft YaHei"/>
                <a:ea typeface="Microsoft YaHei"/>
              </a:rPr>
              <a:t>重建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7429500" y="3267075"/>
            <a:ext cx="4152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环境用代码描述（</a:t>
            </a:r>
            <a:r>
              <a:rPr lang="en-US" sz="1125">
                <a:solidFill>
                  <a:srgbClr val="44534C"/>
                </a:solidFill>
                <a:latin typeface="Microsoft YaHei"/>
                <a:ea typeface="Microsoft YaHei"/>
              </a:rPr>
              <a:t xml:space="preserve">IaC + </a:t>
            </a: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镜像），机器坏了是重装，不是重搭。恢复时间从几天压到几小时。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429500" y="3990975"/>
            <a:ext cx="415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E19"/>
                </a:solidFill>
                <a:latin typeface="Microsoft YaHei"/>
                <a:ea typeface="Microsoft YaHei"/>
              </a:rPr>
              <a:t>演练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429500" y="4238625"/>
            <a:ext cx="4152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每季度真恢复一次。没演练过的备份，只能算</a:t>
            </a:r>
            <a:r>
              <a:rPr lang="en-US" sz="1125">
                <a:solidFill>
                  <a:srgbClr val="44534C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希望</a:t>
            </a:r>
            <a:r>
              <a:rPr lang="en-US" sz="1125">
                <a:solidFill>
                  <a:srgbClr val="44534C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7429500" y="4743450"/>
            <a:ext cx="4152900" cy="1028700"/>
          </a:xfrm>
          <a:prstGeom prst="roundRect">
            <a:avLst>
              <a:gd name="adj" fmla="val 5556"/>
            </a:avLst>
          </a:prstGeom>
          <a:solidFill>
            <a:srgbClr val="C2410C">
              <a:alpha val="8000"/>
            </a:srgbClr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7562850" y="4876800"/>
            <a:ext cx="388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2410C"/>
                </a:solidFill>
                <a:latin typeface="Microsoft YaHei"/>
                <a:ea typeface="Microsoft YaHei"/>
              </a:rPr>
              <a:t>需要你给两个数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7562850" y="5086350"/>
            <a:ext cx="3886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0F1E19"/>
                </a:solidFill>
                <a:latin typeface="Microsoft YaHei"/>
                <a:ea typeface="Microsoft YaHei"/>
              </a:rPr>
              <a:t>RPO</a:t>
            </a:r>
            <a:r>
              <a:rPr lang="zh-CN" sz="1125">
                <a:solidFill>
                  <a:srgbClr val="0F1E19"/>
                </a:solidFill>
                <a:latin typeface="Microsoft YaHei"/>
                <a:ea typeface="Microsoft YaHei"/>
              </a:rPr>
              <a:t>：最多能丢多少数据；</a:t>
            </a:r>
            <a:r>
              <a:rPr lang="en-US" sz="1125">
                <a:solidFill>
                  <a:srgbClr val="0F1E19"/>
                </a:solidFill>
                <a:latin typeface="Microsoft YaHei"/>
                <a:ea typeface="Microsoft YaHei"/>
              </a:rPr>
              <a:t>RTO</a:t>
            </a:r>
            <a:r>
              <a:rPr lang="zh-CN" sz="1125">
                <a:solidFill>
                  <a:srgbClr val="0F1E19"/>
                </a:solidFill>
                <a:latin typeface="Microsoft YaHei"/>
                <a:ea typeface="Microsoft YaHei"/>
              </a:rPr>
              <a:t>：多久必须恢复。这两个数直接决定备份频率和投入。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09600" y="6581775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A72"/>
                </a:solidFill>
                <a:latin typeface="Microsoft YaHei"/>
                <a:ea typeface="Microsoft YaHei"/>
              </a:rPr>
              <a:t xml:space="preserve">SENTINEL · </a:t>
            </a:r>
            <a:r>
              <a:rPr lang="zh-CN" sz="1050">
                <a:solidFill>
                  <a:srgbClr val="6B7A72"/>
                </a:solidFill>
                <a:latin typeface="Microsoft YaHei"/>
                <a:ea typeface="Microsoft YaHei"/>
              </a:rPr>
              <a:t>安全开发环境方案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11068050" y="65817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A72"/>
                </a:solidFill>
                <a:latin typeface="Consolas"/>
                <a:ea typeface="Consolas"/>
              </a:rPr>
              <a:t>11 / 15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84" name="" descr="&lt;Slide style={{ width: 1280, height: 720, background: '#FFFFFF', position: 'relative', padding: 0, fontFamily: 'Microsoft YaHei' }}&gt;&#10;    &lt;Box style={{ position: 'absolute', left: 0, top: 0, width: 480, height: 720, background: '#167762', alignItems: 'center', justifyContent: 'center' }}&gt;&#10;        &lt;Text style={{ fontSize: 220, fontWeight: 'bold', color: 'rgba(255,255,255,0.24)', fontFamily: 'Consolas', lineHeight: 1 }}&gt;03&lt;/Text&gt;&#10;    &lt;/Box&gt;&#10;    &lt;Box style={{ position: 'absolute', left: 480, top: 0, width: 800, height: 720, padding: '0 88px 0 72px', flexDirection: 'column', justifyContent: 'center', gap: 22 }}&gt;&#10;        &lt;Text style={{ fontSize: 15, color: '#167762', letterSpacing: 3 }}&gt;第三章&lt;/Text&gt;&#10;        &lt;Text style={{ fontSize: 64, fontWeight: 'bold', color: '#0F1E19', lineHeight: 1.15 }}&gt;现状与下一步&lt;/Text&gt;&#10;        &lt;Box style={{ width: 64, height: 3, background: '#167762' }} /&gt;&#10;        &lt;Text style={{ fontSize: 22, color: '#44534C', lineHeight: 1.65 }}&gt;能验证的已经验证，剩下的需要你拍板。&lt;/Text&gt;&#10;        &lt;Text style={{ fontSize: 16, color: '#6B7A72', lineHeight: 1.6 }}&gt;我把&quot;做完了&quot;和&quot;还没做&quot;分开列，你可以逐条追问。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6" name=""/>
          <p:cNvSpPr/>
          <p:nvPr/>
        </p:nvSpPr>
        <p:spPr>
          <a:xfrm rot="0" flipH="0" flipV="0">
            <a:off x="0" y="0"/>
            <a:ext cx="4572000" cy="6858000"/>
          </a:xfrm>
          <a:prstGeom prst="rect">
            <a:avLst/>
          </a:prstGeom>
          <a:solidFill>
            <a:srgbClr val="167762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133475" y="2171700"/>
            <a:ext cx="2305050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FFFFFF">
                    <a:alpha val="24000"/>
                  </a:srgbClr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5257800" y="2133600"/>
            <a:ext cx="609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167762"/>
                </a:solidFill>
                <a:latin typeface="Microsoft YaHei"/>
                <a:ea typeface="Microsoft YaHei"/>
              </a:rPr>
              <a:t>第三章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5257800" y="2514600"/>
            <a:ext cx="6096000" cy="8477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800" b="1">
                <a:solidFill>
                  <a:srgbClr val="0F1E19"/>
                </a:solidFill>
                <a:latin typeface="Microsoft YaHei"/>
                <a:ea typeface="Microsoft YaHei"/>
              </a:rPr>
              <a:t>现状与下一步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5257800" y="3571875"/>
            <a:ext cx="609600" cy="28575"/>
          </a:xfrm>
          <a:prstGeom prst="rect">
            <a:avLst/>
          </a:prstGeom>
          <a:solidFill>
            <a:srgbClr val="167762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5257800" y="3810000"/>
            <a:ext cx="6096000" cy="4191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650">
                <a:solidFill>
                  <a:srgbClr val="44534C"/>
                </a:solidFill>
                <a:latin typeface="Microsoft YaHei"/>
                <a:ea typeface="Microsoft YaHei"/>
              </a:rPr>
              <a:t>能验证的已经验证，剩下的需要你拍板。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5257800" y="4438650"/>
            <a:ext cx="6096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6B7A72"/>
                </a:solidFill>
                <a:latin typeface="Microsoft YaHei"/>
                <a:ea typeface="Microsoft YaHei"/>
              </a:rPr>
              <a:t>我把</a:t>
            </a:r>
            <a:r>
              <a:rPr lang="en-US" sz="1200">
                <a:solidFill>
                  <a:srgbClr val="6B7A72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6B7A72"/>
                </a:solidFill>
                <a:latin typeface="Microsoft YaHei"/>
                <a:ea typeface="Microsoft YaHei"/>
              </a:rPr>
              <a:t>做完了</a:t>
            </a:r>
            <a:r>
              <a:rPr lang="en-US" sz="1200">
                <a:solidFill>
                  <a:srgbClr val="6B7A72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6B7A72"/>
                </a:solidFill>
                <a:latin typeface="Microsoft YaHei"/>
                <a:ea typeface="Microsoft YaHei"/>
              </a:rPr>
              <a:t>和</a:t>
            </a:r>
            <a:r>
              <a:rPr lang="en-US" sz="1200">
                <a:solidFill>
                  <a:srgbClr val="6B7A72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6B7A72"/>
                </a:solidFill>
                <a:latin typeface="Microsoft YaHei"/>
                <a:ea typeface="Microsoft YaHei"/>
              </a:rPr>
              <a:t>还没做</a:t>
            </a:r>
            <a:r>
              <a:rPr lang="en-US" sz="1200">
                <a:solidFill>
                  <a:srgbClr val="6B7A72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6B7A72"/>
                </a:solidFill>
                <a:latin typeface="Microsoft YaHei"/>
                <a:ea typeface="Microsoft YaHei"/>
              </a:rPr>
              <a:t>分开列，你可以逐条追问。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93" name="" descr="&lt;Slide style={{ width: 1280, height: 720, background: '#FFFFFF', padding: '26px 64px 18px 64px', position: 'relative', fontFamily: 'Microsoft YaHei' }}&gt;&#13;&#10;    &lt;Box style={{ flexDirection: 'column', gap: 6, height: 104 }}&gt;&#13;&#10;        &lt;Text style={{ fontSize: 36, fontWeight: 'bold', color: '#0F1E19', lineHeight: 1.3 }}&gt;已验证的，和还没验证的&lt;/Text&gt;&#13;&#10;        &lt;Text style={{ fontSize: 17, color: '#6B7A72', lineHeight: 1.5 }}&gt;右边这一列不是&quot;以后再说&quot;，每一条都写了阻塞原因&lt;/Text&gt;&#13;&#10;    &lt;/Box&gt;&#13;&#10;    &lt;Box style={{ flexDirection: 'column', gap: 14, height: 526 }}&gt;&#13;&#10;        &lt;Table&#13;&#10;            style={{ width: 1152, height: 424 }}&#13;&#10;            defaultTextStyle={{ fontSize: 15, textAlign: 'left', color: '#0F1E19' }}&#13;&#10;            defaultCellStyle={{&#13;&#10;                border: {&#13;&#10;                    left: { width: 0, color: '#FFFFFF' },&#13;&#10;                    right: { width: 0, color: '#FFFFFF' },&#13;&#10;                    top: { width: 0, color: '#FFFFFF' },&#13;&#10;                    bottom: { width: 1, color: 'rgba(15,30,25,0.10)' },&#13;&#10;                },&#13;&#10;            }}&#13;&#10;            cells={[&#13;&#10;                [&#13;&#10;                    { text: '已经验证 · 本地可复跑', textStyle: { bold: true, color: '#FFFFFF', fontSize: 16 }, cellStyle: { background: { color: '#167762' } } },&#13;&#10;                    { text: '还没验证 · 有明确阻塞', textStyle: { bold: true, color: '#FFFFFF', fontSize: 16 }, cellStyle: { background: { color: '#C2410C' } } },&#13;&#10;                ],&#13;&#10;                ['26 项自动化测试全部通过', 'GitHub Actions 实际运行（需仓库权限）'],&#13;&#10;                ['密钥泄露被拦、修复后放行（真实扫描器）', 'CodeQL 代码扫描（私有仓库需许可）'],&#13;&#10;                ['暂存区绕过被拦：工作区已修复仍拦截', '镜像漏洞扫描（本机环境阻断）'],&#13;&#10;                ['容器非 root / 只读 / 限额，健康检查通过', 'Terraform init / validate（本机环境阻断）'],&#13;&#10;                ['本地 RAG 带引用回答，知识库外会拒答', '分支保护与 CODEOWNERS（模板未应用）'],&#13;&#10;            ]}&#13;&#10;        /&gt;&#13;&#10;        &lt;Box style={{ flexDirection: 'row', gap: 16, alignItems: 'center', padding: '14px 20px', background: 'rgba(22,119,98,0.07)', borderRadius: 6 }}&gt;&#13;&#10;            &lt;Text style={{ fontSize: 15, fontWeight: 'bold', color: '#167762' }}&gt;所以&lt;/Text&gt;&#13;&#10;            &lt;Text style={{ fontSize: 16, color: '#0F1E19', lineHeight: 1.55 }}&gt;现在能给你的是&quot;本地可复现的证据&quot;，不是&quot;已经全部上线&quot;。右边五项都需要你的仓库权限、许可或一台不受限的机器。&lt;/Text&gt;&#13;&#10;        &lt;/Box&gt;&#13;&#10;    &lt;/Box&gt;&#13;&#10;    &lt;Box style={{ position: 'absolute', left: 64, right: 64, bottom: 12, flexDirection: 'row', justifyContent: 'space-between' }}&gt;&#13;&#10;        &lt;Text style={{ fontSize: 14, color: '#6B7A72' }}&gt;SENTINEL · 安全开发环境方案&lt;/Text&gt;&#13;&#10;        &lt;Text style={{ fontSize: 14, color: '#6B7A72', fontFamily: 'Consolas' }}&gt;13 / 15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09600" y="247650"/>
            <a:ext cx="109728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F1E19"/>
                </a:solidFill>
                <a:latin typeface="Microsoft YaHei"/>
                <a:ea typeface="Microsoft YaHei"/>
              </a:rPr>
              <a:t>已验证的，和还没验证的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09600" y="847725"/>
            <a:ext cx="109728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6B7A72"/>
                </a:solidFill>
                <a:latin typeface="Microsoft YaHei"/>
                <a:ea typeface="Microsoft YaHei"/>
              </a:rPr>
              <a:t>右边这一列不是</a:t>
            </a:r>
            <a:r>
              <a:rPr lang="en-US" sz="1275">
                <a:solidFill>
                  <a:srgbClr val="6B7A72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6B7A72"/>
                </a:solidFill>
                <a:latin typeface="Microsoft YaHei"/>
                <a:ea typeface="Microsoft YaHei"/>
              </a:rPr>
              <a:t>以后再说</a:t>
            </a:r>
            <a:r>
              <a:rPr lang="en-US" sz="1275">
                <a:solidFill>
                  <a:srgbClr val="6B7A72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6B7A72"/>
                </a:solidFill>
                <a:latin typeface="Microsoft YaHei"/>
                <a:ea typeface="Microsoft YaHei"/>
              </a:rPr>
              <a:t>，每一条都写了阻塞原因</a:t>
            </a:r>
            <a:endParaRPr/>
          </a:p>
        </p:txBody>
      </p:sp>
      <p:graphicFrame>
        <p:nvGraphicFramePr>
          <p:cNvPr id="97" name=""/>
          <p:cNvGraphicFramePr/>
          <p:nvPr/>
        </p:nvGraphicFramePr>
        <p:xfrm rot="0" flipH="0" flipV="0">
          <a:off x="609600" y="1238250"/>
          <a:ext cx="10972800" cy="4038600"/>
        </p:xfrm>
        <a:graphic>
          <a:graphicData uri="http://schemas.openxmlformats.org/drawingml/2006/table">
            <a:tbl>
              <a:tblGrid>
                <a:gridCol w="5412905">
                  <a:extLst>
                    <a:ext uri="{9D8B030D-6E8A-4147-A177-3AD203B41FA5}">
                      <a16:colId val="1"/>
                    </a:ext>
                  </a:extLst>
                </a:gridCol>
                <a:gridCol w="5559895">
                  <a:extLst>
                    <a:ext uri="{9D8B030D-6E8A-4147-A177-3AD203B41FA5}">
                      <a16:colId val="2"/>
                    </a:ext>
                  </a:extLst>
                </a:gridCol>
              </a:tblGrid>
              <a:tr h="70823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已经验证 · 本地可复跑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7762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还没验证 · 有明确阻塞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2410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6607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26 项自动化测试全部通过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GitHub Actions 实际运行（需仓库权限）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6607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密钥泄露被拦、修复后放行（真实扫描器）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CodeQL 代码扫描（私有仓库需许可）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6607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暂存区绕过被拦：工作区已修复仍拦截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镜像漏洞扫描（本机环境阻断）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6607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容器非 root / 只读 / 限额，健康检查通过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Terraform init / validate（本机环境阻断）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66607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本地 RAG 带引用回答，知识库外会拒答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E19"/>
                          </a:solidFill>
                          <a:latin typeface="Microsoft YaHei"/>
                          <a:ea typeface="Microsoft YaHei"/>
                        </a:rPr>
                        <a:t>分支保护与 CODEOWNERS（模板未应用）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98" name=""/>
          <p:cNvSpPr/>
          <p:nvPr/>
        </p:nvSpPr>
        <p:spPr>
          <a:xfrm rot="0" flipH="0" flipV="0">
            <a:off x="609600" y="5410200"/>
            <a:ext cx="10972800" cy="552450"/>
          </a:xfrm>
          <a:prstGeom prst="roundRect">
            <a:avLst>
              <a:gd name="adj" fmla="val 10345"/>
            </a:avLst>
          </a:prstGeom>
          <a:solidFill>
            <a:srgbClr val="167762">
              <a:alpha val="7000"/>
            </a:srgbClr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00100" y="560070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7762"/>
                </a:solidFill>
                <a:latin typeface="Microsoft YaHei"/>
                <a:ea typeface="Microsoft YaHei"/>
              </a:rPr>
              <a:t>所以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238250" y="5543550"/>
            <a:ext cx="80391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0F1E19"/>
                </a:solidFill>
                <a:latin typeface="Microsoft YaHei"/>
                <a:ea typeface="Microsoft YaHei"/>
              </a:rPr>
              <a:t>现在能给你的是</a:t>
            </a:r>
            <a:r>
              <a:rPr lang="en-US" sz="1200">
                <a:solidFill>
                  <a:srgbClr val="0F1E19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0F1E19"/>
                </a:solidFill>
                <a:latin typeface="Microsoft YaHei"/>
                <a:ea typeface="Microsoft YaHei"/>
              </a:rPr>
              <a:t>本地可复现的证据</a:t>
            </a:r>
            <a:r>
              <a:rPr lang="en-US" sz="1200">
                <a:solidFill>
                  <a:srgbClr val="0F1E19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0F1E19"/>
                </a:solidFill>
                <a:latin typeface="Microsoft YaHei"/>
                <a:ea typeface="Microsoft YaHei"/>
              </a:rPr>
              <a:t>，不是</a:t>
            </a:r>
            <a:r>
              <a:rPr lang="en-US" sz="1200">
                <a:solidFill>
                  <a:srgbClr val="0F1E19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0F1E19"/>
                </a:solidFill>
                <a:latin typeface="Microsoft YaHei"/>
                <a:ea typeface="Microsoft YaHei"/>
              </a:rPr>
              <a:t>已经全部上线</a:t>
            </a:r>
            <a:r>
              <a:rPr lang="en-US" sz="1200">
                <a:solidFill>
                  <a:srgbClr val="0F1E19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0F1E19"/>
                </a:solidFill>
                <a:latin typeface="Microsoft YaHei"/>
                <a:ea typeface="Microsoft YaHei"/>
              </a:rPr>
              <a:t>。右边五项都需要你的仓库权限、许可或一台不受限的机器。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09600" y="6581775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A72"/>
                </a:solidFill>
                <a:latin typeface="Microsoft YaHei"/>
                <a:ea typeface="Microsoft YaHei"/>
              </a:rPr>
              <a:t xml:space="preserve">SENTINEL · </a:t>
            </a:r>
            <a:r>
              <a:rPr lang="zh-CN" sz="1050">
                <a:solidFill>
                  <a:srgbClr val="6B7A72"/>
                </a:solidFill>
                <a:latin typeface="Microsoft YaHei"/>
                <a:ea typeface="Microsoft YaHei"/>
              </a:rPr>
              <a:t>安全开发环境方案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1068050" y="65817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A72"/>
                </a:solidFill>
                <a:latin typeface="Consolas"/>
                <a:ea typeface="Consolas"/>
              </a:rPr>
              <a:t>13 / 15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03" name="" descr="&lt;Slide style={{ width: 1280, height: 720, background: '#FFFFFF', padding: '26px 64px 18px 64px', position: 'relative', fontFamily: 'Microsoft YaHei' }}&gt;&#10;    &lt;Box style={{ flexDirection: 'row', gap: 44, height: 620 }}&gt;&#10;        &lt;Box style={{ width: 316, flexDirection: 'column', justifyContent: 'center', gap: 14, paddingRight: 28, borderRight: '1px solid rgba(15,30,25,0.10)' }}&gt;&#10;            &lt;Text style={{ fontSize: 15, color: '#C2410C', letterSpacing: 3 }}&gt;需要你决定&lt;/Text&gt;&#10;            &lt;Text style={{ fontSize: 40, fontWeight: 'bold', color: '#0F1E19', lineHeight: 1.25 }}&gt;五件事&lt;br /&gt;定了才能往下走&lt;/Text&gt;&#10;            &lt;Box style={{ width: 48, height: 3, background: '#C2410C' }} /&gt;&#10;            &lt;Text style={{ fontSize: 15, color: '#6B7A72', lineHeight: 1.65 }}&gt;这五个答案决定路线、预算和时间表。其它细节我们可以在过程里补。&lt;/Text&gt;&#10;        &lt;/Box&gt;&#10;        &lt;Box style={{ flex: 1, flexDirection: 'column', justifyContent: 'space-between' }}&gt;&#10;            &lt;Box style={{ flexDirection: 'row', gap: 18, paddingBottom: 14, borderBottom: '1px solid rgba(15,30,25,0.10)' }}&gt;&#10;                &lt;Text style={{ width: 40, fontSize: 22, fontWeight: 'bold', color: '#C2410C', fontFamily: 'Consolas' }}&gt;01&lt;/Text&gt;&#10;                &lt;Box style={{ flex: 1, flexDirection: 'column', gap: 3 }}&gt;&#10;                    &lt;Text style={{ fontSize: 20, fontWeight: 'bold', color: '#0F1E19' }}&gt;代码和资料，能不能出内网&lt;/Text&gt;&#10;                    &lt;Text style={{ fontSize: 15, color: '#44534C', lineHeight: 1.6 }}&gt;这一条直接决定走云端 Copilot、Azure 自建，还是全离线自建（见 P07）。&lt;/Text&gt;&#10;                &lt;/Box&gt;&#10;            &lt;/Box&gt;&#10;            &lt;Box style={{ flexDirection: 'row', gap: 18, paddingBottom: 14, borderBottom: '1px solid rgba(15,30,25,0.10)' }}&gt;&#10;                &lt;Text style={{ width: 40, fontSize: 22, fontWeight: 'bold', color: '#C2410C', fontFamily: 'Consolas' }}&gt;02&lt;/Text&gt;&#10;                &lt;Box style={{ flex: 1, flexDirection: 'column', gap: 3 }}&gt;&#10;                    &lt;Text style={{ fontSize: 20, fontWeight: 'bold', color: '#0F1E19' }}&gt;现在有没有 M365 / E5 许可&lt;/Text&gt;&#10;                    &lt;Text style={{ fontSize: 15, color: '#44534C', lineHeight: 1.6 }}&gt;有许可，Copilot 路线可能几周就见效；没有许可，等于自建，时间与成本完全不同。&lt;/Text&gt;&#10;                &lt;/Box&gt;&#10;            &lt;/Box&gt;&#10;            &lt;Box style={{ flexDirection: 'row', gap: 18, paddingBottom: 14, borderBottom: '1px solid rgba(15,30,25,0.10)' }}&gt;&#10;                &lt;Text style={{ width: 40, fontSize: 22, fontWeight: 'bold', color: '#C2410C', fontFamily: 'Consolas' }}&gt;03&lt;/Text&gt;&#10;                &lt;Box style={{ flex: 1, flexDirection: 'column', gap: 3 }}&gt;&#10;                    &lt;Text style={{ fontSize: 20, fontWeight: 'bold', color: '#0F1E19' }}&gt;身份源用哪一个&lt;/Text&gt;&#10;                    &lt;Text style={{ fontSize: 15, color: '#44534C', lineHeight: 1.6 }}&gt;Entra ID、本地 AD 还是别的人力系统。这决定权限怎么接、离职怎么即时断权。&lt;/Text&gt;&#10;                &lt;/Box&gt;&#10;            &lt;/Box&gt;&#10;            &lt;Box style={{ flexDirection: 'row', gap: 18, paddingBottom: 14, borderBottom: '1px solid rgba(15,30,25,0.10)' }}&gt;&#10;                &lt;Text style={{ width: 40, fontSize: 22, fontWeight: 'bold', color: '#C2410C', fontFamily: 'Consolas' }}&gt;04&lt;/Text&gt;&#10;                &lt;Box style={{ flex: 1, flexDirection: 'column', gap: 3 }}&gt;&#10;                    &lt;Text style={{ fontSize: 20, fontWeight: 'bold', color: '#0F1E19' }}&gt;环境分几套，谁能碰生产&lt;/Text&gt;&#10;                    &lt;Text style={{ fontSize: 15, color: '#44534C', lineHeight: 1.6 }}&gt;Test / UAT / PROD 要几套、生产权限给谁。环境越多，权限模型和运维成本越高。&lt;/Text&gt;&#10;                &lt;/Box&gt;&#10;            &lt;/Box&gt;&#10;            &lt;Box style={{ flexDirection: 'row', gap: 18 }}&gt;&#10;                &lt;Text style={{ width: 40, fontSize: 22, fontWeight: 'bold', color: '#C2410C', fontFamily: 'Consolas' }}&gt;05&lt;/Text&gt;&#10;                &lt;Box style={{ flex: 1, flexDirection: 'column', gap: 3 }}&gt;&#10;                    &lt;Text style={{ fontSize: 20, fontWeight: 'bold', color: '#0F1E19' }}&gt;RPO / RTO，以及预算形态&lt;/Text&gt;&#10;                    &lt;Text style={{ fontSize: 15, color: '#44534C', lineHeight: 1.6 }}&gt;能丢多少数据、多久要恢复、按年买还是按项目。这三个数决定备份与容灾的投入。&lt;/Text&gt;&#10;                &lt;/Box&gt;&#10;            &lt;/Box&gt;&#10;        &lt;/Box&gt;&#10;    &lt;/Box&gt;&#10;    &lt;Box style={{ position: 'absolute', left: 64, right: 64, bottom: 12, flexDirection: 'row', justifyContent: 'space-between' }}&gt;&#10;        &lt;Text style={{ fontSize: 14, color: '#6B7A72' }}&gt;SENTINEL · 安全开发环境方案&lt;/Text&gt;&#10;        &lt;Text style={{ fontSize: 14, color: '#6B7A72', fontFamily: 'Consolas' }}&gt;14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5" name=""/>
          <p:cNvSpPr/>
          <p:nvPr/>
        </p:nvSpPr>
        <p:spPr>
          <a:xfrm rot="0" flipH="0" flipV="0">
            <a:off x="609600" y="247650"/>
            <a:ext cx="3009900" cy="5905500"/>
          </a:xfrm>
          <a:custGeom>
            <a:pathLst>
              <a:path w="316" h="620">
                <a:moveTo>
                  <a:pt x="315" y="0"/>
                </a:moveTo>
                <a:lnTo>
                  <a:pt x="316" y="0"/>
                </a:lnTo>
                <a:lnTo>
                  <a:pt x="316" y="620"/>
                </a:lnTo>
                <a:lnTo>
                  <a:pt x="315" y="620"/>
                </a:lnTo>
                <a:close/>
              </a:path>
            </a:pathLst>
          </a:custGeom>
          <a:solidFill>
            <a:srgbClr val="0F1E19">
              <a:alpha val="10000"/>
            </a:srgbClr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09600" y="2047875"/>
            <a:ext cx="2733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C2410C"/>
                </a:solidFill>
                <a:latin typeface="Microsoft YaHei"/>
                <a:ea typeface="Microsoft YaHei"/>
              </a:rPr>
              <a:t>需要你决定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09600" y="2352675"/>
            <a:ext cx="2733675" cy="11430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000" b="1">
                <a:solidFill>
                  <a:srgbClr val="0F1E19"/>
                </a:solidFill>
                <a:latin typeface="Microsoft YaHei"/>
                <a:ea typeface="Microsoft YaHei"/>
              </a:rPr>
              <a:t>五件事</a:t>
            </a:r>
            <a:endParaRPr/>
          </a:p>
          <a:p>
            <a:pPr>
              <a:lnSpc>
                <a:spcPct val="125000"/>
              </a:lnSpc>
            </a:pPr>
            <a:r>
              <a:rPr lang="zh-CN" sz="3000" b="1">
                <a:solidFill>
                  <a:srgbClr val="0F1E19"/>
                </a:solidFill>
                <a:latin typeface="Microsoft YaHei"/>
                <a:ea typeface="Microsoft YaHei"/>
              </a:rPr>
              <a:t>定了才能往下走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609600" y="3629025"/>
            <a:ext cx="457200" cy="28575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09600" y="3790950"/>
            <a:ext cx="273367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6B7A72"/>
                </a:solidFill>
                <a:latin typeface="Microsoft YaHei"/>
                <a:ea typeface="Microsoft YaHei"/>
              </a:rPr>
              <a:t>这五个答案决定路线、预算和时间表。其它细节我们可以在过程里补。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4038600" y="247650"/>
            <a:ext cx="7543800" cy="685800"/>
          </a:xfrm>
          <a:custGeom>
            <a:pathLst>
              <a:path w="792" h="72">
                <a:moveTo>
                  <a:pt x="0" y="71"/>
                </a:moveTo>
                <a:lnTo>
                  <a:pt x="792" y="71"/>
                </a:lnTo>
                <a:lnTo>
                  <a:pt x="792" y="72"/>
                </a:lnTo>
                <a:lnTo>
                  <a:pt x="0" y="72"/>
                </a:lnTo>
                <a:close/>
              </a:path>
            </a:pathLst>
          </a:custGeom>
          <a:solidFill>
            <a:srgbClr val="0F1E19">
              <a:alpha val="10000"/>
            </a:srgbClr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4038600" y="247650"/>
            <a:ext cx="3810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C2410C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4591050" y="247650"/>
            <a:ext cx="6991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E19"/>
                </a:solidFill>
                <a:latin typeface="Microsoft YaHei"/>
                <a:ea typeface="Microsoft YaHei"/>
              </a:rPr>
              <a:t>代码和资料，能不能出内网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4591050" y="504825"/>
            <a:ext cx="69913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这一条直接决定走云端</a:t>
            </a:r>
            <a:r>
              <a:rPr lang="en-US" sz="1125">
                <a:solidFill>
                  <a:srgbClr val="44534C"/>
                </a:solidFill>
                <a:latin typeface="Microsoft YaHei"/>
                <a:ea typeface="Microsoft YaHei"/>
              </a:rPr>
              <a:t xml:space="preserve"> Copilot</a:t>
            </a: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44534C"/>
                </a:solidFill>
                <a:latin typeface="Microsoft YaHei"/>
                <a:ea typeface="Microsoft YaHei"/>
              </a:rPr>
              <a:t xml:space="preserve">Azure </a:t>
            </a: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自建，还是全离线自建（见</a:t>
            </a:r>
            <a:r>
              <a:rPr lang="en-US" sz="1125">
                <a:solidFill>
                  <a:srgbClr val="44534C"/>
                </a:solidFill>
                <a:latin typeface="Microsoft YaHei"/>
                <a:ea typeface="Microsoft YaHei"/>
              </a:rPr>
              <a:t xml:space="preserve"> P07</a:t>
            </a: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）。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4038600" y="1590675"/>
            <a:ext cx="7543800" cy="685800"/>
          </a:xfrm>
          <a:custGeom>
            <a:pathLst>
              <a:path w="792" h="72">
                <a:moveTo>
                  <a:pt x="0" y="71"/>
                </a:moveTo>
                <a:lnTo>
                  <a:pt x="792" y="71"/>
                </a:lnTo>
                <a:lnTo>
                  <a:pt x="792" y="72"/>
                </a:lnTo>
                <a:lnTo>
                  <a:pt x="0" y="72"/>
                </a:lnTo>
                <a:close/>
              </a:path>
            </a:pathLst>
          </a:custGeom>
          <a:solidFill>
            <a:srgbClr val="0F1E19">
              <a:alpha val="10000"/>
            </a:srgbClr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4038600" y="1590675"/>
            <a:ext cx="3810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C2410C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4591050" y="1590675"/>
            <a:ext cx="6991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E19"/>
                </a:solidFill>
                <a:latin typeface="Microsoft YaHei"/>
                <a:ea typeface="Microsoft YaHei"/>
              </a:rPr>
              <a:t>现在有没有</a:t>
            </a:r>
            <a:r>
              <a:rPr lang="en-US" sz="1500" b="1">
                <a:solidFill>
                  <a:srgbClr val="0F1E19"/>
                </a:solidFill>
                <a:latin typeface="Microsoft YaHei"/>
                <a:ea typeface="Microsoft YaHei"/>
              </a:rPr>
              <a:t xml:space="preserve"> M365 / E5 </a:t>
            </a:r>
            <a:r>
              <a:rPr lang="zh-CN" sz="1500" b="1">
                <a:solidFill>
                  <a:srgbClr val="0F1E19"/>
                </a:solidFill>
                <a:latin typeface="Microsoft YaHei"/>
                <a:ea typeface="Microsoft YaHei"/>
              </a:rPr>
              <a:t>许可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4591050" y="1847850"/>
            <a:ext cx="69913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有许可，</a:t>
            </a:r>
            <a:r>
              <a:rPr lang="en-US" sz="1125">
                <a:solidFill>
                  <a:srgbClr val="44534C"/>
                </a:solidFill>
                <a:latin typeface="Microsoft YaHei"/>
                <a:ea typeface="Microsoft YaHei"/>
              </a:rPr>
              <a:t xml:space="preserve">Copilot </a:t>
            </a: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路线可能几周就见效；没有许可，等于自建，时间与成本完全不同。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4038600" y="2933700"/>
            <a:ext cx="7543800" cy="685800"/>
          </a:xfrm>
          <a:custGeom>
            <a:pathLst>
              <a:path w="792" h="72">
                <a:moveTo>
                  <a:pt x="0" y="71"/>
                </a:moveTo>
                <a:lnTo>
                  <a:pt x="792" y="71"/>
                </a:lnTo>
                <a:lnTo>
                  <a:pt x="792" y="72"/>
                </a:lnTo>
                <a:lnTo>
                  <a:pt x="0" y="72"/>
                </a:lnTo>
                <a:close/>
              </a:path>
            </a:pathLst>
          </a:custGeom>
          <a:solidFill>
            <a:srgbClr val="0F1E19">
              <a:alpha val="10000"/>
            </a:srgbClr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4038600" y="2933700"/>
            <a:ext cx="3810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C2410C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4591050" y="2933700"/>
            <a:ext cx="6991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E19"/>
                </a:solidFill>
                <a:latin typeface="Microsoft YaHei"/>
                <a:ea typeface="Microsoft YaHei"/>
              </a:rPr>
              <a:t>身份源用哪一个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4591050" y="3190875"/>
            <a:ext cx="69913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44534C"/>
                </a:solidFill>
                <a:latin typeface="Microsoft YaHei"/>
                <a:ea typeface="Microsoft YaHei"/>
              </a:rPr>
              <a:t>Entra ID</a:t>
            </a: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、本地</a:t>
            </a:r>
            <a:r>
              <a:rPr lang="en-US" sz="1125">
                <a:solidFill>
                  <a:srgbClr val="44534C"/>
                </a:solidFill>
                <a:latin typeface="Microsoft YaHei"/>
                <a:ea typeface="Microsoft YaHei"/>
              </a:rPr>
              <a:t xml:space="preserve"> AD </a:t>
            </a: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还是别的人力系统。这决定权限怎么接、离职怎么即时断权。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4038600" y="4276725"/>
            <a:ext cx="7543800" cy="685800"/>
          </a:xfrm>
          <a:custGeom>
            <a:pathLst>
              <a:path w="792" h="72">
                <a:moveTo>
                  <a:pt x="0" y="71"/>
                </a:moveTo>
                <a:lnTo>
                  <a:pt x="792" y="71"/>
                </a:lnTo>
                <a:lnTo>
                  <a:pt x="792" y="72"/>
                </a:lnTo>
                <a:lnTo>
                  <a:pt x="0" y="72"/>
                </a:lnTo>
                <a:close/>
              </a:path>
            </a:pathLst>
          </a:custGeom>
          <a:solidFill>
            <a:srgbClr val="0F1E19">
              <a:alpha val="10000"/>
            </a:srgbClr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4038600" y="4276725"/>
            <a:ext cx="3810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C2410C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4591050" y="4276725"/>
            <a:ext cx="6991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E19"/>
                </a:solidFill>
                <a:latin typeface="Microsoft YaHei"/>
                <a:ea typeface="Microsoft YaHei"/>
              </a:rPr>
              <a:t>环境分几套，谁能碰生产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4591050" y="4533900"/>
            <a:ext cx="69913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44534C"/>
                </a:solidFill>
                <a:latin typeface="Microsoft YaHei"/>
                <a:ea typeface="Microsoft YaHei"/>
              </a:rPr>
              <a:t xml:space="preserve">Test / UAT / PROD </a:t>
            </a: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要几套、生产权限给谁。环境越多，权限模型和运维成本越高。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4038600" y="5619750"/>
            <a:ext cx="3810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C2410C"/>
                </a:solidFill>
                <a:latin typeface="Consolas"/>
                <a:ea typeface="Consolas"/>
              </a:rPr>
              <a:t>05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4591050" y="5619750"/>
            <a:ext cx="6991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E19"/>
                </a:solidFill>
                <a:latin typeface="Microsoft YaHei"/>
                <a:ea typeface="Microsoft YaHei"/>
              </a:rPr>
              <a:t>RPO / RTO</a:t>
            </a:r>
            <a:r>
              <a:rPr lang="zh-CN" sz="1500" b="1">
                <a:solidFill>
                  <a:srgbClr val="0F1E19"/>
                </a:solidFill>
                <a:latin typeface="Microsoft YaHei"/>
                <a:ea typeface="Microsoft YaHei"/>
              </a:rPr>
              <a:t>，以及预算形态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4591050" y="5876925"/>
            <a:ext cx="69913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44534C"/>
                </a:solidFill>
                <a:latin typeface="Microsoft YaHei"/>
                <a:ea typeface="Microsoft YaHei"/>
              </a:rPr>
              <a:t>能丢多少数据、多久要恢复、按年买还是按项目。这三个数决定备份与容灾的投入。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09600" y="6581775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A72"/>
                </a:solidFill>
                <a:latin typeface="Microsoft YaHei"/>
                <a:ea typeface="Microsoft YaHei"/>
              </a:rPr>
              <a:t xml:space="preserve">SENTINEL · </a:t>
            </a:r>
            <a:r>
              <a:rPr lang="zh-CN" sz="1050">
                <a:solidFill>
                  <a:srgbClr val="6B7A72"/>
                </a:solidFill>
                <a:latin typeface="Microsoft YaHei"/>
                <a:ea typeface="Microsoft YaHei"/>
              </a:rPr>
              <a:t>安全开发环境方案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1068050" y="65817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A72"/>
                </a:solidFill>
                <a:latin typeface="Consolas"/>
                <a:ea typeface="Consolas"/>
              </a:rPr>
              <a:t>14 / 15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31" name="" descr="&lt;Slide style={{ width: 1280, height: 720, background: '#0F1E19', position: 'relative', padding: 0, fontFamily: 'Microsoft YaHei' }}&gt;&#10;    &lt;Box style={{ position: 'absolute', left: 0, top: 0, width: 1280, height: 720, padding: '0 120px', flexDirection: 'column', justifyContent: 'center', gap: 30 }}&gt;&#10;        &lt;Text style={{ fontSize: 15, color: 'rgba(255,255,255,0.5)', letterSpacing: 4 }}&gt;SENTINEL&lt;/Text&gt;&#10;        &lt;Text style={{ fontSize: 44, fontWeight: 'bold', color: '#FFFFFF', lineHeight: 1.4 }}&gt;&#10;            安全不是加了多少扫描器，&lt;br /&gt;而是每条必经之路上，&lt;br /&gt;都有一个绕不过去的关卡。&#10;        &lt;/Text&gt;&#10;        &lt;Box style={{ width: 72, height: 3, background: '#167762' }} /&gt;&#10;        &lt;Box style={{ flexDirection: 'row', gap: 56 }}&gt;&#10;            &lt;Box style={{ flexDirection: 'column', gap: 4 }}&gt;&#10;                &lt;Text style={{ fontSize: 15, color: 'rgba(255,255,255,0.45)' }}&gt;下一步&lt;/Text&gt;&#10;                &lt;Text style={{ fontSize: 18, color: '#FFFFFF' }}&gt;30 分钟对齐会，先把 P14 的五个答案定下来&lt;/Text&gt;&#10;            &lt;/Box&gt;&#10;            &lt;Box style={{ flexDirection: 'column', gap: 4 }}&gt;&#10;                &lt;Text style={{ fontSize: 15, color: 'rgba(255,255,255,0.45)' }}&gt;可提供的&lt;/Text&gt;&#10;                &lt;Text style={{ fontSize: 18, color: '#FFFFFF' }}&gt;本地演示 · 证据清单 · 可复跑的测试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E19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143000" y="1638300"/>
            <a:ext cx="990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SENTINEL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143000" y="2095500"/>
            <a:ext cx="9906000" cy="2114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3300" b="1">
                <a:solidFill>
                  <a:srgbClr val="FFFFFF"/>
                </a:solidFill>
                <a:latin typeface="Microsoft YaHei"/>
                <a:ea typeface="Microsoft YaHei"/>
              </a:rPr>
              <a:t>安全不是加了多少扫描器，</a:t>
            </a:r>
            <a:endParaRPr/>
          </a:p>
          <a:p>
            <a:pPr>
              <a:lnSpc>
                <a:spcPct val="140000"/>
              </a:lnSpc>
            </a:pPr>
            <a:r>
              <a:rPr lang="zh-CN" sz="3300" b="1">
                <a:solidFill>
                  <a:srgbClr val="FFFFFF"/>
                </a:solidFill>
                <a:latin typeface="Microsoft YaHei"/>
                <a:ea typeface="Microsoft YaHei"/>
              </a:rPr>
              <a:t>而是每条必经之路上，</a:t>
            </a:r>
            <a:endParaRPr/>
          </a:p>
          <a:p>
            <a:pPr>
              <a:lnSpc>
                <a:spcPct val="140000"/>
              </a:lnSpc>
            </a:pPr>
            <a:r>
              <a:rPr lang="zh-CN" sz="3300" b="1">
                <a:solidFill>
                  <a:srgbClr val="FFFFFF"/>
                </a:solidFill>
                <a:latin typeface="Microsoft YaHei"/>
                <a:ea typeface="Microsoft YaHei"/>
              </a:rPr>
              <a:t>都有一个绕不过去的关卡。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1143000" y="4495800"/>
            <a:ext cx="685800" cy="28575"/>
          </a:xfrm>
          <a:prstGeom prst="rect">
            <a:avLst/>
          </a:prstGeom>
          <a:solidFill>
            <a:srgbClr val="167762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143000" y="481012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45000"/>
                  </a:srgbClr>
                </a:solidFill>
                <a:latin typeface="Microsoft YaHei"/>
                <a:ea typeface="Microsoft YaHei"/>
              </a:rPr>
              <a:t>下一步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143000" y="5019675"/>
            <a:ext cx="3409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 xml:space="preserve">30 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分钟对齐会，先把</a:t>
            </a: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 xml:space="preserve"> P14 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的五个答案定下来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5086350" y="4810125"/>
            <a:ext cx="2686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45000"/>
                  </a:srgbClr>
                </a:solidFill>
                <a:latin typeface="Microsoft YaHei"/>
                <a:ea typeface="Microsoft YaHei"/>
              </a:rPr>
              <a:t>可提供的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5086350" y="5019675"/>
            <a:ext cx="2686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本地演示</a:t>
            </a: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证据清单</a:t>
            </a: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可复跑的测试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2026-10-22T09:15:03Z</dcterms:created>
  <dcterms:modified xsi:type="dcterms:W3CDTF">2026-10-22T09:15:03Z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{"AIGC":{"Label":"1","ContentProducer":"00119111010856365494821B355","ProduceID":"01a16423df5a738ca0ba7fc6bd42b289","ReservedCode1":"","ContentPropagator":"00119111010856365494821B355","PropagateID":"01a16423df5a738ca0ba7fc6bd42b289","ReservedCode2":""}}</vt:lpwstr>
  </property>
</Properties>
</file>