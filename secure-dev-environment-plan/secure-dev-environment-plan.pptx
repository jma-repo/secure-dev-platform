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16"/>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tableStyles" Target="tableStyles.xml"/><Relationship Id="rId1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p:cSld>
    <p:spTree>
      <p:nvGrpSpPr>
        <p:cNvPr id="1" name="" descr="&lt;Slide style={{ width: 1280, height: 720, background: '#FFFFFF', position: 'relative', padding: 0, fontFamily: 'Microsoft YaHei' }}&gt;&#10;    &lt;Box style={{ position: 'absolute', left: 0, top: 0, width: 748, height: 720, background: 'linear-gradient(135deg, #167762 0%, #0F1E19 100%)' }} /&gt;&#10;    &lt;Box style={{ position: 'absolute', left: 0, top: 0, width: 748, height: 720, padding: '62px 56px 56px 64px', flexDirection: 'column', justifyContent: 'space-between' }}&gt;&#10;        &lt;Text style={{ fontSize: 15, color: 'rgba(255,255,255,0.62)', letterSpacing: 3 }}&gt;SENTINEL · 方案沟通&lt;/Text&gt;&#10;        &lt;Box style={{ flexDirection: 'column', gap: 22 }}&gt;&#10;            &lt;Text style={{ fontSize: 72, fontWeight: 'bold', color: '#FFFFFF', lineHeight: 1.15, letterSpacing: -0.5 }}&gt;&#10;                安全的多人在线&lt;br /&gt;开发环境&#10;            &lt;/Text&gt;&#10;            &lt;Box style={{ width: 64, height: 4, background: 'rgba(255,255,255,0.85)' }} /&gt;&#10;            &lt;Text style={{ fontSize: 22, color: 'rgba(255,255,255,0.84)', lineHeight: 1.6 }}&gt;&#10;                统一仓库 · 五道安全关卡 · 权限化内部知识问答&#10;            &lt;/Text&gt;&#10;        &lt;/Box&gt;&#10;        &lt;Box style={{ flexDirection: 'column', gap: 8 }}&gt;&#10;            &lt;Text style={{ fontSize: 15, color: 'rgba(255,255,255,0.7)' }}&gt;2026 年 10 月 · 需求对齐稿&lt;/Text&gt;&#10;            &lt;Text style={{ fontSize: 14, color: 'rgba(255,255,255,0.5)' }}&gt;本稿含未验证项，已逐条标注，不做完成度承诺&lt;/Text&gt;&#10;        &lt;/Box&gt;&#10;    &lt;/Box&gt;&#10;    &lt;Box style={{ position: 'absolute', left: 812, top: 0, width: 404, height: 720, flexDirection: 'column', justifyContent: 'center', gap: 44 }}&gt;&#10;        &lt;Box style={{ flexDirection: 'column', gap: 6 }}&gt;&#10;            &lt;Text style={{ fontSize: 40, fontWeight: 'bold', color: '#167762', fontFamily: 'Consolas' }}&gt;3&lt;/Text&gt;&#10;            &lt;Text style={{ fontSize: 18, color: '#0F1E19', fontWeight: 'bold' }}&gt;条可选路线&lt;/Text&gt;&#10;            &lt;Text style={{ fontSize: 15, color: '#6B7A72', lineHeight: 1.5 }}&gt;选哪条由数据边界决定&lt;/Text&gt;&#10;        &lt;/Box&gt;&#10;        &lt;Box style={{ width: 120, height: 1, background: 'rgba(15,30,25,0.12)' }} /&gt;&#10;        &lt;Box style={{ flexDirection: 'column', gap: 6 }}&gt;&#10;            &lt;Text style={{ fontSize: 40, fontWeight: 'bold', color: '#167762', fontFamily: 'Consolas' }}&gt;5&lt;/Text&gt;&#10;            &lt;Text style={{ fontSize: 18, color: '#0F1E19', fontWeight: 'bold' }}&gt;道安全关卡&lt;/Text&gt;&#10;            &lt;Text style={{ fontSize: 15, color: '#6B7A72', lineHeight: 1.5 }}&gt;放在每条必经之路上&lt;/Text&gt;&#10;        &lt;/Box&gt;&#10;        &lt;Box style={{ width: 120, height: 1, background: 'rgba(15,30,25,0.12)' }} /&gt;&#10;        &lt;Box style={{ flexDirection: 'column', gap: 6 }}&gt;&#10;            &lt;Text style={{ fontSize: 40, fontWeight: 'bold', color: '#167762', fontFamily: 'Consolas' }}&gt;26&lt;/Text&gt;&#10;            &lt;Text style={{ fontSize: 18, color: '#0F1E19', fontWeight: 'bold' }}&gt;项自动化测试&lt;/Text&gt;&#10;            &lt;Text style={{ fontSize: 15, color: '#6B7A72', lineHeight: 1.5 }}&gt;本地实测通过，可复跑&lt;/Text&gt;&#10;        &lt;/Box&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0" y="0"/>
            <a:ext cx="7124700" cy="6858000"/>
          </a:xfrm>
          <a:prstGeom prst="rect">
            <a:avLst/>
          </a:prstGeom>
          <a:gradFill>
            <a:gsLst>
              <a:gs pos="0">
                <a:srgbClr val="167762"/>
              </a:gs>
              <a:gs pos="100000">
                <a:srgbClr val="0F1E19"/>
              </a:gs>
            </a:gsLst>
            <a:lin ang="2700000" scaled="1"/>
          </a:gradFill>
          <a:ln/>
        </p:spPr>
        <p:txBody>
          <a:bodyPr/>
          <a:p/>
        </p:txBody>
      </p:sp>
      <p:sp>
        <p:nvSpPr>
          <p:cNvPr id="4" name="" descr="{&quot;isTemplate&quot;:true,&quot;type&quot;:&quot;text&quot;}"/>
          <p:cNvSpPr txBox="1"/>
          <p:nvPr/>
        </p:nvSpPr>
        <p:spPr>
          <a:xfrm rot="0" flipH="0" flipV="0">
            <a:off x="609600" y="590550"/>
            <a:ext cx="5981700" cy="171450"/>
          </a:xfrm>
          <a:prstGeom prst="rect"/>
        </p:spPr>
        <p:txBody>
          <a:bodyPr wrap="none" lIns="0" tIns="0" rIns="0" bIns="0"/>
          <a:p>
            <a:pPr>
              <a:lnSpc>
                <a:spcPct val="100000"/>
              </a:lnSpc>
            </a:pPr>
            <a:r>
              <a:rPr lang="en-US" sz="1125" spc="225">
                <a:solidFill>
                  <a:srgbClr val="FFFFFF">
                    <a:alpha val="62000"/>
                  </a:srgbClr>
                </a:solidFill>
                <a:latin typeface="Microsoft YaHei"/>
                <a:ea typeface="Microsoft YaHei"/>
              </a:rPr>
              <a:t>SENTINEL · Solution Discussion</a:t>
            </a:r>
            <a:endParaRPr/>
          </a:p>
        </p:txBody>
      </p:sp>
      <p:sp>
        <p:nvSpPr>
          <p:cNvPr id="5" name="" descr="{&quot;isTemplate&quot;:true,&quot;type&quot;:&quot;text&quot;}"/>
          <p:cNvSpPr txBox="1"/>
          <p:nvPr/>
        </p:nvSpPr>
        <p:spPr>
          <a:xfrm rot="0" flipH="0" flipV="0">
            <a:off x="609600" y="1962150"/>
            <a:ext cx="5981700" cy="1895475"/>
          </a:xfrm>
          <a:prstGeom prst="rect"/>
        </p:spPr>
        <p:txBody>
          <a:bodyPr wrap="none" lIns="0" tIns="0" rIns="0" bIns="0"/>
          <a:p>
            <a:pPr>
              <a:lnSpc>
                <a:spcPct val="114999"/>
              </a:lnSpc>
            </a:pPr>
            <a:r>
              <a:rPr lang="zh-CN" sz="4200" b="1" spc="-37">
                <a:solidFill>
                  <a:srgbClr val="FFFFFF"/>
                </a:solidFill>
                <a:latin typeface="Microsoft YaHei"/>
                <a:ea typeface="Microsoft YaHei"/>
              </a:rPr>
              <a:t>Secure Multi-Person</a:t>
            </a:r>
            <a:br>
              <a:rPr lang="zh-CN" sz="4200" b="1" spc="-37">
                <a:solidFill>
                  <a:srgbClr val="FFFFFF"/>
                </a:solidFill>
                <a:latin typeface="Microsoft YaHei"/>
                <a:ea typeface="Microsoft YaHei"/>
              </a:rPr>
            </a:br>
            <a:r>
              <a:rPr lang="zh-CN" sz="4200" b="1" spc="-37">
                <a:solidFill>
                  <a:srgbClr val="FFFFFF"/>
                </a:solidFill>
                <a:latin typeface="Microsoft YaHei"/>
                <a:ea typeface="Microsoft YaHei"/>
              </a:rPr>
              <a:t>Online Development</a:t>
            </a:r>
            <a:br>
              <a:rPr lang="zh-CN" sz="4200" b="1" spc="-37">
                <a:solidFill>
                  <a:srgbClr val="FFFFFF"/>
                </a:solidFill>
                <a:latin typeface="Microsoft YaHei"/>
                <a:ea typeface="Microsoft YaHei"/>
              </a:rPr>
            </a:br>
            <a:r>
              <a:rPr lang="zh-CN" sz="4200" b="1" spc="-37">
                <a:solidFill>
                  <a:srgbClr val="FFFFFF"/>
                </a:solidFill>
                <a:latin typeface="Microsoft YaHei"/>
                <a:ea typeface="Microsoft YaHei"/>
              </a:rPr>
              <a:t>Environment</a:t>
            </a:r>
            <a:endParaRPr/>
          </a:p>
        </p:txBody>
      </p:sp>
      <p:sp>
        <p:nvSpPr>
          <p:cNvPr id="6" name=""/>
          <p:cNvSpPr/>
          <p:nvPr/>
        </p:nvSpPr>
        <p:spPr>
          <a:xfrm rot="0" flipH="0" flipV="0">
            <a:off x="609600" y="4067175"/>
            <a:ext cx="609600" cy="38100"/>
          </a:xfrm>
          <a:prstGeom prst="rect">
            <a:avLst/>
          </a:prstGeom>
          <a:solidFill>
            <a:srgbClr val="FFFFFF">
              <a:alpha val="85000"/>
            </a:srgbClr>
          </a:solidFill>
          <a:ln/>
        </p:spPr>
        <p:txBody>
          <a:bodyPr/>
          <a:p/>
        </p:txBody>
      </p:sp>
      <p:sp>
        <p:nvSpPr>
          <p:cNvPr id="7" name="" descr="{&quot;isTemplate&quot;:true,&quot;type&quot;:&quot;text&quot;}"/>
          <p:cNvSpPr txBox="1"/>
          <p:nvPr/>
        </p:nvSpPr>
        <p:spPr>
          <a:xfrm rot="0" flipH="0" flipV="0">
            <a:off x="609600" y="4314825"/>
            <a:ext cx="5981700" cy="409575"/>
          </a:xfrm>
          <a:prstGeom prst="rect"/>
        </p:spPr>
        <p:txBody>
          <a:bodyPr wrap="square" lIns="0" tIns="0" rIns="0" bIns="0"/>
          <a:p>
            <a:pPr>
              <a:lnSpc>
                <a:spcPct val="160000"/>
              </a:lnSpc>
            </a:pPr>
            <a:r>
              <a:rPr lang="zh-CN" sz="1485">
                <a:solidFill>
                  <a:srgbClr val="FFFFFF">
                    <a:alpha val="84000"/>
                  </a:srgbClr>
                </a:solidFill>
                <a:latin typeface="Microsoft YaHei"/>
                <a:ea typeface="Microsoft YaHei"/>
              </a:rPr>
              <a:t>Unified repository · Five security gates · Permission-aware internal knowledge answers</a:t>
            </a:r>
            <a:endParaRPr/>
          </a:p>
        </p:txBody>
      </p:sp>
      <p:sp>
        <p:nvSpPr>
          <p:cNvPr id="8" name="" descr="{&quot;isTemplate&quot;:true,&quot;type&quot;:&quot;text&quot;}"/>
          <p:cNvSpPr txBox="1"/>
          <p:nvPr/>
        </p:nvSpPr>
        <p:spPr>
          <a:xfrm rot="0" flipH="0" flipV="0">
            <a:off x="609600" y="5915025"/>
            <a:ext cx="5981700" cy="171450"/>
          </a:xfrm>
          <a:prstGeom prst="rect"/>
        </p:spPr>
        <p:txBody>
          <a:bodyPr wrap="none" lIns="0" tIns="0" rIns="0" bIns="0"/>
          <a:p>
            <a:pPr>
              <a:lnSpc>
                <a:spcPct val="100000"/>
              </a:lnSpc>
            </a:pPr>
            <a:r>
              <a:rPr lang="en-US" sz="1125">
                <a:solidFill>
                  <a:srgbClr val="FFFFFF">
                    <a:alpha val="70000"/>
                  </a:srgbClr>
                </a:solidFill>
                <a:latin typeface="Microsoft YaHei"/>
                <a:ea typeface="Microsoft YaHei"/>
              </a:rPr>
              <a:t>October 2026 · Requirements alignment draft</a:t>
            </a:r>
            <a:endParaRPr/>
          </a:p>
        </p:txBody>
      </p:sp>
      <p:sp>
        <p:nvSpPr>
          <p:cNvPr id="9" name="" descr="{&quot;isTemplate&quot;:true,&quot;type&quot;:&quot;text&quot;}"/>
          <p:cNvSpPr txBox="1"/>
          <p:nvPr/>
        </p:nvSpPr>
        <p:spPr>
          <a:xfrm rot="0" flipH="0" flipV="0">
            <a:off x="609600" y="6162675"/>
            <a:ext cx="59817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This draft includes unverified items, each labeled; no completion commitment is made</a:t>
            </a:r>
            <a:endParaRPr/>
          </a:p>
        </p:txBody>
      </p:sp>
      <p:sp>
        <p:nvSpPr>
          <p:cNvPr id="10" name="" descr="{&quot;isTemplate&quot;:true,&quot;type&quot;:&quot;text&quot;}"/>
          <p:cNvSpPr txBox="1"/>
          <p:nvPr/>
        </p:nvSpPr>
        <p:spPr>
          <a:xfrm rot="0" flipH="0" flipV="0">
            <a:off x="7734300" y="1028700"/>
            <a:ext cx="3848100" cy="457200"/>
          </a:xfrm>
          <a:prstGeom prst="rect"/>
        </p:spPr>
        <p:txBody>
          <a:bodyPr wrap="none" lIns="0" tIns="0" rIns="0" bIns="0"/>
          <a:p>
            <a:pPr>
              <a:lnSpc>
                <a:spcPct val="100000"/>
              </a:lnSpc>
            </a:pPr>
            <a:r>
              <a:rPr lang="en-US" sz="3000" b="1">
                <a:solidFill>
                  <a:srgbClr val="167762"/>
                </a:solidFill>
                <a:latin typeface="Consolas"/>
                <a:ea typeface="Consolas"/>
              </a:rPr>
              <a:t>3</a:t>
            </a:r>
            <a:endParaRPr/>
          </a:p>
        </p:txBody>
      </p:sp>
      <p:sp>
        <p:nvSpPr>
          <p:cNvPr id="11" name="" descr="{&quot;isTemplate&quot;:true,&quot;type&quot;:&quot;text&quot;}"/>
          <p:cNvSpPr txBox="1"/>
          <p:nvPr/>
        </p:nvSpPr>
        <p:spPr>
          <a:xfrm rot="0" flipH="0" flipV="0">
            <a:off x="7734300" y="1543050"/>
            <a:ext cx="3848100" cy="209550"/>
          </a:xfrm>
          <a:prstGeom prst="rect"/>
        </p:spPr>
        <p:txBody>
          <a:bodyPr wrap="none" lIns="0" tIns="0" rIns="0" bIns="0"/>
          <a:p>
            <a:pPr>
              <a:lnSpc>
                <a:spcPct val="100000"/>
              </a:lnSpc>
            </a:pPr>
            <a:r>
              <a:rPr lang="zh-CN" sz="1350" b="1">
                <a:solidFill>
                  <a:srgbClr val="0F1E19"/>
                </a:solidFill>
                <a:latin typeface="Microsoft YaHei"/>
                <a:ea typeface="Microsoft YaHei"/>
              </a:rPr>
              <a:t>candidate routes</a:t>
            </a:r>
            <a:endParaRPr/>
          </a:p>
        </p:txBody>
      </p:sp>
      <p:sp>
        <p:nvSpPr>
          <p:cNvPr id="12" name="" descr="{&quot;isTemplate&quot;:true,&quot;type&quot;:&quot;text&quot;}"/>
          <p:cNvSpPr txBox="1"/>
          <p:nvPr/>
        </p:nvSpPr>
        <p:spPr>
          <a:xfrm rot="0" flipH="0" flipV="0">
            <a:off x="7734300" y="1809750"/>
            <a:ext cx="3848100" cy="257175"/>
          </a:xfrm>
          <a:prstGeom prst="rect"/>
        </p:spPr>
        <p:txBody>
          <a:bodyPr wrap="none" lIns="0" tIns="0" rIns="0" bIns="0"/>
          <a:p>
            <a:pPr>
              <a:lnSpc>
                <a:spcPct val="150000"/>
              </a:lnSpc>
            </a:pPr>
            <a:r>
              <a:rPr lang="zh-CN" sz="1125">
                <a:solidFill>
                  <a:srgbClr val="6B7A72"/>
                </a:solidFill>
                <a:latin typeface="Microsoft YaHei"/>
                <a:ea typeface="Microsoft YaHei"/>
              </a:rPr>
              <a:t>The data boundary decides which one</a:t>
            </a:r>
            <a:endParaRPr/>
          </a:p>
        </p:txBody>
      </p:sp>
      <p:sp>
        <p:nvSpPr>
          <p:cNvPr id="13" name=""/>
          <p:cNvSpPr/>
          <p:nvPr/>
        </p:nvSpPr>
        <p:spPr>
          <a:xfrm rot="0" flipH="0" flipV="0">
            <a:off x="7734300" y="2486025"/>
            <a:ext cx="1143000" cy="9525"/>
          </a:xfrm>
          <a:prstGeom prst="rect">
            <a:avLst/>
          </a:prstGeom>
          <a:solidFill>
            <a:srgbClr val="0F1E19">
              <a:alpha val="12000"/>
            </a:srgbClr>
          </a:solidFill>
          <a:ln/>
        </p:spPr>
        <p:txBody>
          <a:bodyPr/>
          <a:p/>
        </p:txBody>
      </p:sp>
      <p:sp>
        <p:nvSpPr>
          <p:cNvPr id="14" name="" descr="{&quot;isTemplate&quot;:true,&quot;type&quot;:&quot;text&quot;}"/>
          <p:cNvSpPr txBox="1"/>
          <p:nvPr/>
        </p:nvSpPr>
        <p:spPr>
          <a:xfrm rot="0" flipH="0" flipV="0">
            <a:off x="7734300" y="2914650"/>
            <a:ext cx="3848100" cy="457200"/>
          </a:xfrm>
          <a:prstGeom prst="rect"/>
        </p:spPr>
        <p:txBody>
          <a:bodyPr wrap="none" lIns="0" tIns="0" rIns="0" bIns="0"/>
          <a:p>
            <a:pPr>
              <a:lnSpc>
                <a:spcPct val="100000"/>
              </a:lnSpc>
            </a:pPr>
            <a:r>
              <a:rPr lang="en-US" sz="3000" b="1">
                <a:solidFill>
                  <a:srgbClr val="167762"/>
                </a:solidFill>
                <a:latin typeface="Consolas"/>
                <a:ea typeface="Consolas"/>
              </a:rPr>
              <a:t>5</a:t>
            </a:r>
            <a:endParaRPr/>
          </a:p>
        </p:txBody>
      </p:sp>
      <p:sp>
        <p:nvSpPr>
          <p:cNvPr id="15" name="" descr="{&quot;isTemplate&quot;:true,&quot;type&quot;:&quot;text&quot;}"/>
          <p:cNvSpPr txBox="1"/>
          <p:nvPr/>
        </p:nvSpPr>
        <p:spPr>
          <a:xfrm rot="0" flipH="0" flipV="0">
            <a:off x="7734300" y="3429000"/>
            <a:ext cx="3848100" cy="209550"/>
          </a:xfrm>
          <a:prstGeom prst="rect"/>
        </p:spPr>
        <p:txBody>
          <a:bodyPr wrap="none" lIns="0" tIns="0" rIns="0" bIns="0"/>
          <a:p>
            <a:pPr>
              <a:lnSpc>
                <a:spcPct val="100000"/>
              </a:lnSpc>
            </a:pPr>
            <a:r>
              <a:rPr lang="zh-CN" sz="1350" b="1">
                <a:solidFill>
                  <a:srgbClr val="0F1E19"/>
                </a:solidFill>
                <a:latin typeface="Microsoft YaHei"/>
                <a:ea typeface="Microsoft YaHei"/>
              </a:rPr>
              <a:t>security gates</a:t>
            </a:r>
            <a:endParaRPr/>
          </a:p>
        </p:txBody>
      </p:sp>
      <p:sp>
        <p:nvSpPr>
          <p:cNvPr id="16" name="" descr="{&quot;isTemplate&quot;:true,&quot;type&quot;:&quot;text&quot;}"/>
          <p:cNvSpPr txBox="1"/>
          <p:nvPr/>
        </p:nvSpPr>
        <p:spPr>
          <a:xfrm rot="0" flipH="0" flipV="0">
            <a:off x="7734300" y="3695700"/>
            <a:ext cx="3848100" cy="257175"/>
          </a:xfrm>
          <a:prstGeom prst="rect"/>
        </p:spPr>
        <p:txBody>
          <a:bodyPr wrap="none" lIns="0" tIns="0" rIns="0" bIns="0"/>
          <a:p>
            <a:pPr>
              <a:lnSpc>
                <a:spcPct val="150000"/>
              </a:lnSpc>
            </a:pPr>
            <a:r>
              <a:rPr lang="zh-CN" sz="1125">
                <a:solidFill>
                  <a:srgbClr val="6B7A72"/>
                </a:solidFill>
                <a:latin typeface="Microsoft YaHei"/>
                <a:ea typeface="Microsoft YaHei"/>
              </a:rPr>
              <a:t>Placed on every mandatory path</a:t>
            </a:r>
            <a:endParaRPr/>
          </a:p>
        </p:txBody>
      </p:sp>
      <p:sp>
        <p:nvSpPr>
          <p:cNvPr id="17" name=""/>
          <p:cNvSpPr/>
          <p:nvPr/>
        </p:nvSpPr>
        <p:spPr>
          <a:xfrm rot="0" flipH="0" flipV="0">
            <a:off x="7734300" y="4371975"/>
            <a:ext cx="1143000" cy="9525"/>
          </a:xfrm>
          <a:prstGeom prst="rect">
            <a:avLst/>
          </a:prstGeom>
          <a:solidFill>
            <a:srgbClr val="0F1E19">
              <a:alpha val="12000"/>
            </a:srgbClr>
          </a:solidFill>
          <a:ln/>
        </p:spPr>
        <p:txBody>
          <a:bodyPr/>
          <a:p/>
        </p:txBody>
      </p:sp>
      <p:sp>
        <p:nvSpPr>
          <p:cNvPr id="18" name="" descr="{&quot;isTemplate&quot;:true,&quot;type&quot;:&quot;text&quot;}"/>
          <p:cNvSpPr txBox="1"/>
          <p:nvPr/>
        </p:nvSpPr>
        <p:spPr>
          <a:xfrm rot="0" flipH="0" flipV="0">
            <a:off x="7734300" y="4800600"/>
            <a:ext cx="3848100" cy="457200"/>
          </a:xfrm>
          <a:prstGeom prst="rect"/>
        </p:spPr>
        <p:txBody>
          <a:bodyPr wrap="none" lIns="0" tIns="0" rIns="0" bIns="0"/>
          <a:p>
            <a:pPr>
              <a:lnSpc>
                <a:spcPct val="100000"/>
              </a:lnSpc>
            </a:pPr>
            <a:r>
              <a:rPr lang="en-US" sz="3000" b="1">
                <a:solidFill>
                  <a:srgbClr val="167762"/>
                </a:solidFill>
                <a:latin typeface="Consolas"/>
                <a:ea typeface="Consolas"/>
              </a:rPr>
              <a:t>26</a:t>
            </a:r>
            <a:endParaRPr/>
          </a:p>
        </p:txBody>
      </p:sp>
      <p:sp>
        <p:nvSpPr>
          <p:cNvPr id="19" name="" descr="{&quot;isTemplate&quot;:true,&quot;type&quot;:&quot;text&quot;}"/>
          <p:cNvSpPr txBox="1"/>
          <p:nvPr/>
        </p:nvSpPr>
        <p:spPr>
          <a:xfrm rot="0" flipH="0" flipV="0">
            <a:off x="7734300" y="5314950"/>
            <a:ext cx="3848100" cy="209550"/>
          </a:xfrm>
          <a:prstGeom prst="rect"/>
        </p:spPr>
        <p:txBody>
          <a:bodyPr wrap="none" lIns="0" tIns="0" rIns="0" bIns="0"/>
          <a:p>
            <a:pPr>
              <a:lnSpc>
                <a:spcPct val="100000"/>
              </a:lnSpc>
            </a:pPr>
            <a:r>
              <a:rPr lang="zh-CN" sz="1350" b="1">
                <a:solidFill>
                  <a:srgbClr val="0F1E19"/>
                </a:solidFill>
                <a:latin typeface="Microsoft YaHei"/>
                <a:ea typeface="Microsoft YaHei"/>
              </a:rPr>
              <a:t>automated tests</a:t>
            </a:r>
            <a:endParaRPr/>
          </a:p>
        </p:txBody>
      </p:sp>
      <p:sp>
        <p:nvSpPr>
          <p:cNvPr id="20" name="" descr="{&quot;isTemplate&quot;:true,&quot;type&quot;:&quot;text&quot;}"/>
          <p:cNvSpPr txBox="1"/>
          <p:nvPr/>
        </p:nvSpPr>
        <p:spPr>
          <a:xfrm rot="0" flipH="0" flipV="0">
            <a:off x="7734300" y="5581650"/>
            <a:ext cx="3848100" cy="257175"/>
          </a:xfrm>
          <a:prstGeom prst="rect"/>
        </p:spPr>
        <p:txBody>
          <a:bodyPr wrap="none" lIns="0" tIns="0" rIns="0" bIns="0"/>
          <a:p>
            <a:pPr>
              <a:lnSpc>
                <a:spcPct val="150000"/>
              </a:lnSpc>
            </a:pPr>
            <a:r>
              <a:rPr lang="zh-CN" sz="1125">
                <a:solidFill>
                  <a:srgbClr val="6B7A72"/>
                </a:solidFill>
                <a:latin typeface="Microsoft YaHei"/>
                <a:ea typeface="Microsoft YaHei"/>
              </a:rPr>
              <a:t>Passing locally; re-runnable</a:t>
            </a:r>
            <a:endParaRPr/>
          </a:p>
        </p:txBody>
      </p:sp>
    </p:spTree>
  </p:cSld>
</p:sld>
</file>

<file path=ppt/slides/slide2.xml><?xml version="1.0" encoding="utf-8"?>
<p:sld xmlns:p="http://schemas.openxmlformats.org/presentationml/2006/main" xmlns:a="http://schemas.openxmlformats.org/drawingml/2006/main">
  <p:cSld>
    <p:spTree>
      <p:nvGrpSpPr>
        <p:cNvPr id="140" name="" descr="&lt;Slide style={{ width: 1280, height: 720, background: '#FFFFFF', padding: '26px 64px 18px 64px', position: 'relative', fontFamily: 'Microsoft YaHei' }}&gt;&#10;    &lt;Box style={{ flexDirection: 'row', gap: 56, height: 600 }}&gt;&#10;        &lt;Box style={{ width: 292, flexDirection: 'column', justifyContent: 'center', gap: 16 }}&gt;&#10;            &lt;Text style={{ fontSize: 44, fontWeight: 'bold', color: '#0F1E19', lineHeight: 1.2 }}&gt;目录&lt;/Text&gt;&#10;            &lt;Box style={{ width: 56, height: 3, background: '#167762' }} /&gt;&#10;            &lt;Text style={{ fontSize: 17, color: '#6B7A72', lineHeight: 1.6 }}&gt;15 页 · 3 章&lt;/Text&gt;&#10;            &lt;Text style={{ fontSize: 16, color: '#C2410C', lineHeight: 1.6 }}&gt;只有第三章需要你做决定，前面都是把话对齐&lt;/Text&gt;&#10;        &lt;/Box&gt;&#10;        &lt;Box style={{ flex: 1, flexDirection: 'column', justifyContent: 'center', gap: 26 }}&gt;&#10;            &lt;Box style={{ flexDirection: 'row', gap: 24, paddingBottom: 20, borderBottom: '1px solid rgba(15,30,25,0.12)' }}&gt;&#10;                &lt;Text style={{ width: 52, fontSize: 26, fontWeight: 'bold', color: '#167762', fontFamily: 'Consolas' }}&gt;01&lt;/Text&gt;&#10;                &lt;Box style={{ flex: 1, flexDirection: 'column', gap: 6 }}&gt;&#10;                    &lt;Text style={{ fontSize: 24, fontWeight: 'bold', color: '#0F1E19' }}&gt;需求对齐&lt;/Text&gt;&#10;                    &lt;Text style={{ fontSize: 17, color: '#44534C', lineHeight: 1.6 }}&gt;RAG 不是训练；权限不是&quot;略微不同&quot;；环境要分开&lt;/Text&gt;&#10;                &lt;/Box&gt;&#10;                &lt;Text style={{ fontSize: 14, color: '#6B7A72', fontFamily: 'Consolas' }}&gt;P03–P05&lt;/Text&gt;&#10;            &lt;/Box&gt;&#10;            &lt;Box style={{ flexDirection: 'row', gap: 24, paddingBottom: 20, borderBottom: '1px solid rgba(15,30,25,0.12)' }}&gt;&#10;                &lt;Text style={{ width: 52, fontSize: 26, fontWeight: 'bold', color: '#167762', fontFamily: 'Consolas' }}&gt;02&lt;/Text&gt;&#10;                &lt;Box style={{ flex: 1, flexDirection: 'column', gap: 6 }}&gt;&#10;                    &lt;Text style={{ fontSize: 24, fontWeight: 'bold', color: '#0F1E19' }}&gt;方案与安全设计&lt;/Text&gt;&#10;                    &lt;Text style={{ fontSize: 17, color: '#44534C', lineHeight: 1.6 }}&gt;三条路线取舍、离线架构、五道关卡、权限化检索、容灾&lt;/Text&gt;&#10;                &lt;/Box&gt;&#10;                &lt;Text style={{ fontSize: 14, color: '#6B7A72', fontFamily: 'Consolas' }}&gt;P06–P11&lt;/Text&gt;&#10;            &lt;/Box&gt;&#10;            &lt;Box style={{ flexDirection: 'row', gap: 24 }}&gt;&#10;                &lt;Text style={{ width: 52, fontSize: 26, fontWeight: 'bold', color: '#C2410C', fontFamily: 'Consolas' }}&gt;03&lt;/Text&gt;&#10;                &lt;Box style={{ flex: 1, flexDirection: 'column', gap: 6 }}&gt;&#10;                    &lt;Text style={{ fontSize: 24, fontWeight: 'bold', color: '#0F1E19' }}&gt;现状与下一步&lt;/Text&gt;&#10;                    &lt;Text style={{ fontSize: 17, color: '#44534C', lineHeight: 1.6 }}&gt;哪些已经验证、哪些还没有、需要你定哪五件事&lt;/Text&gt;&#10;                &lt;/Box&gt;&#10;                &lt;Text style={{ fontSize: 14, color: '#6B7A72', fontFamily: 'Consolas' }}&gt;P12–P14&lt;/Text&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02 / 15&lt;/Text&gt;&#10;    &lt;/Box&gt;&#10;&lt;/Slide&gt;&#10;"/>
        <p:cNvGrpSpPr/>
        <p:nvPr/>
      </p:nvGrpSpPr>
      <p:grpSpPr>
        <a:xfrm>
          <a:off x="0" y="0"/>
          <a:ext cx="0" cy="0"/>
          <a:chOff x="0" y="0"/>
          <a:chExt cx="0" cy="0"/>
        </a:xfrm>
      </p:grpSpPr>
      <p:sp>
        <p:nvSpPr>
          <p:cNvPr id="141" name=""/>
          <p:cNvSpPr/>
          <p:nvPr/>
        </p:nvSpPr>
        <p:spPr>
          <a:xfrm rot="0" flipH="0" flipV="0">
            <a:off x="0" y="0"/>
            <a:ext cx="12192000" cy="6858000"/>
          </a:xfrm>
          <a:prstGeom prst="rect">
            <a:avLst/>
          </a:prstGeom>
          <a:solidFill>
            <a:srgbClr val="FFFFFF"/>
          </a:solidFill>
          <a:ln/>
        </p:spPr>
        <p:txBody>
          <a:bodyPr/>
          <a:p/>
        </p:txBody>
      </p:sp>
      <p:sp>
        <p:nvSpPr>
          <p:cNvPr id="142" name="" descr="{&quot;isTemplate&quot;:true,&quot;type&quot;:&quot;text&quot;}"/>
          <p:cNvSpPr txBox="1"/>
          <p:nvPr/>
        </p:nvSpPr>
        <p:spPr>
          <a:xfrm rot="0" flipH="0" flipV="0">
            <a:off x="609600" y="2105025"/>
            <a:ext cx="2781300" cy="609600"/>
          </a:xfrm>
          <a:prstGeom prst="rect"/>
        </p:spPr>
        <p:txBody>
          <a:bodyPr wrap="none" lIns="0" tIns="0" rIns="0" bIns="0"/>
          <a:p>
            <a:pPr>
              <a:lnSpc>
                <a:spcPct val="120000"/>
              </a:lnSpc>
            </a:pPr>
            <a:r>
              <a:rPr lang="zh-CN" sz="3300" b="1">
                <a:solidFill>
                  <a:srgbClr val="0F1E19"/>
                </a:solidFill>
                <a:latin typeface="Microsoft YaHei"/>
                <a:ea typeface="Microsoft YaHei"/>
              </a:rPr>
              <a:t>Contents</a:t>
            </a:r>
            <a:endParaRPr/>
          </a:p>
        </p:txBody>
      </p:sp>
      <p:sp>
        <p:nvSpPr>
          <p:cNvPr id="143" name=""/>
          <p:cNvSpPr/>
          <p:nvPr/>
        </p:nvSpPr>
        <p:spPr>
          <a:xfrm rot="0" flipH="0" flipV="0">
            <a:off x="609600" y="2867025"/>
            <a:ext cx="533400" cy="28575"/>
          </a:xfrm>
          <a:prstGeom prst="rect">
            <a:avLst/>
          </a:prstGeom>
          <a:solidFill>
            <a:srgbClr val="167762"/>
          </a:solidFill>
          <a:ln/>
        </p:spPr>
        <p:txBody>
          <a:bodyPr/>
          <a:p/>
        </p:txBody>
      </p:sp>
      <p:sp>
        <p:nvSpPr>
          <p:cNvPr id="144" name="" descr="{&quot;isTemplate&quot;:true,&quot;type&quot;:&quot;text&quot;}"/>
          <p:cNvSpPr txBox="1"/>
          <p:nvPr/>
        </p:nvSpPr>
        <p:spPr>
          <a:xfrm rot="0" flipH="0" flipV="0">
            <a:off x="609600" y="3048000"/>
            <a:ext cx="2781300" cy="314325"/>
          </a:xfrm>
          <a:prstGeom prst="rect"/>
        </p:spPr>
        <p:txBody>
          <a:bodyPr wrap="none" lIns="0" tIns="0" rIns="0" bIns="0"/>
          <a:p>
            <a:pPr>
              <a:lnSpc>
                <a:spcPct val="160000"/>
              </a:lnSpc>
            </a:pPr>
            <a:r>
              <a:rPr lang="en-US" sz="1275">
                <a:solidFill>
                  <a:srgbClr val="6B7A72"/>
                </a:solidFill>
                <a:latin typeface="Microsoft YaHei"/>
                <a:ea typeface="Microsoft YaHei"/>
              </a:rPr>
              <a:t>15 slides · 3 chapters</a:t>
            </a:r>
            <a:endParaRPr/>
          </a:p>
        </p:txBody>
      </p:sp>
      <p:sp>
        <p:nvSpPr>
          <p:cNvPr id="145" name="" descr="{&quot;isTemplate&quot;:true,&quot;type&quot;:&quot;text&quot;}"/>
          <p:cNvSpPr txBox="1"/>
          <p:nvPr/>
        </p:nvSpPr>
        <p:spPr>
          <a:xfrm rot="0" flipH="0" flipV="0">
            <a:off x="609600" y="3514725"/>
            <a:ext cx="2781300" cy="590550"/>
          </a:xfrm>
          <a:prstGeom prst="rect"/>
        </p:spPr>
        <p:txBody>
          <a:bodyPr wrap="square" lIns="0" tIns="0" rIns="0" bIns="0">
            <a:normAutofit/>
          </a:bodyPr>
          <a:p>
            <a:pPr>
              <a:lnSpc>
                <a:spcPct val="160000"/>
              </a:lnSpc>
            </a:pPr>
            <a:r>
              <a:rPr lang="zh-CN" sz="1200">
                <a:solidFill>
                  <a:srgbClr val="C2410C"/>
                </a:solidFill>
                <a:latin typeface="Microsoft YaHei"/>
                <a:ea typeface="Microsoft YaHei"/>
              </a:rPr>
              <a:t>Only chapter 3 needs a decision from you; the first two align the picture</a:t>
            </a:r>
            <a:endParaRPr/>
          </a:p>
        </p:txBody>
      </p:sp>
      <p:sp>
        <p:nvSpPr>
          <p:cNvPr id="146" name=""/>
          <p:cNvSpPr/>
          <p:nvPr/>
        </p:nvSpPr>
        <p:spPr>
          <a:xfrm rot="0" flipH="0" flipV="0">
            <a:off x="3924300" y="1685925"/>
            <a:ext cx="7658100" cy="857250"/>
          </a:xfrm>
          <a:custGeom>
            <a:pathLst>
              <a:path w="804" h="90">
                <a:moveTo>
                  <a:pt x="0" y="89"/>
                </a:moveTo>
                <a:lnTo>
                  <a:pt x="804" y="89"/>
                </a:lnTo>
                <a:lnTo>
                  <a:pt x="804" y="90"/>
                </a:lnTo>
                <a:lnTo>
                  <a:pt x="0" y="90"/>
                </a:lnTo>
                <a:close/>
              </a:path>
            </a:pathLst>
          </a:custGeom>
          <a:solidFill>
            <a:srgbClr val="0F1E19">
              <a:alpha val="12000"/>
            </a:srgbClr>
          </a:solidFill>
          <a:ln/>
        </p:spPr>
        <p:txBody>
          <a:bodyPr/>
          <a:p/>
        </p:txBody>
      </p:sp>
      <p:sp>
        <p:nvSpPr>
          <p:cNvPr id="147" name="" descr="{&quot;isTemplate&quot;:true,&quot;type&quot;:&quot;text&quot;}"/>
          <p:cNvSpPr txBox="1"/>
          <p:nvPr/>
        </p:nvSpPr>
        <p:spPr>
          <a:xfrm rot="0" flipH="0" flipV="0">
            <a:off x="3924300" y="1685925"/>
            <a:ext cx="495300" cy="647700"/>
          </a:xfrm>
          <a:prstGeom prst="rect"/>
        </p:spPr>
        <p:txBody>
          <a:bodyPr wrap="none" lIns="0" tIns="0" rIns="0" bIns="0"/>
          <a:p>
            <a:pPr>
              <a:lnSpc>
                <a:spcPct val="100000"/>
              </a:lnSpc>
            </a:pPr>
            <a:r>
              <a:rPr lang="en-US" sz="1950" b="1">
                <a:solidFill>
                  <a:srgbClr val="167762"/>
                </a:solidFill>
                <a:latin typeface="Consolas"/>
                <a:ea typeface="Consolas"/>
              </a:rPr>
              <a:t>01</a:t>
            </a:r>
            <a:endParaRPr/>
          </a:p>
        </p:txBody>
      </p:sp>
      <p:sp>
        <p:nvSpPr>
          <p:cNvPr id="148" name="" descr="{&quot;isTemplate&quot;:true,&quot;type&quot;:&quot;text&quot;}"/>
          <p:cNvSpPr txBox="1"/>
          <p:nvPr/>
        </p:nvSpPr>
        <p:spPr>
          <a:xfrm rot="0" flipH="0" flipV="0">
            <a:off x="4648200" y="1685925"/>
            <a:ext cx="6191250" cy="276225"/>
          </a:xfrm>
          <a:prstGeom prst="rect"/>
        </p:spPr>
        <p:txBody>
          <a:bodyPr wrap="none" lIns="0" tIns="0" rIns="0" bIns="0"/>
          <a:p>
            <a:pPr>
              <a:lnSpc>
                <a:spcPct val="100000"/>
              </a:lnSpc>
            </a:pPr>
            <a:r>
              <a:rPr lang="zh-CN" sz="1800" b="1">
                <a:solidFill>
                  <a:srgbClr val="0F1E19"/>
                </a:solidFill>
                <a:latin typeface="Microsoft YaHei"/>
                <a:ea typeface="Microsoft YaHei"/>
              </a:rPr>
              <a:t>Requirements Alignment</a:t>
            </a:r>
            <a:endParaRPr/>
          </a:p>
        </p:txBody>
      </p:sp>
      <p:sp>
        <p:nvSpPr>
          <p:cNvPr id="149" name="" descr="{&quot;isTemplate&quot;:true,&quot;type&quot;:&quot;text&quot;}"/>
          <p:cNvSpPr txBox="1"/>
          <p:nvPr/>
        </p:nvSpPr>
        <p:spPr>
          <a:xfrm rot="0" flipH="0" flipV="0">
            <a:off x="4648200" y="2019300"/>
            <a:ext cx="6191250" cy="314325"/>
          </a:xfrm>
          <a:prstGeom prst="rect"/>
        </p:spPr>
        <p:txBody>
          <a:bodyPr wrap="square" lIns="0" tIns="0" rIns="0" bIns="0"/>
          <a:p>
            <a:pPr>
              <a:lnSpc>
                <a:spcPct val="160000"/>
              </a:lnSpc>
            </a:pPr>
            <a:r>
              <a:rPr lang="en-US" sz="1148">
                <a:solidFill>
                  <a:srgbClr val="44534C"/>
                </a:solidFill>
                <a:latin typeface="Microsoft YaHei"/>
                <a:ea typeface="Microsoft YaHei"/>
              </a:rPr>
              <a:t>RAG is not training; permissions are not "slightly different"; environments must be separated</a:t>
            </a:r>
            <a:endParaRPr/>
          </a:p>
        </p:txBody>
      </p:sp>
      <p:sp>
        <p:nvSpPr>
          <p:cNvPr id="150" name="" descr="{&quot;isTemplate&quot;:true,&quot;type&quot;:&quot;text&quot;}"/>
          <p:cNvSpPr txBox="1"/>
          <p:nvPr/>
        </p:nvSpPr>
        <p:spPr>
          <a:xfrm rot="0" flipH="0" flipV="0">
            <a:off x="11068050" y="1685925"/>
            <a:ext cx="600710" cy="647700"/>
          </a:xfrm>
          <a:prstGeom prst="rect"/>
        </p:spPr>
        <p:txBody>
          <a:bodyPr wrap="none" lIns="0" tIns="0" rIns="0" bIns="0"/>
          <a:p>
            <a:pPr>
              <a:lnSpc>
                <a:spcPct val="100000"/>
              </a:lnSpc>
            </a:pPr>
            <a:r>
              <a:rPr lang="en-US" sz="1050">
                <a:solidFill>
                  <a:srgbClr val="6B7A72"/>
                </a:solidFill>
                <a:latin typeface="Consolas"/>
                <a:ea typeface="Consolas"/>
              </a:rPr>
              <a:t>P03–P05</a:t>
            </a:r>
            <a:endParaRPr/>
          </a:p>
        </p:txBody>
      </p:sp>
      <p:sp>
        <p:nvSpPr>
          <p:cNvPr id="151" name=""/>
          <p:cNvSpPr/>
          <p:nvPr/>
        </p:nvSpPr>
        <p:spPr>
          <a:xfrm rot="0" flipH="0" flipV="0">
            <a:off x="3924300" y="2781300"/>
            <a:ext cx="7658100" cy="857250"/>
          </a:xfrm>
          <a:custGeom>
            <a:pathLst>
              <a:path w="804" h="90">
                <a:moveTo>
                  <a:pt x="0" y="89"/>
                </a:moveTo>
                <a:lnTo>
                  <a:pt x="804" y="89"/>
                </a:lnTo>
                <a:lnTo>
                  <a:pt x="804" y="90"/>
                </a:lnTo>
                <a:lnTo>
                  <a:pt x="0" y="90"/>
                </a:lnTo>
                <a:close/>
              </a:path>
            </a:pathLst>
          </a:custGeom>
          <a:solidFill>
            <a:srgbClr val="0F1E19">
              <a:alpha val="12000"/>
            </a:srgbClr>
          </a:solidFill>
          <a:ln/>
        </p:spPr>
        <p:txBody>
          <a:bodyPr/>
          <a:p/>
        </p:txBody>
      </p:sp>
      <p:sp>
        <p:nvSpPr>
          <p:cNvPr id="152" name="" descr="{&quot;isTemplate&quot;:true,&quot;type&quot;:&quot;text&quot;}"/>
          <p:cNvSpPr txBox="1"/>
          <p:nvPr/>
        </p:nvSpPr>
        <p:spPr>
          <a:xfrm rot="0" flipH="0" flipV="0">
            <a:off x="3924300" y="2781300"/>
            <a:ext cx="495300" cy="647700"/>
          </a:xfrm>
          <a:prstGeom prst="rect"/>
        </p:spPr>
        <p:txBody>
          <a:bodyPr wrap="none" lIns="0" tIns="0" rIns="0" bIns="0"/>
          <a:p>
            <a:pPr>
              <a:lnSpc>
                <a:spcPct val="100000"/>
              </a:lnSpc>
            </a:pPr>
            <a:r>
              <a:rPr lang="en-US" sz="1950" b="1">
                <a:solidFill>
                  <a:srgbClr val="167762"/>
                </a:solidFill>
                <a:latin typeface="Consolas"/>
                <a:ea typeface="Consolas"/>
              </a:rPr>
              <a:t>02</a:t>
            </a:r>
            <a:endParaRPr/>
          </a:p>
        </p:txBody>
      </p:sp>
      <p:sp>
        <p:nvSpPr>
          <p:cNvPr id="153" name="" descr="{&quot;isTemplate&quot;:true,&quot;type&quot;:&quot;text&quot;}"/>
          <p:cNvSpPr txBox="1"/>
          <p:nvPr/>
        </p:nvSpPr>
        <p:spPr>
          <a:xfrm rot="0" flipH="0" flipV="0">
            <a:off x="4648200" y="2781300"/>
            <a:ext cx="6191250" cy="276225"/>
          </a:xfrm>
          <a:prstGeom prst="rect"/>
        </p:spPr>
        <p:txBody>
          <a:bodyPr wrap="none" lIns="0" tIns="0" rIns="0" bIns="0"/>
          <a:p>
            <a:pPr>
              <a:lnSpc>
                <a:spcPct val="100000"/>
              </a:lnSpc>
            </a:pPr>
            <a:r>
              <a:rPr lang="zh-CN" sz="1800" b="1">
                <a:solidFill>
                  <a:srgbClr val="0F1E19"/>
                </a:solidFill>
                <a:latin typeface="Microsoft YaHei"/>
                <a:ea typeface="Microsoft YaHei"/>
              </a:rPr>
              <a:t>Solution and Security Design</a:t>
            </a:r>
            <a:endParaRPr/>
          </a:p>
        </p:txBody>
      </p:sp>
      <p:sp>
        <p:nvSpPr>
          <p:cNvPr id="154" name="" descr="{&quot;isTemplate&quot;:true,&quot;type&quot;:&quot;text&quot;}"/>
          <p:cNvSpPr txBox="1"/>
          <p:nvPr/>
        </p:nvSpPr>
        <p:spPr>
          <a:xfrm rot="0" flipH="0" flipV="0">
            <a:off x="4648200" y="3114675"/>
            <a:ext cx="6191250" cy="314325"/>
          </a:xfrm>
          <a:prstGeom prst="rect"/>
        </p:spPr>
        <p:txBody>
          <a:bodyPr wrap="square" lIns="0" tIns="0" rIns="0" bIns="0"/>
          <a:p>
            <a:pPr>
              <a:lnSpc>
                <a:spcPct val="160000"/>
              </a:lnSpc>
            </a:pPr>
            <a:r>
              <a:rPr lang="zh-CN" sz="1148">
                <a:solidFill>
                  <a:srgbClr val="44534C"/>
                </a:solidFill>
                <a:latin typeface="Microsoft YaHei"/>
                <a:ea typeface="Microsoft YaHei"/>
              </a:rPr>
              <a:t>Three routes and their trade-offs, offline architecture, five security gates, permissioned retrieval, disaster recovery</a:t>
            </a:r>
            <a:endParaRPr/>
          </a:p>
        </p:txBody>
      </p:sp>
      <p:sp>
        <p:nvSpPr>
          <p:cNvPr id="155" name="" descr="{&quot;isTemplate&quot;:true,&quot;type&quot;:&quot;text&quot;}"/>
          <p:cNvSpPr txBox="1"/>
          <p:nvPr/>
        </p:nvSpPr>
        <p:spPr>
          <a:xfrm rot="0" flipH="0" flipV="0">
            <a:off x="11068050" y="2781300"/>
            <a:ext cx="600710" cy="647700"/>
          </a:xfrm>
          <a:prstGeom prst="rect"/>
        </p:spPr>
        <p:txBody>
          <a:bodyPr wrap="none" lIns="0" tIns="0" rIns="0" bIns="0"/>
          <a:p>
            <a:pPr>
              <a:lnSpc>
                <a:spcPct val="100000"/>
              </a:lnSpc>
            </a:pPr>
            <a:r>
              <a:rPr lang="en-US" sz="1050">
                <a:solidFill>
                  <a:srgbClr val="6B7A72"/>
                </a:solidFill>
                <a:latin typeface="Consolas"/>
                <a:ea typeface="Consolas"/>
              </a:rPr>
              <a:t>P06–P11</a:t>
            </a:r>
            <a:endParaRPr/>
          </a:p>
        </p:txBody>
      </p:sp>
      <p:sp>
        <p:nvSpPr>
          <p:cNvPr id="156" name="" descr="{&quot;isTemplate&quot;:true,&quot;type&quot;:&quot;text&quot;}"/>
          <p:cNvSpPr txBox="1"/>
          <p:nvPr/>
        </p:nvSpPr>
        <p:spPr>
          <a:xfrm rot="0" flipH="0" flipV="0">
            <a:off x="3924300" y="3876675"/>
            <a:ext cx="495300" cy="647700"/>
          </a:xfrm>
          <a:prstGeom prst="rect"/>
        </p:spPr>
        <p:txBody>
          <a:bodyPr wrap="none" lIns="0" tIns="0" rIns="0" bIns="0"/>
          <a:p>
            <a:pPr>
              <a:lnSpc>
                <a:spcPct val="100000"/>
              </a:lnSpc>
            </a:pPr>
            <a:r>
              <a:rPr lang="en-US" sz="1950" b="1">
                <a:solidFill>
                  <a:srgbClr val="C2410C"/>
                </a:solidFill>
                <a:latin typeface="Consolas"/>
                <a:ea typeface="Consolas"/>
              </a:rPr>
              <a:t>03</a:t>
            </a:r>
            <a:endParaRPr/>
          </a:p>
        </p:txBody>
      </p:sp>
      <p:sp>
        <p:nvSpPr>
          <p:cNvPr id="157" name="" descr="{&quot;isTemplate&quot;:true,&quot;type&quot;:&quot;text&quot;}"/>
          <p:cNvSpPr txBox="1"/>
          <p:nvPr/>
        </p:nvSpPr>
        <p:spPr>
          <a:xfrm rot="0" flipH="0" flipV="0">
            <a:off x="4648200" y="3876675"/>
            <a:ext cx="6191250" cy="276225"/>
          </a:xfrm>
          <a:prstGeom prst="rect"/>
        </p:spPr>
        <p:txBody>
          <a:bodyPr wrap="none" lIns="0" tIns="0" rIns="0" bIns="0"/>
          <a:p>
            <a:pPr>
              <a:lnSpc>
                <a:spcPct val="100000"/>
              </a:lnSpc>
            </a:pPr>
            <a:r>
              <a:rPr lang="zh-CN" sz="1800" b="1">
                <a:solidFill>
                  <a:srgbClr val="0F1E19"/>
                </a:solidFill>
                <a:latin typeface="Microsoft YaHei"/>
                <a:ea typeface="Microsoft YaHei"/>
              </a:rPr>
              <a:t>Current State and Next Steps</a:t>
            </a:r>
            <a:endParaRPr/>
          </a:p>
        </p:txBody>
      </p:sp>
      <p:sp>
        <p:nvSpPr>
          <p:cNvPr id="158" name="" descr="{&quot;isTemplate&quot;:true,&quot;type&quot;:&quot;text&quot;}"/>
          <p:cNvSpPr txBox="1"/>
          <p:nvPr/>
        </p:nvSpPr>
        <p:spPr>
          <a:xfrm rot="0" flipH="0" flipV="0">
            <a:off x="4648200" y="4210050"/>
            <a:ext cx="6191250" cy="314325"/>
          </a:xfrm>
          <a:prstGeom prst="rect"/>
        </p:spPr>
        <p:txBody>
          <a:bodyPr wrap="none" lIns="0" tIns="0" rIns="0" bIns="0"/>
          <a:p>
            <a:pPr>
              <a:lnSpc>
                <a:spcPct val="160000"/>
              </a:lnSpc>
            </a:pPr>
            <a:r>
              <a:rPr lang="zh-CN" sz="1275">
                <a:solidFill>
                  <a:srgbClr val="44534C"/>
                </a:solidFill>
                <a:latin typeface="Microsoft YaHei"/>
                <a:ea typeface="Microsoft YaHei"/>
              </a:rPr>
              <a:t>What is verified, what is not, and the five decisions you need to make</a:t>
            </a:r>
            <a:endParaRPr/>
          </a:p>
        </p:txBody>
      </p:sp>
      <p:sp>
        <p:nvSpPr>
          <p:cNvPr id="159" name="" descr="{&quot;isTemplate&quot;:true,&quot;type&quot;:&quot;text&quot;}"/>
          <p:cNvSpPr txBox="1"/>
          <p:nvPr/>
        </p:nvSpPr>
        <p:spPr>
          <a:xfrm rot="0" flipH="0" flipV="0">
            <a:off x="11068050" y="3876675"/>
            <a:ext cx="600710" cy="647700"/>
          </a:xfrm>
          <a:prstGeom prst="rect"/>
        </p:spPr>
        <p:txBody>
          <a:bodyPr wrap="none" lIns="0" tIns="0" rIns="0" bIns="0"/>
          <a:p>
            <a:pPr>
              <a:lnSpc>
                <a:spcPct val="100000"/>
              </a:lnSpc>
            </a:pPr>
            <a:r>
              <a:rPr lang="en-US" sz="1050">
                <a:solidFill>
                  <a:srgbClr val="6B7A72"/>
                </a:solidFill>
                <a:latin typeface="Consolas"/>
                <a:ea typeface="Consolas"/>
              </a:rPr>
              <a:t>P12–P14</a:t>
            </a:r>
            <a:endParaRPr/>
          </a:p>
        </p:txBody>
      </p:sp>
      <p:sp>
        <p:nvSpPr>
          <p:cNvPr id="160"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161"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02 / 15</a:t>
            </a:r>
            <a:endParaRPr/>
          </a:p>
        </p:txBody>
      </p:sp>
    </p:spTree>
  </p:cSld>
</p:sld>
</file>

<file path=ppt/slides/slide3.xml><?xml version="1.0" encoding="utf-8"?>
<p:sld xmlns:p="http://schemas.openxmlformats.org/presentationml/2006/main" xmlns:a="http://schemas.openxmlformats.org/drawingml/2006/main">
  <p:cSld>
    <p:spTree>
      <p:nvGrpSpPr>
        <p:cNvPr id="162" name="" descr="&lt;Slide style={{ width: 1280, height: 720, background: '#FFFFFF', position: 'relative', padding: 0, fontFamily: 'Microsoft YaHei' }}&gt;&#10;    &lt;Box style={{ position: 'absolute', left: 0, top: 0, width: 480, height: 720, background: '#167762', alignItems: 'center', justifyContent: 'center' }}&gt;&#10;        &lt;Text style={{ fontSize: 220, fontWeight: 'bold', color: 'rgba(255,255,255,0.24)', fontFamily: 'Consolas', lineHeight: 1 }}&gt;01&lt;/Text&gt;&#10;    &lt;/Box&gt;&#10;    &lt;Box style={{ position: 'absolute', left: 480, top: 0, width: 800, height: 720, padding: '0 88px 0 72px', flexDirection: 'column', justifyContent: 'center', gap: 22 }}&gt;&#10;        &lt;Text style={{ fontSize: 15, color: '#167762', letterSpacing: 3 }}&gt;第一章&lt;/Text&gt;&#10;        &lt;Text style={{ fontSize: 64, fontWeight: 'bold', color: '#0F1E19', lineHeight: 1.15 }}&gt;需求对齐&lt;/Text&gt;&#10;        &lt;Box style={{ width: 64, height: 3, background: '#167762' }} /&gt;&#10;        &lt;Text style={{ fontSize: 22, color: '#44534C', lineHeight: 1.65 }}&gt;先把三个词说准：RAG、权限、环境。&lt;/Text&gt;&#10;        &lt;Text style={{ fontSize: 16, color: '#6B7A72', lineHeight: 1.6 }}&gt;这三个词各错一步，后面的架构和预算就全歪了。&lt;/Text&gt;&#10;    &lt;/Box&gt;&#10;&lt;/Slide&gt;&#10;"/>
        <p:cNvGrpSpPr/>
        <p:nvPr/>
      </p:nvGrpSpPr>
      <p:grpSpPr>
        <a:xfrm>
          <a:off x="0" y="0"/>
          <a:ext cx="0" cy="0"/>
          <a:chOff x="0" y="0"/>
          <a:chExt cx="0" cy="0"/>
        </a:xfrm>
      </p:grpSpPr>
      <p:sp>
        <p:nvSpPr>
          <p:cNvPr id="163" name=""/>
          <p:cNvSpPr/>
          <p:nvPr/>
        </p:nvSpPr>
        <p:spPr>
          <a:xfrm rot="0" flipH="0" flipV="0">
            <a:off x="0" y="0"/>
            <a:ext cx="12192000" cy="6858000"/>
          </a:xfrm>
          <a:prstGeom prst="rect">
            <a:avLst/>
          </a:prstGeom>
          <a:solidFill>
            <a:srgbClr val="FFFFFF"/>
          </a:solidFill>
          <a:ln/>
        </p:spPr>
        <p:txBody>
          <a:bodyPr/>
          <a:p/>
        </p:txBody>
      </p:sp>
      <p:sp>
        <p:nvSpPr>
          <p:cNvPr id="164" name=""/>
          <p:cNvSpPr/>
          <p:nvPr/>
        </p:nvSpPr>
        <p:spPr>
          <a:xfrm rot="0" flipH="0" flipV="0">
            <a:off x="0" y="0"/>
            <a:ext cx="4572000" cy="6858000"/>
          </a:xfrm>
          <a:prstGeom prst="rect">
            <a:avLst/>
          </a:prstGeom>
          <a:solidFill>
            <a:srgbClr val="167762"/>
          </a:solidFill>
          <a:ln/>
        </p:spPr>
        <p:txBody>
          <a:bodyPr/>
          <a:p/>
        </p:txBody>
      </p:sp>
      <p:sp>
        <p:nvSpPr>
          <p:cNvPr id="165" name="" descr="{&quot;isTemplate&quot;:true,&quot;type&quot;:&quot;text&quot;}"/>
          <p:cNvSpPr txBox="1"/>
          <p:nvPr/>
        </p:nvSpPr>
        <p:spPr>
          <a:xfrm rot="0" flipH="0" flipV="0">
            <a:off x="1133475" y="2171700"/>
            <a:ext cx="2305050" cy="2514600"/>
          </a:xfrm>
          <a:prstGeom prst="rect"/>
        </p:spPr>
        <p:txBody>
          <a:bodyPr wrap="none" lIns="0" tIns="0" rIns="0" bIns="0"/>
          <a:p>
            <a:pPr>
              <a:lnSpc>
                <a:spcPct val="100000"/>
              </a:lnSpc>
            </a:pPr>
            <a:r>
              <a:rPr lang="en-US" sz="16500" b="1">
                <a:solidFill>
                  <a:srgbClr val="FFFFFF">
                    <a:alpha val="24000"/>
                  </a:srgbClr>
                </a:solidFill>
                <a:latin typeface="Consolas"/>
                <a:ea typeface="Consolas"/>
              </a:rPr>
              <a:t>01</a:t>
            </a:r>
            <a:endParaRPr/>
          </a:p>
        </p:txBody>
      </p:sp>
      <p:sp>
        <p:nvSpPr>
          <p:cNvPr id="166" name="" descr="{&quot;isTemplate&quot;:true,&quot;type&quot;:&quot;text&quot;}"/>
          <p:cNvSpPr txBox="1"/>
          <p:nvPr/>
        </p:nvSpPr>
        <p:spPr>
          <a:xfrm rot="0" flipH="0" flipV="0">
            <a:off x="5257800" y="2133600"/>
            <a:ext cx="6096000" cy="171450"/>
          </a:xfrm>
          <a:prstGeom prst="rect"/>
        </p:spPr>
        <p:txBody>
          <a:bodyPr wrap="none" lIns="0" tIns="0" rIns="0" bIns="0"/>
          <a:p>
            <a:pPr>
              <a:lnSpc>
                <a:spcPct val="100000"/>
              </a:lnSpc>
            </a:pPr>
            <a:r>
              <a:rPr lang="zh-CN" sz="1125" spc="225">
                <a:solidFill>
                  <a:srgbClr val="167762"/>
                </a:solidFill>
                <a:latin typeface="Microsoft YaHei"/>
                <a:ea typeface="Microsoft YaHei"/>
              </a:rPr>
              <a:t>Chapter 1</a:t>
            </a:r>
            <a:endParaRPr/>
          </a:p>
        </p:txBody>
      </p:sp>
      <p:sp>
        <p:nvSpPr>
          <p:cNvPr id="167" name="" descr="{&quot;isTemplate&quot;:true,&quot;type&quot;:&quot;text&quot;}"/>
          <p:cNvSpPr txBox="1"/>
          <p:nvPr/>
        </p:nvSpPr>
        <p:spPr>
          <a:xfrm rot="0" flipH="0" flipV="0">
            <a:off x="5257800" y="2514600"/>
            <a:ext cx="6477000" cy="847725"/>
          </a:xfrm>
          <a:prstGeom prst="rect"/>
        </p:spPr>
        <p:txBody>
          <a:bodyPr wrap="none" lIns="0" tIns="0" rIns="0" bIns="0"/>
          <a:p>
            <a:pPr>
              <a:lnSpc>
                <a:spcPct val="114999"/>
              </a:lnSpc>
            </a:pPr>
            <a:r>
              <a:rPr lang="zh-CN" sz="3450" b="1">
                <a:solidFill>
                  <a:srgbClr val="0F1E19"/>
                </a:solidFill>
                <a:latin typeface="Microsoft YaHei"/>
                <a:ea typeface="Microsoft YaHei"/>
              </a:rPr>
              <a:t>Requirements Alignment</a:t>
            </a:r>
            <a:endParaRPr/>
          </a:p>
        </p:txBody>
      </p:sp>
      <p:sp>
        <p:nvSpPr>
          <p:cNvPr id="168" name=""/>
          <p:cNvSpPr/>
          <p:nvPr/>
        </p:nvSpPr>
        <p:spPr>
          <a:xfrm rot="0" flipH="0" flipV="0">
            <a:off x="5257800" y="3571875"/>
            <a:ext cx="609600" cy="28575"/>
          </a:xfrm>
          <a:prstGeom prst="rect">
            <a:avLst/>
          </a:prstGeom>
          <a:solidFill>
            <a:srgbClr val="167762"/>
          </a:solidFill>
          <a:ln/>
        </p:spPr>
        <p:txBody>
          <a:bodyPr/>
          <a:p/>
        </p:txBody>
      </p:sp>
      <p:sp>
        <p:nvSpPr>
          <p:cNvPr id="169" name="" descr="{&quot;isTemplate&quot;:true,&quot;type&quot;:&quot;text&quot;}"/>
          <p:cNvSpPr txBox="1"/>
          <p:nvPr/>
        </p:nvSpPr>
        <p:spPr>
          <a:xfrm rot="0" flipH="0" flipV="0">
            <a:off x="5257800" y="3810000"/>
            <a:ext cx="6356230" cy="419100"/>
          </a:xfrm>
          <a:prstGeom prst="rect"/>
        </p:spPr>
        <p:txBody>
          <a:bodyPr wrap="none" lIns="0" tIns="0" rIns="0" bIns="0"/>
          <a:p>
            <a:pPr>
              <a:lnSpc>
                <a:spcPct val="165000"/>
              </a:lnSpc>
            </a:pPr>
            <a:r>
              <a:rPr lang="zh-CN" sz="1650">
                <a:solidFill>
                  <a:srgbClr val="44534C"/>
                </a:solidFill>
                <a:latin typeface="Microsoft YaHei"/>
                <a:ea typeface="Microsoft YaHei"/>
              </a:rPr>
              <a:t>Get three terms right first: RAG, permissions, and environment.</a:t>
            </a:r>
            <a:endParaRPr/>
          </a:p>
        </p:txBody>
      </p:sp>
      <p:sp>
        <p:nvSpPr>
          <p:cNvPr id="170" name="" descr="{&quot;isTemplate&quot;:true,&quot;type&quot;:&quot;text&quot;}"/>
          <p:cNvSpPr txBox="1"/>
          <p:nvPr/>
        </p:nvSpPr>
        <p:spPr>
          <a:xfrm rot="0" flipH="0" flipV="0">
            <a:off x="5257800" y="4438650"/>
            <a:ext cx="6096000" cy="295275"/>
          </a:xfrm>
          <a:prstGeom prst="rect"/>
        </p:spPr>
        <p:txBody>
          <a:bodyPr wrap="none" lIns="0" tIns="0" rIns="0" bIns="0"/>
          <a:p>
            <a:pPr>
              <a:lnSpc>
                <a:spcPct val="160000"/>
              </a:lnSpc>
            </a:pPr>
            <a:r>
              <a:rPr lang="zh-CN" sz="1200">
                <a:solidFill>
                  <a:srgbClr val="6B7A72"/>
                </a:solidFill>
                <a:latin typeface="Microsoft YaHei"/>
                <a:ea typeface="Microsoft YaHei"/>
              </a:rPr>
              <a:t>A mistake on any one of these three throws off the architecture and the budget.</a:t>
            </a:r>
            <a:endParaRPr/>
          </a:p>
        </p:txBody>
      </p:sp>
    </p:spTree>
  </p:cSld>
</p:sld>
</file>

<file path=ppt/slides/slide4.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171" name="" descr="&lt;Slide style={{ width: 1280, height: 720, background: '#FFFFFF', padding: '26px 64px 18px 64px', position: 'relative', fontFamily: 'Microsoft YaHei' }}&gt;&#10;    &lt;Box style={{ flexDirection: 'column', gap: 6, height: 108 }}&gt;&#10;        &lt;Text style={{ fontSize: 36, fontWeight: 'bold', color: '#0F1E19', lineHeight: 1.3 }}&gt;RAG 不是训练，是检索&lt;/Text&gt;&#10;        &lt;Text style={{ fontSize: 17, color: '#6B7A72', lineHeight: 1.5 }}&gt;这一个区别，决定了成本、周期，以及能不能按人控权&lt;/Text&gt;&#10;    &lt;/Box&gt;&#10;    &lt;Box style={{ flexDirection: 'row', gap: 40, height: 522 }}&gt;&#10;        &lt;Box style={{ width: 690, flexDirection: 'column', gap: 14 }}&gt;&#10;            &lt;Table&#10;                style={{ width: 690, height: 372 }}&#10;                defaultTextStyle={{ fontSize: 16, textAlign: 'left', color: '#0F1E19' }}&#10;                defaultCellStyle={{&#10;                    border: {&#10;                        left: { width: 0, color: '#FFFFFF' },&#10;                        right: { width: 0, color: '#FFFFFF' },&#10;                        top: { width: 0, color: '#FFFFFF' },&#10;                        bottom: { width: 1, color: 'rgba(15,30,25,0.10)' },&#10;                    },&#10;                }}&#10;                cells={[&#10;                    [&#10;                        { text: '维度', textStyle: { bold: true, color: '#FFFFFF', fontSize: 16 }, cellStyle: { background: { color: '#0F1E19' } } },&#10;                        { text: '训练 / 微调模型', textStyle: { bold: true, color: '#FFFFFF', fontSize: 16 }, cellStyle: { background: { color: '#0F1E19' } } },&#10;                        { text: 'RAG 检索增强', textStyle: { bold: true, color: '#FFFFFF', fontSize: 16 }, cellStyle: { background: { color: '#167762' } } },&#10;                    ],&#10;                    ['改什么', '改模型参数，知识固化进权重', { text: '不改模型，只换文档', textStyle: { bold: true, color: '#167762' } }],&#10;                    ['知识放在哪', '训练数据里，事后说不清来源', { text: '你自己的文档里，可随时改', textStyle: { bold: true, color: '#167762' } }],&#10;                    ['多久能上线', '数周至数月，还要算力', { text: '数天，先跑通再扩', textStyle: { bold: true, color: '#167762' } }],&#10;                    ['能否按人控权', { text: '做不到：参数里没有权限', textStyle: { color: '#C2410C', bold: true } }, { text: '可以：检索前按人过滤', textStyle: { bold: true, color: '#167762' } }],&#10;                ]}&#10;            /&gt;&#10;            &lt;Text style={{ fontSize: 15, color: '#6B7A72', lineHeight: 1.5 }}&gt;我们做的是右列。左列是客户原话里&quot;train&quot;容易引发的误解，也是预算被高估的来源。&lt;/Text&gt;&#10;        &lt;/Box&gt;&#10;        &lt;Box style={{ flex: 1, flexDirection: 'column', gap: 18 }}&gt;&#10;            &lt;Text style={{ fontSize: 14, color: '#167762', letterSpacing: 2 }}&gt;客户原话 → 我们的理解&lt;/Text&gt;&#10;            &lt;Box style={{ flexDirection: 'column', gap: 8, paddingLeft: 16, borderLeft: '3px solid #167762' }}&gt;&#10;                &lt;Text style={{ fontSize: 17, color: '#0F1E19', lineHeight: 1.5 }}&gt;&quot;不是真的 train，应该是 RAG&quot;&lt;/Text&gt;&#10;                &lt;Text style={{ fontSize: 16, color: '#44534C', lineHeight: 1.6 }}&gt;对。我们不训练、不微调基础模型，只做检索 + 生成。知识更新是换文档，不是重训。&lt;/Text&gt;&#10;            &lt;/Box&gt;&#10;            &lt;Box style={{ flexDirection: 'column', gap: 8, paddingLeft: 16, borderLeft: '3px solid #C2410C' }}&gt;&#10;                &lt;Text style={{ fontSize: 17, color: '#0F1E19', lineHeight: 1.5 }}&gt;&quot;每人只能看有权限的内容&quot;&lt;/Text&gt;&#10;                &lt;Text style={{ fontSize: 16, color: '#44534C', lineHeight: 1.6 }}&gt;这件事必须在检索之前生效。检索完再删结果是假安全——答案和引用都已经泄露了。&lt;/Text&gt;&#10;            &lt;/Box&gt;&#10;            &lt;Box style={{ flexDirection: 'column', gap: 6, marginTop: 'auto', padding: 14, background: 'rgba(22,119,98,0.07)', borderRadius: 6 }}&gt;&#10;                &lt;Text style={{ fontSize: 15, color: '#0F1E19', lineHeight: 1.6 }}&gt;一句话：不是买算力训模型，是把文档和人管好。&lt;/Text&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04 / 15&lt;/Text&gt;&#10;    &lt;/Box&gt;&#10;&lt;/Slide&gt;&#10;"/>
        <p:cNvGrpSpPr/>
        <p:nvPr/>
      </p:nvGrpSpPr>
      <p:grpSpPr>
        <a:xfrm>
          <a:off x="0" y="0"/>
          <a:ext cx="0" cy="0"/>
          <a:chOff x="0" y="0"/>
          <a:chExt cx="0" cy="0"/>
        </a:xfrm>
      </p:grpSpPr>
      <p:sp>
        <p:nvSpPr>
          <p:cNvPr id="172" name=""/>
          <p:cNvSpPr/>
          <p:nvPr/>
        </p:nvSpPr>
        <p:spPr>
          <a:xfrm rot="0" flipH="0" flipV="0">
            <a:off x="0" y="0"/>
            <a:ext cx="12192000" cy="6858000"/>
          </a:xfrm>
          <a:prstGeom prst="rect">
            <a:avLst/>
          </a:prstGeom>
          <a:solidFill>
            <a:srgbClr val="FFFFFF"/>
          </a:solidFill>
          <a:ln/>
        </p:spPr>
        <p:txBody>
          <a:bodyPr/>
          <a:p/>
        </p:txBody>
      </p:sp>
      <p:sp>
        <p:nvSpPr>
          <p:cNvPr id="173"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en-US" sz="2700" b="1">
                <a:solidFill>
                  <a:srgbClr val="0F1E19"/>
                </a:solidFill>
                <a:latin typeface="Microsoft YaHei"/>
                <a:ea typeface="Microsoft YaHei"/>
              </a:rPr>
              <a:t>RAG Is Retrieval, Not Training</a:t>
            </a:r>
            <a:endParaRPr/>
          </a:p>
        </p:txBody>
      </p:sp>
      <p:sp>
        <p:nvSpPr>
          <p:cNvPr id="174"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This one difference determines cost, timeline, and whether access can be controlled per person</a:t>
            </a:r>
            <a:endParaRPr/>
          </a:p>
        </p:txBody>
      </p:sp>
      <p:graphicFrame>
        <p:nvGraphicFramePr>
          <p:cNvPr id="175" name=""/>
          <p:cNvGraphicFramePr/>
          <p:nvPr/>
        </p:nvGraphicFramePr>
        <p:xfrm rot="0" flipH="0" flipV="0">
          <a:off x="609600" y="1276350"/>
          <a:ext cx="6572250" cy="3543300"/>
        </p:xfrm>
        <a:graphic>
          <a:graphicData uri="http://schemas.openxmlformats.org/drawingml/2006/table">
            <a:tbl>
              <a:tblGrid>
                <a:gridCol w="1322465">
                  <a:extLst>
                    <a:ext uri="{9D8B030D-6E8A-4147-A177-3AD203B41FA5}">
                      <a16:colId val="1"/>
                    </a:ext>
                  </a:extLst>
                </a:gridCol>
                <a:gridCol w="2725079">
                  <a:extLst>
                    <a:ext uri="{9D8B030D-6E8A-4147-A177-3AD203B41FA5}">
                      <a16:colId val="2"/>
                    </a:ext>
                  </a:extLst>
                </a:gridCol>
                <a:gridCol w="2524706">
                  <a:extLst>
                    <a:ext uri="{9D8B030D-6E8A-4147-A177-3AD203B41FA5}">
                      <a16:colId val="3"/>
                    </a:ext>
                  </a:extLst>
                </a:gridCol>
              </a:tblGrid>
              <a:tr h="70866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Dimension</a:t>
                      </a:r>
                      <a:endParaRPr/>
                    </a:p>
                  </a:txBody>
                  <a:tcPr marL="45720" marR="45720" marT="45720" marB="45720" anchor="ctr">
                    <a:lnL>
                      <a:noFill/>
                    </a:lnL>
                    <a:lnR>
                      <a:noFill/>
                    </a:lnR>
                    <a:lnT>
                      <a:noFill/>
                    </a:lnT>
                    <a:lnB>
                      <a:noFill/>
                    </a:lnB>
                    <a:solidFill>
                      <a:srgbClr val="0F1E19"/>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Train / fine-tune a model</a:t>
                      </a:r>
                      <a:endParaRPr/>
                    </a:p>
                  </a:txBody>
                  <a:tcPr marL="45720" marR="45720" marT="45720" marB="45720" anchor="ctr">
                    <a:lnL>
                      <a:noFill/>
                    </a:lnL>
                    <a:lnR>
                      <a:noFill/>
                    </a:lnR>
                    <a:lnT>
                      <a:noFill/>
                    </a:lnT>
                    <a:lnB>
                      <a:noFill/>
                    </a:lnB>
                    <a:solidFill>
                      <a:srgbClr val="0F1E19"/>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RAG retrieval</a:t>
                      </a:r>
                      <a:endParaRPr/>
                    </a:p>
                  </a:txBody>
                  <a:tcPr marL="45720" marR="45720" marT="45720" marB="45720" anchor="ctr">
                    <a:lnL>
                      <a:noFill/>
                    </a:lnL>
                    <a:lnR>
                      <a:noFill/>
                    </a:lnR>
                    <a:lnT>
                      <a:noFill/>
                    </a:lnT>
                    <a:lnB>
                      <a:noFill/>
                    </a:lnB>
                    <a:solidFill>
                      <a:srgbClr val="167762"/>
                    </a:solidFill>
                  </a:tcPr>
                </a:tc>
                <a:extLst>
                  <a:ext uri="{0D108BD9-81ED-4DB2-BD59-A6C34878D82A}">
                    <a16:rowId val="1"/>
                  </a:ext>
                </a:extLst>
              </a:tr>
              <a:tr h="708660">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What changes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Model weights change; knowledge baked in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b="1">
                          <a:solidFill>
                            <a:srgbClr val="167762"/>
                          </a:solidFill>
                          <a:latin typeface="Microsoft YaHei"/>
                          <a:ea typeface="Microsoft YaHei"/>
                        </a:rPr>
                        <a:t>Model unchanged; only documents change</a:t>
                      </a:r>
                      <a:endParaRPr/>
                    </a:p>
                  </a:txBody>
                  <a:tcPr marL="45720" marR="45720" marT="45720" marB="45720" anchor="ctr">
                    <a:lnL>
                      <a:noFill/>
                    </a:lnL>
                    <a:lnR>
                      <a:noFill/>
                    </a:lnR>
                    <a:lnT>
                      <a:noFill/>
                    </a:lnT>
                    <a:lnB>
                      <a:noFill/>
                    </a:lnB>
                  </a:tcPr>
                </a:tc>
                <a:extLst>
                  <a:ext uri="{0D108BD9-81ED-4DB2-BD59-A6C34878D82A}">
                    <a16:rowId val="2"/>
                  </a:ext>
                </a:extLst>
              </a:tr>
              <a:tr h="708660">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Where knowledge lives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Inside training data; source unclear later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b="1">
                          <a:solidFill>
                            <a:srgbClr val="167762"/>
                          </a:solidFill>
                          <a:latin typeface="Microsoft YaHei"/>
                          <a:ea typeface="Microsoft YaHei"/>
                        </a:rPr>
                        <a:t>In your own documents; editable anytime</a:t>
                      </a:r>
                      <a:endParaRPr/>
                    </a:p>
                  </a:txBody>
                  <a:tcPr marL="45720" marR="45720" marT="45720" marB="45720" anchor="ctr">
                    <a:lnL>
                      <a:noFill/>
                    </a:lnL>
                    <a:lnR>
                      <a:noFill/>
                    </a:lnR>
                    <a:lnT>
                      <a:noFill/>
                    </a:lnT>
                    <a:lnB>
                      <a:noFill/>
                    </a:lnB>
                  </a:tcPr>
                </a:tc>
                <a:extLst>
                  <a:ext uri="{0D108BD9-81ED-4DB2-BD59-A6C34878D82A}">
                    <a16:rowId val="3"/>
                  </a:ext>
                </a:extLst>
              </a:tr>
              <a:tr h="708660">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Time to go live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Weeks to months, plus compute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b="1">
                          <a:solidFill>
                            <a:srgbClr val="167762"/>
                          </a:solidFill>
                          <a:latin typeface="Microsoft YaHei"/>
                          <a:ea typeface="Microsoft YaHei"/>
                        </a:rPr>
                        <a:t>Days; prove it works, then scale</a:t>
                      </a:r>
                      <a:endParaRPr/>
                    </a:p>
                  </a:txBody>
                  <a:tcPr marL="45720" marR="45720" marT="45720" marB="45720" anchor="ctr">
                    <a:lnL>
                      <a:noFill/>
                    </a:lnL>
                    <a:lnR>
                      <a:noFill/>
                    </a:lnR>
                    <a:lnT>
                      <a:noFill/>
                    </a:lnT>
                    <a:lnB>
                      <a:noFill/>
                    </a:lnB>
                  </a:tcPr>
                </a:tc>
                <a:extLst>
                  <a:ext uri="{0D108BD9-81ED-4DB2-BD59-A6C34878D82A}">
                    <a16:rowId val="4"/>
                  </a:ext>
                </a:extLst>
              </a:tr>
              <a:tr h="708660">
                <a:tc>
                  <a:txBody>
                    <a:bodyPr wrap="square" lIns="0" tIns="0" rIns="0" bIns="0" anchor="ctr">
                      <a:normAutofit/>
                    </a:bodyPr>
                    <a:p>
                      <a:pPr marL="114300" marR="114300" algn="l">
                        <a:lnSpc>
                          <a:spcPct val="120000"/>
                        </a:lnSpc>
                      </a:pPr>
                      <a:r>
                        <a:rPr sz="1200">
                          <a:solidFill>
                            <a:srgbClr val="0F1E19"/>
                          </a:solidFill>
                          <a:latin typeface="Microsoft YaHei"/>
                          <a:ea typeface="Microsoft YaHei"/>
                        </a:rPr>
                        <a:t>Per-person access control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b="1">
                          <a:solidFill>
                            <a:srgbClr val="C2410C"/>
                          </a:solidFill>
                          <a:latin typeface="Microsoft YaHei"/>
                          <a:ea typeface="Microsoft YaHei"/>
                        </a:rPr>
                        <a:t>Not possible: no permissions in the weights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200" b="1">
                          <a:solidFill>
                            <a:srgbClr val="167762"/>
                          </a:solidFill>
                          <a:latin typeface="Microsoft YaHei"/>
                          <a:ea typeface="Microsoft YaHei"/>
                        </a:rPr>
                        <a:t>Yes: filter by person before retrieval</a:t>
                      </a:r>
                      <a:endParaRPr/>
                    </a:p>
                  </a:txBody>
                  <a:tcPr marL="45720" marR="45720" marT="45720" marB="45720" anchor="ctr">
                    <a:lnL>
                      <a:noFill/>
                    </a:lnL>
                    <a:lnR>
                      <a:noFill/>
                    </a:lnR>
                    <a:lnT>
                      <a:noFill/>
                    </a:lnT>
                    <a:lnB>
                      <a:noFill/>
                    </a:lnB>
                  </a:tcPr>
                </a:tc>
                <a:extLst>
                  <a:ext uri="{0D108BD9-81ED-4DB2-BD59-A6C34878D82A}">
                    <a16:rowId val="5"/>
                  </a:ext>
                </a:extLst>
              </a:tr>
            </a:tbl>
          </a:graphicData>
        </a:graphic>
      </p:graphicFrame>
      <p:sp>
        <p:nvSpPr>
          <p:cNvPr id="176" name="" descr="{&quot;isTemplate&quot;:true,&quot;type&quot;:&quot;text&quot;}"/>
          <p:cNvSpPr txBox="1"/>
          <p:nvPr/>
        </p:nvSpPr>
        <p:spPr>
          <a:xfrm rot="0" flipH="0" flipV="0">
            <a:off x="609600" y="4953000"/>
            <a:ext cx="6572250" cy="257175"/>
          </a:xfrm>
          <a:prstGeom prst="rect"/>
        </p:spPr>
        <p:txBody>
          <a:bodyPr wrap="square" lIns="0" tIns="0" rIns="0" bIns="0"/>
          <a:p>
            <a:pPr>
              <a:lnSpc>
                <a:spcPct val="150000"/>
              </a:lnSpc>
            </a:pPr>
            <a:r>
              <a:rPr lang="zh-CN" sz="956">
                <a:solidFill>
                  <a:srgbClr val="6B7A72"/>
                </a:solidFill>
                <a:latin typeface="Microsoft YaHei"/>
                <a:ea typeface="Microsoft YaHei"/>
              </a:rPr>
              <a:t>We do the right-hand column. The left column is the misunderstanding that the word "train" in the client's own words tends to cause, and the source of overestimated budgets.</a:t>
            </a:r>
            <a:endParaRPr/>
          </a:p>
        </p:txBody>
      </p:sp>
      <p:sp>
        <p:nvSpPr>
          <p:cNvPr id="177" name="" descr="{&quot;isTemplate&quot;:true,&quot;type&quot;:&quot;text&quot;}"/>
          <p:cNvSpPr txBox="1"/>
          <p:nvPr/>
        </p:nvSpPr>
        <p:spPr>
          <a:xfrm rot="0" flipH="0" flipV="0">
            <a:off x="7562850" y="1276350"/>
            <a:ext cx="4019550" cy="161925"/>
          </a:xfrm>
          <a:prstGeom prst="rect"/>
        </p:spPr>
        <p:txBody>
          <a:bodyPr wrap="none" lIns="0" tIns="0" rIns="0" bIns="0"/>
          <a:p>
            <a:pPr>
              <a:lnSpc>
                <a:spcPct val="100000"/>
              </a:lnSpc>
            </a:pPr>
            <a:r>
              <a:rPr lang="zh-CN" sz="1050" spc="150">
                <a:solidFill>
                  <a:srgbClr val="167762"/>
                </a:solidFill>
                <a:latin typeface="Microsoft YaHei"/>
                <a:ea typeface="Microsoft YaHei"/>
              </a:rPr>
              <a:t>What the client said → what we understand</a:t>
            </a:r>
            <a:endParaRPr/>
          </a:p>
        </p:txBody>
      </p:sp>
      <p:sp>
        <p:nvSpPr>
          <p:cNvPr id="178" name=""/>
          <p:cNvSpPr/>
          <p:nvPr/>
        </p:nvSpPr>
        <p:spPr>
          <a:xfrm rot="0" flipH="0" flipV="0">
            <a:off x="7562850" y="1609725"/>
            <a:ext cx="4048125" cy="962025"/>
          </a:xfrm>
          <a:custGeom>
            <a:pathLst>
              <a:path w="425" h="101">
                <a:moveTo>
                  <a:pt x="0" y="0"/>
                </a:moveTo>
                <a:lnTo>
                  <a:pt x="3" y="0"/>
                </a:lnTo>
                <a:lnTo>
                  <a:pt x="3" y="101"/>
                </a:lnTo>
                <a:lnTo>
                  <a:pt x="0" y="101"/>
                </a:lnTo>
                <a:close/>
              </a:path>
            </a:pathLst>
          </a:custGeom>
          <a:solidFill>
            <a:srgbClr val="167762"/>
          </a:solidFill>
          <a:ln/>
        </p:spPr>
        <p:txBody>
          <a:bodyPr/>
          <a:p/>
        </p:txBody>
      </p:sp>
      <p:sp>
        <p:nvSpPr>
          <p:cNvPr id="179" name="" descr="{&quot;isTemplate&quot;:true,&quot;type&quot;:&quot;text&quot;}"/>
          <p:cNvSpPr txBox="1"/>
          <p:nvPr/>
        </p:nvSpPr>
        <p:spPr>
          <a:xfrm rot="0" flipH="0" flipV="0">
            <a:off x="7743825" y="1609725"/>
            <a:ext cx="3838575" cy="295275"/>
          </a:xfrm>
          <a:prstGeom prst="rect"/>
        </p:spPr>
        <p:txBody>
          <a:bodyPr wrap="none" lIns="0" tIns="0" rIns="0" bIns="0"/>
          <a:p>
            <a:pPr>
              <a:lnSpc>
                <a:spcPct val="150000"/>
              </a:lnSpc>
            </a:pPr>
            <a:r>
              <a:rPr lang="en-US" sz="1275">
                <a:solidFill>
                  <a:srgbClr val="0F1E19"/>
                </a:solidFill>
                <a:latin typeface="Microsoft YaHei"/>
                <a:ea typeface="Microsoft YaHei"/>
              </a:rPr>
              <a:t>"Not really training; it should be RAG"</a:t>
            </a:r>
            <a:endParaRPr/>
          </a:p>
        </p:txBody>
      </p:sp>
      <p:sp>
        <p:nvSpPr>
          <p:cNvPr id="180" name="" descr="{&quot;isTemplate&quot;:true,&quot;type&quot;:&quot;text&quot;}"/>
          <p:cNvSpPr txBox="1"/>
          <p:nvPr/>
        </p:nvSpPr>
        <p:spPr>
          <a:xfrm rot="0" flipH="0" flipV="0">
            <a:off x="7743825" y="1981200"/>
            <a:ext cx="3838575" cy="590550"/>
          </a:xfrm>
          <a:prstGeom prst="rect"/>
        </p:spPr>
        <p:txBody>
          <a:bodyPr wrap="square" lIns="0" tIns="0" rIns="0" bIns="0">
            <a:normAutofit/>
          </a:bodyPr>
          <a:p>
            <a:pPr>
              <a:lnSpc>
                <a:spcPct val="160000"/>
              </a:lnSpc>
            </a:pPr>
            <a:r>
              <a:rPr lang="zh-CN" sz="1200">
                <a:solidFill>
                  <a:srgbClr val="44534C"/>
                </a:solidFill>
                <a:latin typeface="Microsoft YaHei"/>
                <a:ea typeface="Microsoft YaHei"/>
              </a:rPr>
              <a:t>Right. We do not train or fine-tune the base model; we only do retrieval plus generation. Knowledge is updated by swapping documents, not by retraining.</a:t>
            </a:r>
            <a:endParaRPr/>
          </a:p>
        </p:txBody>
      </p:sp>
      <p:sp>
        <p:nvSpPr>
          <p:cNvPr id="181" name=""/>
          <p:cNvSpPr/>
          <p:nvPr/>
        </p:nvSpPr>
        <p:spPr>
          <a:xfrm rot="0" flipH="0" flipV="0">
            <a:off x="7562850" y="2743200"/>
            <a:ext cx="4048125" cy="962025"/>
          </a:xfrm>
          <a:custGeom>
            <a:pathLst>
              <a:path w="425" h="101">
                <a:moveTo>
                  <a:pt x="0" y="0"/>
                </a:moveTo>
                <a:lnTo>
                  <a:pt x="3" y="0"/>
                </a:lnTo>
                <a:lnTo>
                  <a:pt x="3" y="101"/>
                </a:lnTo>
                <a:lnTo>
                  <a:pt x="0" y="101"/>
                </a:lnTo>
                <a:close/>
              </a:path>
            </a:pathLst>
          </a:custGeom>
          <a:solidFill>
            <a:srgbClr val="C2410C"/>
          </a:solidFill>
          <a:ln/>
        </p:spPr>
        <p:txBody>
          <a:bodyPr/>
          <a:p/>
        </p:txBody>
      </p:sp>
      <p:sp>
        <p:nvSpPr>
          <p:cNvPr id="182" name="" descr="{&quot;isTemplate&quot;:true,&quot;type&quot;:&quot;text&quot;}"/>
          <p:cNvSpPr txBox="1"/>
          <p:nvPr/>
        </p:nvSpPr>
        <p:spPr>
          <a:xfrm rot="0" flipH="0" flipV="0">
            <a:off x="7743825" y="2743200"/>
            <a:ext cx="3838575" cy="295275"/>
          </a:xfrm>
          <a:prstGeom prst="rect"/>
        </p:spPr>
        <p:txBody>
          <a:bodyPr wrap="square" lIns="0" tIns="0" rIns="0" bIns="0"/>
          <a:p>
            <a:pPr>
              <a:lnSpc>
                <a:spcPct val="150000"/>
              </a:lnSpc>
            </a:pPr>
            <a:r>
              <a:rPr lang="en-US" sz="1084">
                <a:solidFill>
                  <a:srgbClr val="0F1E19"/>
                </a:solidFill>
                <a:latin typeface="Microsoft YaHei"/>
                <a:ea typeface="Microsoft YaHei"/>
              </a:rPr>
              <a:t>"Each person can only see content they are allowed to see"</a:t>
            </a:r>
            <a:endParaRPr/>
          </a:p>
        </p:txBody>
      </p:sp>
      <p:sp>
        <p:nvSpPr>
          <p:cNvPr id="183" name="" descr="{&quot;isTemplate&quot;:true,&quot;type&quot;:&quot;text&quot;}"/>
          <p:cNvSpPr txBox="1"/>
          <p:nvPr/>
        </p:nvSpPr>
        <p:spPr>
          <a:xfrm rot="0" flipH="0" flipV="0">
            <a:off x="7743825" y="3114675"/>
            <a:ext cx="3838575" cy="590550"/>
          </a:xfrm>
          <a:prstGeom prst="rect"/>
        </p:spPr>
        <p:txBody>
          <a:bodyPr wrap="square" lIns="0" tIns="0" rIns="0" bIns="0">
            <a:normAutofit/>
          </a:bodyPr>
          <a:p>
            <a:pPr>
              <a:lnSpc>
                <a:spcPct val="160000"/>
              </a:lnSpc>
            </a:pPr>
            <a:r>
              <a:rPr lang="zh-CN" sz="1200">
                <a:solidFill>
                  <a:srgbClr val="44534C"/>
                </a:solidFill>
                <a:latin typeface="Microsoft YaHei"/>
                <a:ea typeface="Microsoft YaHei"/>
              </a:rPr>
              <a:t>This has to take effect before retrieval. Removing results after retrieval is false security: the answer and the citations have already leaked.</a:t>
            </a:r>
            <a:endParaRPr/>
          </a:p>
        </p:txBody>
      </p:sp>
      <p:sp>
        <p:nvSpPr>
          <p:cNvPr id="184" name=""/>
          <p:cNvSpPr/>
          <p:nvPr/>
        </p:nvSpPr>
        <p:spPr>
          <a:xfrm rot="0" flipH="0" flipV="0">
            <a:off x="7562850" y="5705475"/>
            <a:ext cx="4019550" cy="542925"/>
          </a:xfrm>
          <a:prstGeom prst="roundRect">
            <a:avLst>
              <a:gd name="adj" fmla="val 10526"/>
            </a:avLst>
          </a:prstGeom>
          <a:solidFill>
            <a:srgbClr val="167762">
              <a:alpha val="7000"/>
            </a:srgbClr>
          </a:solidFill>
          <a:ln/>
        </p:spPr>
        <p:txBody>
          <a:bodyPr/>
          <a:p/>
        </p:txBody>
      </p:sp>
      <p:sp>
        <p:nvSpPr>
          <p:cNvPr id="185" name="" descr="{&quot;isTemplate&quot;:true,&quot;type&quot;:&quot;text&quot;}"/>
          <p:cNvSpPr txBox="1"/>
          <p:nvPr/>
        </p:nvSpPr>
        <p:spPr>
          <a:xfrm rot="0" flipH="0" flipV="0">
            <a:off x="7696200" y="5838825"/>
            <a:ext cx="3752850" cy="276225"/>
          </a:xfrm>
          <a:prstGeom prst="rect"/>
        </p:spPr>
        <p:txBody>
          <a:bodyPr wrap="square" lIns="0" tIns="0" rIns="0" bIns="0"/>
          <a:p>
            <a:pPr>
              <a:lnSpc>
                <a:spcPct val="160000"/>
              </a:lnSpc>
            </a:pPr>
            <a:r>
              <a:rPr lang="zh-CN" sz="1012">
                <a:solidFill>
                  <a:srgbClr val="0F1E19"/>
                </a:solidFill>
                <a:latin typeface="Microsoft YaHei"/>
                <a:ea typeface="Microsoft YaHei"/>
              </a:rPr>
              <a:t>In one line: this is not about buying compute to train a model; it is about managing documents and people well.</a:t>
            </a:r>
            <a:endParaRPr/>
          </a:p>
        </p:txBody>
      </p:sp>
      <p:sp>
        <p:nvSpPr>
          <p:cNvPr id="186"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187"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04 / 15</a:t>
            </a:r>
            <a:endParaRPr/>
          </a:p>
        </p:txBody>
      </p:sp>
    </p:spTree>
  </p:cSld>
</p:sld>
</file>

<file path=ppt/slides/slide5.xml><?xml version="1.0" encoding="utf-8"?>
<p:sld xmlns:p="http://schemas.openxmlformats.org/presentationml/2006/main" xmlns:a="http://schemas.openxmlformats.org/drawingml/2006/main">
  <p:cSld>
    <p:spTree>
      <p:nvGrpSpPr>
        <p:cNvPr id="188" name="" descr="&lt;Slide style={{ width: 1280, height: 720, background: '#FFFFFF', padding: '26px 64px 18px 64px', position: 'relative', fontFamily: 'Microsoft YaHei' }}&gt;&#10;    &lt;Box style={{ flexDirection: 'column', gap: 6, height: 108 }}&gt;&#10;        &lt;Text style={{ fontSize: 36, fontWeight: 'bold', color: '#0F1E19', lineHeight: 1.3 }}&gt;别把权限做成&quot;略微不同&quot;&lt;/Text&gt;&#10;        &lt;Text style={{ fontSize: 17, color: '#6B7A72', lineHeight: 1.5 }}&gt;按角色的最小权限 + 变更留痕，才是能过审计的做法&lt;/Text&gt;&#10;    &lt;/Box&gt;&#10;    &lt;Box style={{ flexDirection: 'row', gap: 44, height: 522 }}&gt;&#10;        &lt;Box style={{ width: 300, height: 480, background: '#0F1E19', borderRadius: 10, padding: '36px 28px', flexDirection: 'column', justifyContent: 'space-between' }}&gt;&#10;            &lt;Box style={{ flexDirection: 'column', gap: 4 }}&gt;&#10;                &lt;Text style={{ fontSize: 14, color: 'rgba(255,255,255,0.55)', letterSpacing: 3 }}&gt;两条线&lt;/Text&gt;&#10;                &lt;Text style={{ fontSize: 40, fontWeight: 'bold', color: '#FFFFFF', lineHeight: 1.3 }}&gt;权限&lt;/Text&gt;&#10;                &lt;Text style={{ fontSize: 40, fontWeight: 'bold', color: '#FFFFFF', lineHeight: 1.3 }}&gt;环境&lt;/Text&gt;&#10;            &lt;/Box&gt;&#10;            &lt;Box style={{ flexDirection: 'column', gap: 10 }}&gt;&#10;                &lt;Box style={{ width: 40, height: 2, background: '#167762' }} /&gt;&#10;                &lt;Text style={{ fontSize: 16, color: 'rgba(255,255,255,0.72)', lineHeight: 1.65 }}&gt;这两件事必须在写第一行代码之前定下来，事后补的代价是重做数据分层。&lt;/Text&gt;&#10;            &lt;/Box&gt;&#10;        &lt;/Box&gt;&#10;        &lt;Box style={{ flex: 1, flexDirection: 'column', justifyContent: 'space-between' }}&gt;&#10;            &lt;Box style={{ flexDirection: 'row', gap: 16, paddingBottom: 18, borderBottom: '1px solid rgba(15,30,25,0.10)' }}&gt;&#10;                &lt;Text style={{ width: 28, fontSize: 17, fontWeight: 'bold', color: '#167762', fontFamily: 'Consolas', lineHeight: 1.6 }}&gt;01&lt;/Text&gt;&#10;                &lt;Box style={{ flex: 1, flexDirection: 'column', gap: 4 }}&gt;&#10;                    &lt;Text style={{ fontSize: 20, fontWeight: 'bold', color: '#0F1E19' }}&gt;身份只认企业目录&lt;/Text&gt;&#10;                    &lt;Text style={{ fontSize: 16, color: '#44534C', lineHeight: 1.65 }}&gt;接 Entra ID 或 AD，不新建一套账号。员工离职停号，知识库和代码库同时失去访问——不用逐个系统去删。&lt;/Text&gt;&#10;                &lt;/Box&gt;&#10;            &lt;/Box&gt;&#10;            &lt;Box style={{ flexDirection: 'row', gap: 16, paddingBottom: 18, borderBottom: '1px solid rgba(15,30,25,0.10)' }}&gt;&#10;                &lt;Text style={{ width: 28, fontSize: 17, fontWeight: 'bold', color: '#167762', fontFamily: 'Consolas', lineHeight: 1.6 }}&gt;02&lt;/Text&gt;&#10;                &lt;Box style={{ flex: 1, flexDirection: 'column', gap: 4 }}&gt;&#10;                    &lt;Text style={{ fontSize: 20, fontWeight: 'bold', color: '#0F1E19' }}&gt;文档入库就打标签&lt;/Text&gt;&#10;                    &lt;Text style={{ fontSize: 16, color: '#44534C', lineHeight: 1.65 }}&gt;部门、项目、密级三个维度。标签不是给人看的分类，是检索时的过滤条件——没标签的文档默认谁都看不到。&lt;/Text&gt;&#10;                &lt;/Box&gt;&#10;            &lt;/Box&gt;&#10;            &lt;Box style={{ flexDirection: 'row', gap: 16, paddingBottom: 18, borderBottom: '1px solid rgba(15,30,25,0.10)' }}&gt;&#10;                &lt;Text style={{ width: 28, fontSize: 17, fontWeight: 'bold', color: '#C2410C', fontFamily: 'Consolas', lineHeight: 1.6 }}&gt;03&lt;/Text&gt;&#10;                &lt;Box style={{ flex: 1, flexDirection: 'column', gap: 4 }}&gt;&#10;                    &lt;Text style={{ fontSize: 20, fontWeight: 'bold', color: '#0F1E19' }}&gt;先过滤，再检索&lt;/Text&gt;&#10;                    &lt;Text style={{ fontSize: 16, color: '#44534C', lineHeight: 1.65 }}&gt;权限在相似度计算之前生效。检索完再删结果是假安全：答案已经生成，引用也已经暴露了文件名。&lt;/Text&gt;&#10;                &lt;/Box&gt;&#10;            &lt;/Box&gt;&#10;            &lt;Box style={{ flexDirection: 'row', gap: 16 }}&gt;&#10;                &lt;Text style={{ width: 28, fontSize: 17, fontWeight: 'bold', color: '#167762', fontFamily: 'Consolas', lineHeight: 1.6 }}&gt;04&lt;/Text&gt;&#10;                &lt;Box style={{ flex: 1, flexDirection: 'column', gap: 4 }}&gt;&#10;                    &lt;Text style={{ fontSize: 20, fontWeight: 'bold', color: '#0F1E19' }}&gt;环境必须分开&lt;/Text&gt;&#10;                    &lt;Text style={{ fontSize: 16, color: '#44534C', lineHeight: 1.65 }}&gt;Test / UAT / PROD 三套独立索引、独立凭据、独立权限。索引不能跨环境复制，否则测试数据会把生产答案带出来。&lt;/Text&gt;&#10;                &lt;/Box&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05 / 15&lt;/Text&gt;&#10;    &lt;/Box&gt;&#10;&lt;/Slide&gt;&#10;"/>
        <p:cNvGrpSpPr/>
        <p:nvPr/>
      </p:nvGrpSpPr>
      <p:grpSpPr>
        <a:xfrm>
          <a:off x="0" y="0"/>
          <a:ext cx="0" cy="0"/>
          <a:chOff x="0" y="0"/>
          <a:chExt cx="0" cy="0"/>
        </a:xfrm>
      </p:grpSpPr>
      <p:sp>
        <p:nvSpPr>
          <p:cNvPr id="189" name=""/>
          <p:cNvSpPr/>
          <p:nvPr/>
        </p:nvSpPr>
        <p:spPr>
          <a:xfrm rot="0" flipH="0" flipV="0">
            <a:off x="0" y="0"/>
            <a:ext cx="12192000" cy="6858000"/>
          </a:xfrm>
          <a:prstGeom prst="rect">
            <a:avLst/>
          </a:prstGeom>
          <a:solidFill>
            <a:srgbClr val="FFFFFF"/>
          </a:solidFill>
          <a:ln/>
        </p:spPr>
        <p:txBody>
          <a:bodyPr/>
          <a:p/>
        </p:txBody>
      </p:sp>
      <p:sp>
        <p:nvSpPr>
          <p:cNvPr id="190"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Don't Make Permissions "Slightly Different"</a:t>
            </a:r>
            <a:endParaRPr/>
          </a:p>
        </p:txBody>
      </p:sp>
      <p:sp>
        <p:nvSpPr>
          <p:cNvPr id="191"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Role-based least privilege plus change logging is the approach that passes an audit</a:t>
            </a:r>
            <a:endParaRPr/>
          </a:p>
        </p:txBody>
      </p:sp>
      <p:sp>
        <p:nvSpPr>
          <p:cNvPr id="192" name=""/>
          <p:cNvSpPr/>
          <p:nvPr/>
        </p:nvSpPr>
        <p:spPr>
          <a:xfrm rot="0" flipH="0" flipV="0">
            <a:off x="609600" y="1276350"/>
            <a:ext cx="2857500" cy="4572000"/>
          </a:xfrm>
          <a:prstGeom prst="roundRect">
            <a:avLst>
              <a:gd name="adj" fmla="val 3333"/>
            </a:avLst>
          </a:prstGeom>
          <a:solidFill>
            <a:srgbClr val="0F1E19"/>
          </a:solidFill>
          <a:ln/>
        </p:spPr>
        <p:txBody>
          <a:bodyPr/>
          <a:p/>
        </p:txBody>
      </p:sp>
      <p:sp>
        <p:nvSpPr>
          <p:cNvPr id="193" name="" descr="{&quot;isTemplate&quot;:true,&quot;type&quot;:&quot;text&quot;}"/>
          <p:cNvSpPr txBox="1"/>
          <p:nvPr/>
        </p:nvSpPr>
        <p:spPr>
          <a:xfrm rot="0" flipH="0" flipV="0">
            <a:off x="876300" y="1619250"/>
            <a:ext cx="2324100" cy="161925"/>
          </a:xfrm>
          <a:prstGeom prst="rect"/>
        </p:spPr>
        <p:txBody>
          <a:bodyPr wrap="none" lIns="0" tIns="0" rIns="0" bIns="0"/>
          <a:p>
            <a:pPr>
              <a:lnSpc>
                <a:spcPct val="100000"/>
              </a:lnSpc>
            </a:pPr>
            <a:r>
              <a:rPr lang="zh-CN" sz="1050" spc="225">
                <a:solidFill>
                  <a:srgbClr val="FFFFFF">
                    <a:alpha val="55000"/>
                  </a:srgbClr>
                </a:solidFill>
                <a:latin typeface="Microsoft YaHei"/>
                <a:ea typeface="Microsoft YaHei"/>
              </a:rPr>
              <a:t>Two tracks</a:t>
            </a:r>
            <a:endParaRPr/>
          </a:p>
        </p:txBody>
      </p:sp>
      <p:sp>
        <p:nvSpPr>
          <p:cNvPr id="194" name="" descr="{&quot;isTemplate&quot;:true,&quot;type&quot;:&quot;text&quot;}"/>
          <p:cNvSpPr txBox="1"/>
          <p:nvPr/>
        </p:nvSpPr>
        <p:spPr>
          <a:xfrm rot="0" flipH="0" flipV="0">
            <a:off x="876300" y="1819275"/>
            <a:ext cx="2324100" cy="600075"/>
          </a:xfrm>
          <a:prstGeom prst="rect"/>
        </p:spPr>
        <p:txBody>
          <a:bodyPr wrap="none" lIns="0" tIns="0" rIns="0" bIns="0"/>
          <a:p>
            <a:pPr>
              <a:lnSpc>
                <a:spcPct val="130000"/>
              </a:lnSpc>
            </a:pPr>
            <a:r>
              <a:rPr lang="zh-CN" sz="3000" b="1">
                <a:solidFill>
                  <a:srgbClr val="FFFFFF"/>
                </a:solidFill>
                <a:latin typeface="Microsoft YaHei"/>
                <a:ea typeface="Microsoft YaHei"/>
              </a:rPr>
              <a:t>Permissions</a:t>
            </a:r>
            <a:endParaRPr/>
          </a:p>
        </p:txBody>
      </p:sp>
      <p:sp>
        <p:nvSpPr>
          <p:cNvPr id="195" name="" descr="{&quot;isTemplate&quot;:true,&quot;type&quot;:&quot;text&quot;}"/>
          <p:cNvSpPr txBox="1"/>
          <p:nvPr/>
        </p:nvSpPr>
        <p:spPr>
          <a:xfrm rot="0" flipH="0" flipV="0">
            <a:off x="876300" y="2457450"/>
            <a:ext cx="2695998" cy="600075"/>
          </a:xfrm>
          <a:prstGeom prst="rect"/>
        </p:spPr>
        <p:txBody>
          <a:bodyPr wrap="none" lIns="0" tIns="0" rIns="0" bIns="0"/>
          <a:p>
            <a:pPr>
              <a:lnSpc>
                <a:spcPct val="130000"/>
              </a:lnSpc>
            </a:pPr>
            <a:r>
              <a:rPr lang="zh-CN" sz="3000" b="1">
                <a:solidFill>
                  <a:srgbClr val="FFFFFF"/>
                </a:solidFill>
                <a:latin typeface="Microsoft YaHei"/>
                <a:ea typeface="Microsoft YaHei"/>
              </a:rPr>
              <a:t>Environments</a:t>
            </a:r>
            <a:endParaRPr/>
          </a:p>
        </p:txBody>
      </p:sp>
      <p:sp>
        <p:nvSpPr>
          <p:cNvPr id="196" name=""/>
          <p:cNvSpPr/>
          <p:nvPr/>
        </p:nvSpPr>
        <p:spPr>
          <a:xfrm rot="0" flipH="0" flipV="0">
            <a:off x="876300" y="4476750"/>
            <a:ext cx="381000" cy="19050"/>
          </a:xfrm>
          <a:prstGeom prst="rect">
            <a:avLst/>
          </a:prstGeom>
          <a:solidFill>
            <a:srgbClr val="167762"/>
          </a:solidFill>
          <a:ln/>
        </p:spPr>
        <p:txBody>
          <a:bodyPr/>
          <a:p/>
        </p:txBody>
      </p:sp>
      <p:sp>
        <p:nvSpPr>
          <p:cNvPr id="197" name="" descr="{&quot;isTemplate&quot;:true,&quot;type&quot;:&quot;text&quot;}"/>
          <p:cNvSpPr txBox="1"/>
          <p:nvPr/>
        </p:nvSpPr>
        <p:spPr>
          <a:xfrm rot="0" flipH="0" flipV="0">
            <a:off x="876300" y="4591050"/>
            <a:ext cx="2324100" cy="914400"/>
          </a:xfrm>
          <a:prstGeom prst="rect"/>
        </p:spPr>
        <p:txBody>
          <a:bodyPr wrap="square" lIns="0" tIns="0" rIns="0" bIns="0">
            <a:normAutofit/>
          </a:bodyPr>
          <a:p>
            <a:pPr>
              <a:lnSpc>
                <a:spcPct val="165000"/>
              </a:lnSpc>
            </a:pPr>
            <a:r>
              <a:rPr lang="zh-CN" sz="1200">
                <a:solidFill>
                  <a:srgbClr val="FFFFFF">
                    <a:alpha val="72000"/>
                  </a:srgbClr>
                </a:solidFill>
                <a:latin typeface="Microsoft YaHei"/>
                <a:ea typeface="Microsoft YaHei"/>
              </a:rPr>
              <a:t>Both must be settled before writing the first line of code. Retrofitting them later means redoing the data layering.</a:t>
            </a:r>
            <a:endParaRPr/>
          </a:p>
        </p:txBody>
      </p:sp>
      <p:sp>
        <p:nvSpPr>
          <p:cNvPr id="198" name=""/>
          <p:cNvSpPr/>
          <p:nvPr/>
        </p:nvSpPr>
        <p:spPr>
          <a:xfrm rot="0" flipH="0" flipV="0">
            <a:off x="3886200" y="1276350"/>
            <a:ext cx="7696200" cy="1066800"/>
          </a:xfrm>
          <a:custGeom>
            <a:pathLst>
              <a:path w="808" h="112">
                <a:moveTo>
                  <a:pt x="0" y="111"/>
                </a:moveTo>
                <a:lnTo>
                  <a:pt x="808" y="111"/>
                </a:lnTo>
                <a:lnTo>
                  <a:pt x="808" y="112"/>
                </a:lnTo>
                <a:lnTo>
                  <a:pt x="0" y="112"/>
                </a:lnTo>
                <a:close/>
              </a:path>
            </a:pathLst>
          </a:custGeom>
          <a:solidFill>
            <a:srgbClr val="0F1E19">
              <a:alpha val="10000"/>
            </a:srgbClr>
          </a:solidFill>
          <a:ln/>
        </p:spPr>
        <p:txBody>
          <a:bodyPr/>
          <a:p/>
        </p:txBody>
      </p:sp>
      <p:sp>
        <p:nvSpPr>
          <p:cNvPr id="199" name="" descr="{&quot;isTemplate&quot;:true,&quot;type&quot;:&quot;text&quot;}"/>
          <p:cNvSpPr txBox="1"/>
          <p:nvPr/>
        </p:nvSpPr>
        <p:spPr>
          <a:xfrm rot="0" flipH="0" flipV="0">
            <a:off x="3886200" y="1276350"/>
            <a:ext cx="266700" cy="876300"/>
          </a:xfrm>
          <a:prstGeom prst="rect"/>
        </p:spPr>
        <p:txBody>
          <a:bodyPr wrap="none" lIns="0" tIns="0" rIns="0" bIns="0"/>
          <a:p>
            <a:pPr>
              <a:lnSpc>
                <a:spcPct val="160000"/>
              </a:lnSpc>
            </a:pPr>
            <a:r>
              <a:rPr lang="en-US" sz="1275" b="1">
                <a:solidFill>
                  <a:srgbClr val="167762"/>
                </a:solidFill>
                <a:latin typeface="Consolas"/>
                <a:ea typeface="Consolas"/>
              </a:rPr>
              <a:t>01</a:t>
            </a:r>
            <a:endParaRPr/>
          </a:p>
        </p:txBody>
      </p:sp>
      <p:sp>
        <p:nvSpPr>
          <p:cNvPr id="200" name="" descr="{&quot;isTemplate&quot;:true,&quot;type&quot;:&quot;text&quot;}"/>
          <p:cNvSpPr txBox="1"/>
          <p:nvPr/>
        </p:nvSpPr>
        <p:spPr>
          <a:xfrm rot="0" flipH="0" flipV="0">
            <a:off x="4305300" y="1276350"/>
            <a:ext cx="7277100" cy="228600"/>
          </a:xfrm>
          <a:prstGeom prst="rect"/>
        </p:spPr>
        <p:txBody>
          <a:bodyPr wrap="none" lIns="0" tIns="0" rIns="0" bIns="0"/>
          <a:p>
            <a:pPr>
              <a:lnSpc>
                <a:spcPct val="100000"/>
              </a:lnSpc>
            </a:pPr>
            <a:r>
              <a:rPr lang="zh-CN" sz="1500" b="1">
                <a:solidFill>
                  <a:srgbClr val="0F1E19"/>
                </a:solidFill>
                <a:latin typeface="Microsoft YaHei"/>
                <a:ea typeface="Microsoft YaHei"/>
              </a:rPr>
              <a:t>Identity comes only from the corporate directory</a:t>
            </a:r>
            <a:endParaRPr/>
          </a:p>
        </p:txBody>
      </p:sp>
      <p:sp>
        <p:nvSpPr>
          <p:cNvPr id="201" name="" descr="{&quot;isTemplate&quot;:true,&quot;type&quot;:&quot;text&quot;}"/>
          <p:cNvSpPr txBox="1"/>
          <p:nvPr/>
        </p:nvSpPr>
        <p:spPr>
          <a:xfrm rot="0" flipH="0" flipV="0">
            <a:off x="4305300" y="1543050"/>
            <a:ext cx="7277100" cy="609600"/>
          </a:xfrm>
          <a:prstGeom prst="rect"/>
        </p:spPr>
        <p:txBody>
          <a:bodyPr wrap="square" lIns="0" tIns="0" rIns="0" bIns="0">
            <a:normAutofit/>
          </a:bodyPr>
          <a:p>
            <a:pPr>
              <a:lnSpc>
                <a:spcPct val="165000"/>
              </a:lnSpc>
            </a:pPr>
            <a:r>
              <a:rPr lang="zh-CN" sz="1200">
                <a:solidFill>
                  <a:srgbClr val="44534C"/>
                </a:solidFill>
                <a:latin typeface="Microsoft YaHei"/>
                <a:ea typeface="Microsoft YaHei"/>
              </a:rPr>
              <a:t>Connect to Entra ID or AD; do not create a separate account system. When an employee leaves, the account is disabled, and access to the knowledge base and the code repositories is removed at the same time, with no need to delete accounts system by system.</a:t>
            </a:r>
            <a:endParaRPr/>
          </a:p>
        </p:txBody>
      </p:sp>
      <p:sp>
        <p:nvSpPr>
          <p:cNvPr id="202" name=""/>
          <p:cNvSpPr/>
          <p:nvPr/>
        </p:nvSpPr>
        <p:spPr>
          <a:xfrm rot="0" flipH="0" flipV="0">
            <a:off x="3886200" y="2743200"/>
            <a:ext cx="7696200" cy="1066800"/>
          </a:xfrm>
          <a:custGeom>
            <a:pathLst>
              <a:path w="808" h="112">
                <a:moveTo>
                  <a:pt x="0" y="111"/>
                </a:moveTo>
                <a:lnTo>
                  <a:pt x="808" y="111"/>
                </a:lnTo>
                <a:lnTo>
                  <a:pt x="808" y="112"/>
                </a:lnTo>
                <a:lnTo>
                  <a:pt x="0" y="112"/>
                </a:lnTo>
                <a:close/>
              </a:path>
            </a:pathLst>
          </a:custGeom>
          <a:solidFill>
            <a:srgbClr val="0F1E19">
              <a:alpha val="10000"/>
            </a:srgbClr>
          </a:solidFill>
          <a:ln/>
        </p:spPr>
        <p:txBody>
          <a:bodyPr/>
          <a:p/>
        </p:txBody>
      </p:sp>
      <p:sp>
        <p:nvSpPr>
          <p:cNvPr id="203" name="" descr="{&quot;isTemplate&quot;:true,&quot;type&quot;:&quot;text&quot;}"/>
          <p:cNvSpPr txBox="1"/>
          <p:nvPr/>
        </p:nvSpPr>
        <p:spPr>
          <a:xfrm rot="0" flipH="0" flipV="0">
            <a:off x="3886200" y="2743200"/>
            <a:ext cx="266700" cy="876300"/>
          </a:xfrm>
          <a:prstGeom prst="rect"/>
        </p:spPr>
        <p:txBody>
          <a:bodyPr wrap="none" lIns="0" tIns="0" rIns="0" bIns="0"/>
          <a:p>
            <a:pPr>
              <a:lnSpc>
                <a:spcPct val="160000"/>
              </a:lnSpc>
            </a:pPr>
            <a:r>
              <a:rPr lang="en-US" sz="1275" b="1">
                <a:solidFill>
                  <a:srgbClr val="167762"/>
                </a:solidFill>
                <a:latin typeface="Consolas"/>
                <a:ea typeface="Consolas"/>
              </a:rPr>
              <a:t>02</a:t>
            </a:r>
            <a:endParaRPr/>
          </a:p>
        </p:txBody>
      </p:sp>
      <p:sp>
        <p:nvSpPr>
          <p:cNvPr id="204" name="" descr="{&quot;isTemplate&quot;:true,&quot;type&quot;:&quot;text&quot;}"/>
          <p:cNvSpPr txBox="1"/>
          <p:nvPr/>
        </p:nvSpPr>
        <p:spPr>
          <a:xfrm rot="0" flipH="0" flipV="0">
            <a:off x="4305300" y="2743200"/>
            <a:ext cx="7277100" cy="228600"/>
          </a:xfrm>
          <a:prstGeom prst="rect"/>
        </p:spPr>
        <p:txBody>
          <a:bodyPr wrap="none" lIns="0" tIns="0" rIns="0" bIns="0"/>
          <a:p>
            <a:pPr>
              <a:lnSpc>
                <a:spcPct val="100000"/>
              </a:lnSpc>
            </a:pPr>
            <a:r>
              <a:rPr lang="zh-CN" sz="1500" b="1">
                <a:solidFill>
                  <a:srgbClr val="0F1E19"/>
                </a:solidFill>
                <a:latin typeface="Microsoft YaHei"/>
                <a:ea typeface="Microsoft YaHei"/>
              </a:rPr>
              <a:t>Tag documents when they are ingested</a:t>
            </a:r>
            <a:endParaRPr/>
          </a:p>
        </p:txBody>
      </p:sp>
      <p:sp>
        <p:nvSpPr>
          <p:cNvPr id="205" name="" descr="{&quot;isTemplate&quot;:true,&quot;type&quot;:&quot;text&quot;}"/>
          <p:cNvSpPr txBox="1"/>
          <p:nvPr/>
        </p:nvSpPr>
        <p:spPr>
          <a:xfrm rot="0" flipH="0" flipV="0">
            <a:off x="4305300" y="3009900"/>
            <a:ext cx="7277100" cy="609600"/>
          </a:xfrm>
          <a:prstGeom prst="rect"/>
        </p:spPr>
        <p:txBody>
          <a:bodyPr wrap="square" lIns="0" tIns="0" rIns="0" bIns="0">
            <a:normAutofit/>
          </a:bodyPr>
          <a:p>
            <a:pPr>
              <a:lnSpc>
                <a:spcPct val="165000"/>
              </a:lnSpc>
            </a:pPr>
            <a:r>
              <a:rPr lang="zh-CN" sz="1200">
                <a:solidFill>
                  <a:srgbClr val="44534C"/>
                </a:solidFill>
                <a:latin typeface="Microsoft YaHei"/>
                <a:ea typeface="Microsoft YaHei"/>
              </a:rPr>
              <a:t>Three dimensions: department, project, and classification level. Tags are not categories for people to browse; they are filter conditions at retrieval time. A document without tags is visible to no one by default.</a:t>
            </a:r>
            <a:endParaRPr/>
          </a:p>
        </p:txBody>
      </p:sp>
      <p:sp>
        <p:nvSpPr>
          <p:cNvPr id="206" name=""/>
          <p:cNvSpPr/>
          <p:nvPr/>
        </p:nvSpPr>
        <p:spPr>
          <a:xfrm rot="0" flipH="0" flipV="0">
            <a:off x="3886200" y="4210050"/>
            <a:ext cx="7696200" cy="762000"/>
          </a:xfrm>
          <a:custGeom>
            <a:pathLst>
              <a:path w="808" h="80">
                <a:moveTo>
                  <a:pt x="0" y="79"/>
                </a:moveTo>
                <a:lnTo>
                  <a:pt x="808" y="79"/>
                </a:lnTo>
                <a:lnTo>
                  <a:pt x="808" y="80"/>
                </a:lnTo>
                <a:lnTo>
                  <a:pt x="0" y="80"/>
                </a:lnTo>
                <a:close/>
              </a:path>
            </a:pathLst>
          </a:custGeom>
          <a:solidFill>
            <a:srgbClr val="0F1E19">
              <a:alpha val="10000"/>
            </a:srgbClr>
          </a:solidFill>
          <a:ln/>
        </p:spPr>
        <p:txBody>
          <a:bodyPr/>
          <a:p/>
        </p:txBody>
      </p:sp>
      <p:sp>
        <p:nvSpPr>
          <p:cNvPr id="207" name="" descr="{&quot;isTemplate&quot;:true,&quot;type&quot;:&quot;text&quot;}"/>
          <p:cNvSpPr txBox="1"/>
          <p:nvPr/>
        </p:nvSpPr>
        <p:spPr>
          <a:xfrm rot="0" flipH="0" flipV="0">
            <a:off x="3886200" y="4210050"/>
            <a:ext cx="266700" cy="571500"/>
          </a:xfrm>
          <a:prstGeom prst="rect"/>
        </p:spPr>
        <p:txBody>
          <a:bodyPr wrap="none" lIns="0" tIns="0" rIns="0" bIns="0"/>
          <a:p>
            <a:pPr>
              <a:lnSpc>
                <a:spcPct val="160000"/>
              </a:lnSpc>
            </a:pPr>
            <a:r>
              <a:rPr lang="en-US" sz="1275" b="1">
                <a:solidFill>
                  <a:srgbClr val="C2410C"/>
                </a:solidFill>
                <a:latin typeface="Consolas"/>
                <a:ea typeface="Consolas"/>
              </a:rPr>
              <a:t>03</a:t>
            </a:r>
            <a:endParaRPr/>
          </a:p>
        </p:txBody>
      </p:sp>
      <p:sp>
        <p:nvSpPr>
          <p:cNvPr id="208" name="" descr="{&quot;isTemplate&quot;:true,&quot;type&quot;:&quot;text&quot;}"/>
          <p:cNvSpPr txBox="1"/>
          <p:nvPr/>
        </p:nvSpPr>
        <p:spPr>
          <a:xfrm rot="0" flipH="0" flipV="0">
            <a:off x="4305300" y="4210050"/>
            <a:ext cx="7277100" cy="228600"/>
          </a:xfrm>
          <a:prstGeom prst="rect"/>
        </p:spPr>
        <p:txBody>
          <a:bodyPr wrap="none" lIns="0" tIns="0" rIns="0" bIns="0"/>
          <a:p>
            <a:pPr>
              <a:lnSpc>
                <a:spcPct val="100000"/>
              </a:lnSpc>
            </a:pPr>
            <a:r>
              <a:rPr lang="zh-CN" sz="1500" b="1">
                <a:solidFill>
                  <a:srgbClr val="0F1E19"/>
                </a:solidFill>
                <a:latin typeface="Microsoft YaHei"/>
                <a:ea typeface="Microsoft YaHei"/>
              </a:rPr>
              <a:t>Filter first, then retrieve</a:t>
            </a:r>
            <a:endParaRPr/>
          </a:p>
        </p:txBody>
      </p:sp>
      <p:sp>
        <p:nvSpPr>
          <p:cNvPr id="209" name="" descr="{&quot;isTemplate&quot;:true,&quot;type&quot;:&quot;text&quot;}"/>
          <p:cNvSpPr txBox="1"/>
          <p:nvPr/>
        </p:nvSpPr>
        <p:spPr>
          <a:xfrm rot="0" flipH="0" flipV="0">
            <a:off x="4305300" y="4476750"/>
            <a:ext cx="7277100" cy="304800"/>
          </a:xfrm>
          <a:prstGeom prst="rect"/>
        </p:spPr>
        <p:txBody>
          <a:bodyPr wrap="square" lIns="0" tIns="0" rIns="0" bIns="0"/>
          <a:p>
            <a:pPr>
              <a:lnSpc>
                <a:spcPct val="165000"/>
              </a:lnSpc>
            </a:pPr>
            <a:r>
              <a:rPr lang="zh-CN" sz="1080">
                <a:solidFill>
                  <a:srgbClr val="44534C"/>
                </a:solidFill>
                <a:latin typeface="Microsoft YaHei"/>
                <a:ea typeface="Microsoft YaHei"/>
              </a:rPr>
              <a:t>Permissions take effect before similarity is computed. Removing results after retrieval is false security: the answer has already been generated, and the citations have already exposed file names.</a:t>
            </a:r>
            <a:endParaRPr/>
          </a:p>
        </p:txBody>
      </p:sp>
      <p:sp>
        <p:nvSpPr>
          <p:cNvPr id="210" name="" descr="{&quot;isTemplate&quot;:true,&quot;type&quot;:&quot;text&quot;}"/>
          <p:cNvSpPr txBox="1"/>
          <p:nvPr/>
        </p:nvSpPr>
        <p:spPr>
          <a:xfrm rot="0" flipH="0" flipV="0">
            <a:off x="3886200" y="5372100"/>
            <a:ext cx="266700" cy="876300"/>
          </a:xfrm>
          <a:prstGeom prst="rect"/>
        </p:spPr>
        <p:txBody>
          <a:bodyPr wrap="none" lIns="0" tIns="0" rIns="0" bIns="0"/>
          <a:p>
            <a:pPr>
              <a:lnSpc>
                <a:spcPct val="160000"/>
              </a:lnSpc>
            </a:pPr>
            <a:r>
              <a:rPr lang="en-US" sz="1275" b="1">
                <a:solidFill>
                  <a:srgbClr val="167762"/>
                </a:solidFill>
                <a:latin typeface="Consolas"/>
                <a:ea typeface="Consolas"/>
              </a:rPr>
              <a:t>04</a:t>
            </a:r>
            <a:endParaRPr/>
          </a:p>
        </p:txBody>
      </p:sp>
      <p:sp>
        <p:nvSpPr>
          <p:cNvPr id="211" name="" descr="{&quot;isTemplate&quot;:true,&quot;type&quot;:&quot;text&quot;}"/>
          <p:cNvSpPr txBox="1"/>
          <p:nvPr/>
        </p:nvSpPr>
        <p:spPr>
          <a:xfrm rot="0" flipH="0" flipV="0">
            <a:off x="4305300" y="5372100"/>
            <a:ext cx="7277100" cy="228600"/>
          </a:xfrm>
          <a:prstGeom prst="rect"/>
        </p:spPr>
        <p:txBody>
          <a:bodyPr wrap="none" lIns="0" tIns="0" rIns="0" bIns="0"/>
          <a:p>
            <a:pPr>
              <a:lnSpc>
                <a:spcPct val="100000"/>
              </a:lnSpc>
            </a:pPr>
            <a:r>
              <a:rPr lang="zh-CN" sz="1500" b="1">
                <a:solidFill>
                  <a:srgbClr val="0F1E19"/>
                </a:solidFill>
                <a:latin typeface="Microsoft YaHei"/>
                <a:ea typeface="Microsoft YaHei"/>
              </a:rPr>
              <a:t>Environments must be separate</a:t>
            </a:r>
            <a:endParaRPr/>
          </a:p>
        </p:txBody>
      </p:sp>
      <p:sp>
        <p:nvSpPr>
          <p:cNvPr id="212" name="" descr="{&quot;isTemplate&quot;:true,&quot;type&quot;:&quot;text&quot;}"/>
          <p:cNvSpPr txBox="1"/>
          <p:nvPr/>
        </p:nvSpPr>
        <p:spPr>
          <a:xfrm rot="0" flipH="0" flipV="0">
            <a:off x="4305300" y="5638800"/>
            <a:ext cx="7277100" cy="609600"/>
          </a:xfrm>
          <a:prstGeom prst="rect"/>
        </p:spPr>
        <p:txBody>
          <a:bodyPr wrap="square" lIns="0" tIns="0" rIns="0" bIns="0">
            <a:normAutofit/>
          </a:bodyPr>
          <a:p>
            <a:pPr>
              <a:lnSpc>
                <a:spcPct val="165000"/>
              </a:lnSpc>
            </a:pPr>
            <a:r>
              <a:rPr lang="en-US" sz="1200">
                <a:solidFill>
                  <a:srgbClr val="44534C"/>
                </a:solidFill>
                <a:latin typeface="Microsoft YaHei"/>
                <a:ea typeface="Microsoft YaHei"/>
              </a:rPr>
              <a:t>Test / UAT / PROD each get their own index, credentials, and permissions. Indexes must not be copied across environments, or test data could carry production answers out with it.</a:t>
            </a:r>
            <a:endParaRPr/>
          </a:p>
        </p:txBody>
      </p:sp>
      <p:sp>
        <p:nvSpPr>
          <p:cNvPr id="213"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214"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05 / 15</a:t>
            </a:r>
            <a:endParaRPr/>
          </a:p>
        </p:txBody>
      </p:sp>
    </p:spTree>
  </p:cSld>
</p:sld>
</file>

<file path=ppt/slides/slide6.xml><?xml version="1.0" encoding="utf-8"?>
<p:sld xmlns:p="http://schemas.openxmlformats.org/presentationml/2006/main" xmlns:a="http://schemas.openxmlformats.org/drawingml/2006/main">
  <p:cSld>
    <p:spTree>
      <p:nvGrpSpPr>
        <p:cNvPr id="215" name="" descr="&lt;Slide style={{ width: 1280, height: 720, background: '#FFFFFF', position: 'relative', padding: 0, fontFamily: 'Microsoft YaHei' }}&gt;&#10;    &lt;Box style={{ position: 'absolute', left: 0, top: 0, width: 480, height: 720, background: '#167762', alignItems: 'center', justifyContent: 'center' }}&gt;&#10;        &lt;Text style={{ fontSize: 220, fontWeight: 'bold', color: 'rgba(255,255,255,0.24)', fontFamily: 'Consolas', lineHeight: 1 }}&gt;02&lt;/Text&gt;&#10;    &lt;/Box&gt;&#10;    &lt;Box style={{ position: 'absolute', left: 480, top: 0, width: 800, height: 720, padding: '0 88px 0 72px', flexDirection: 'column', justifyContent: 'center', gap: 22 }}&gt;&#10;        &lt;Text style={{ fontSize: 15, color: '#167762', letterSpacing: 3 }}&gt;第二章&lt;/Text&gt;&#10;        &lt;Text style={{ fontSize: 64, fontWeight: 'bold', color: '#0F1E19', lineHeight: 1.15 }}&gt;方案与安全设计&lt;/Text&gt;&#10;        &lt;Box style={{ width: 64, height: 3, background: '#167762' }} /&gt;&#10;        &lt;Text style={{ fontSize: 22, color: '#44534C', lineHeight: 1.65 }}&gt;先选路线，再谈关卡。&lt;/Text&gt;&#10;        &lt;Text style={{ fontSize: 16, color: '#6B7A72', lineHeight: 1.6 }}&gt;路线决定数据放在哪；关卡决定出了问题会不会变成事故。&lt;/Text&gt;&#10;    &lt;/Box&gt;&#10;&lt;/Slide&gt;&#10;"/>
        <p:cNvGrpSpPr/>
        <p:nvPr/>
      </p:nvGrpSpPr>
      <p:grpSpPr>
        <a:xfrm>
          <a:off x="0" y="0"/>
          <a:ext cx="0" cy="0"/>
          <a:chOff x="0" y="0"/>
          <a:chExt cx="0" cy="0"/>
        </a:xfrm>
      </p:grpSpPr>
      <p:sp>
        <p:nvSpPr>
          <p:cNvPr id="216" name=""/>
          <p:cNvSpPr/>
          <p:nvPr/>
        </p:nvSpPr>
        <p:spPr>
          <a:xfrm rot="0" flipH="0" flipV="0">
            <a:off x="0" y="0"/>
            <a:ext cx="12192000" cy="6858000"/>
          </a:xfrm>
          <a:prstGeom prst="rect">
            <a:avLst/>
          </a:prstGeom>
          <a:solidFill>
            <a:srgbClr val="FFFFFF"/>
          </a:solidFill>
          <a:ln/>
        </p:spPr>
        <p:txBody>
          <a:bodyPr/>
          <a:p/>
        </p:txBody>
      </p:sp>
      <p:sp>
        <p:nvSpPr>
          <p:cNvPr id="217" name=""/>
          <p:cNvSpPr/>
          <p:nvPr/>
        </p:nvSpPr>
        <p:spPr>
          <a:xfrm rot="0" flipH="0" flipV="0">
            <a:off x="0" y="0"/>
            <a:ext cx="4572000" cy="6858000"/>
          </a:xfrm>
          <a:prstGeom prst="rect">
            <a:avLst/>
          </a:prstGeom>
          <a:solidFill>
            <a:srgbClr val="167762"/>
          </a:solidFill>
          <a:ln/>
        </p:spPr>
        <p:txBody>
          <a:bodyPr/>
          <a:p/>
        </p:txBody>
      </p:sp>
      <p:sp>
        <p:nvSpPr>
          <p:cNvPr id="218" name="" descr="{&quot;isTemplate&quot;:true,&quot;type&quot;:&quot;text&quot;}"/>
          <p:cNvSpPr txBox="1"/>
          <p:nvPr/>
        </p:nvSpPr>
        <p:spPr>
          <a:xfrm rot="0" flipH="0" flipV="0">
            <a:off x="1133475" y="2171700"/>
            <a:ext cx="2305050" cy="2514600"/>
          </a:xfrm>
          <a:prstGeom prst="rect"/>
        </p:spPr>
        <p:txBody>
          <a:bodyPr wrap="none" lIns="0" tIns="0" rIns="0" bIns="0"/>
          <a:p>
            <a:pPr>
              <a:lnSpc>
                <a:spcPct val="100000"/>
              </a:lnSpc>
            </a:pPr>
            <a:r>
              <a:rPr lang="en-US" sz="16500" b="1">
                <a:solidFill>
                  <a:srgbClr val="FFFFFF">
                    <a:alpha val="24000"/>
                  </a:srgbClr>
                </a:solidFill>
                <a:latin typeface="Consolas"/>
                <a:ea typeface="Consolas"/>
              </a:rPr>
              <a:t>02</a:t>
            </a:r>
            <a:endParaRPr/>
          </a:p>
        </p:txBody>
      </p:sp>
      <p:sp>
        <p:nvSpPr>
          <p:cNvPr id="219" name="" descr="{&quot;isTemplate&quot;:true,&quot;type&quot;:&quot;text&quot;}"/>
          <p:cNvSpPr txBox="1"/>
          <p:nvPr/>
        </p:nvSpPr>
        <p:spPr>
          <a:xfrm rot="0" flipH="0" flipV="0">
            <a:off x="5257800" y="2133600"/>
            <a:ext cx="6096000" cy="171450"/>
          </a:xfrm>
          <a:prstGeom prst="rect"/>
        </p:spPr>
        <p:txBody>
          <a:bodyPr wrap="none" lIns="0" tIns="0" rIns="0" bIns="0"/>
          <a:p>
            <a:pPr>
              <a:lnSpc>
                <a:spcPct val="100000"/>
              </a:lnSpc>
            </a:pPr>
            <a:r>
              <a:rPr lang="zh-CN" sz="1125" spc="225">
                <a:solidFill>
                  <a:srgbClr val="167762"/>
                </a:solidFill>
                <a:latin typeface="Microsoft YaHei"/>
                <a:ea typeface="Microsoft YaHei"/>
              </a:rPr>
              <a:t>Chapter 2</a:t>
            </a:r>
            <a:endParaRPr/>
          </a:p>
        </p:txBody>
      </p:sp>
      <p:sp>
        <p:nvSpPr>
          <p:cNvPr id="220" name="" descr="{&quot;isTemplate&quot;:true,&quot;type&quot;:&quot;text&quot;}"/>
          <p:cNvSpPr txBox="1"/>
          <p:nvPr/>
        </p:nvSpPr>
        <p:spPr>
          <a:xfrm rot="0" flipH="0" flipV="0">
            <a:off x="5257800" y="2514600"/>
            <a:ext cx="6477000" cy="847725"/>
          </a:xfrm>
          <a:prstGeom prst="rect"/>
        </p:spPr>
        <p:txBody>
          <a:bodyPr wrap="none" lIns="0" tIns="0" rIns="0" bIns="0"/>
          <a:p>
            <a:pPr>
              <a:lnSpc>
                <a:spcPct val="114999"/>
              </a:lnSpc>
            </a:pPr>
            <a:r>
              <a:rPr lang="zh-CN" sz="3450" b="1">
                <a:solidFill>
                  <a:srgbClr val="0F1E19"/>
                </a:solidFill>
                <a:latin typeface="Microsoft YaHei"/>
                <a:ea typeface="Microsoft YaHei"/>
              </a:rPr>
              <a:t>Solution and Security Design</a:t>
            </a:r>
            <a:endParaRPr/>
          </a:p>
        </p:txBody>
      </p:sp>
      <p:sp>
        <p:nvSpPr>
          <p:cNvPr id="221" name=""/>
          <p:cNvSpPr/>
          <p:nvPr/>
        </p:nvSpPr>
        <p:spPr>
          <a:xfrm rot="0" flipH="0" flipV="0">
            <a:off x="5257800" y="3571875"/>
            <a:ext cx="609600" cy="28575"/>
          </a:xfrm>
          <a:prstGeom prst="rect">
            <a:avLst/>
          </a:prstGeom>
          <a:solidFill>
            <a:srgbClr val="167762"/>
          </a:solidFill>
          <a:ln/>
        </p:spPr>
        <p:txBody>
          <a:bodyPr/>
          <a:p/>
        </p:txBody>
      </p:sp>
      <p:sp>
        <p:nvSpPr>
          <p:cNvPr id="222" name="" descr="{&quot;isTemplate&quot;:true,&quot;type&quot;:&quot;text&quot;}"/>
          <p:cNvSpPr txBox="1"/>
          <p:nvPr/>
        </p:nvSpPr>
        <p:spPr>
          <a:xfrm rot="0" flipH="0" flipV="0">
            <a:off x="5257800" y="3810000"/>
            <a:ext cx="6096000" cy="419100"/>
          </a:xfrm>
          <a:prstGeom prst="rect"/>
        </p:spPr>
        <p:txBody>
          <a:bodyPr wrap="none" lIns="0" tIns="0" rIns="0" bIns="0"/>
          <a:p>
            <a:pPr>
              <a:lnSpc>
                <a:spcPct val="165000"/>
              </a:lnSpc>
            </a:pPr>
            <a:r>
              <a:rPr lang="zh-CN" sz="1650">
                <a:solidFill>
                  <a:srgbClr val="44534C"/>
                </a:solidFill>
                <a:latin typeface="Microsoft YaHei"/>
                <a:ea typeface="Microsoft YaHei"/>
              </a:rPr>
              <a:t>Choose the route first, then talk about the gates.</a:t>
            </a:r>
            <a:endParaRPr/>
          </a:p>
        </p:txBody>
      </p:sp>
      <p:sp>
        <p:nvSpPr>
          <p:cNvPr id="223" name="" descr="{&quot;isTemplate&quot;:true,&quot;type&quot;:&quot;text&quot;}"/>
          <p:cNvSpPr txBox="1"/>
          <p:nvPr/>
        </p:nvSpPr>
        <p:spPr>
          <a:xfrm rot="0" flipH="0" flipV="0">
            <a:off x="5257800" y="4438650"/>
            <a:ext cx="6096000" cy="295275"/>
          </a:xfrm>
          <a:prstGeom prst="rect"/>
        </p:spPr>
        <p:txBody>
          <a:bodyPr wrap="square" lIns="0" tIns="0" rIns="0" bIns="0"/>
          <a:p>
            <a:pPr>
              <a:lnSpc>
                <a:spcPct val="160000"/>
              </a:lnSpc>
            </a:pPr>
            <a:r>
              <a:rPr lang="zh-CN" sz="1080">
                <a:solidFill>
                  <a:srgbClr val="6B7A72"/>
                </a:solidFill>
                <a:latin typeface="Microsoft YaHei"/>
                <a:ea typeface="Microsoft YaHei"/>
              </a:rPr>
              <a:t>The route decides where the data lives; the gates decide whether a problem turns into an incident.</a:t>
            </a:r>
            <a:endParaRPr/>
          </a:p>
        </p:txBody>
      </p:sp>
    </p:spTree>
  </p:cSld>
</p:sld>
</file>

<file path=ppt/slides/slide7.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224" name="" descr="&lt;Slide style={{ width: 1280, height: 720, background: '#FFFFFF', padding: '26px 64px 18px 64px', position: 'relative', fontFamily: 'Microsoft YaHei' }}&gt;&#10;    &lt;Box style={{ flexDirection: 'column', gap: 6, height: 104 }}&gt;&#10;        &lt;Text style={{ fontSize: 36, fontWeight: 'bold', color: '#0F1E19', lineHeight: 1.3 }}&gt;三条路线：数据边界决定选型&lt;/Text&gt;&#10;        &lt;Text style={{ fontSize: 17, color: '#6B7A72', lineHeight: 1.5 }}&gt;不是&quot;哪个先进选哪个&quot;，而是&quot;数据允许放在哪&quot;&lt;/Text&gt;&#10;    &lt;/Box&gt;&#10;    &lt;Box style={{ flexDirection: 'column', gap: 16, height: 526 }}&gt;&#10;        &lt;Table&#10;            style={{ width: 1152, height: 400 }}&#10;            defaultTextStyle={{ fontSize: 15, textAlign: 'left', color: '#0F1E19' }}&#10;            defaultCellStyle={{&#10;                border: {&#10;                    left: { width: 0, color: '#FFFFFF' },&#10;                    right: { width: 0, color: '#FFFFFF' },&#10;                    top: { width: 0, color: '#FFFFFF' },&#10;                    bottom: { width: 1, color: 'rgba(15,30,25,0.10)' },&#10;                },&#10;            }}&#10;            cells={[&#10;                [&#10;                    { text: '维度', textStyle: { bold: true, color: '#FFFFFF', fontSize: 15 }, cellStyle: { background: { color: '#0F1E19' } } },&#10;                    { text: '微软 Copilot（M365）', textStyle: { bold: true, color: '#FFFFFF', fontSize: 15 }, cellStyle: { background: { color: '#0F1E19' } } },&#10;                    { text: 'Azure 自建', textStyle: { bold: true, color: '#FFFFFF', fontSize: 15 }, cellStyle: { background: { color: '#0F1E19' } } },&#10;                    { text: '完全离线自建', textStyle: { bold: true, color: '#FFFFFF', fontSize: 15 }, cellStyle: { background: { color: '#167762' } } },&#10;                ],&#10;                ['数据在哪', '你的 M365 租户（微软云）', '你的 Azure 订阅', { text: '你自己的机房', textStyle: { bold: true, color: '#167762' } }],&#10;                ['权限从哪来', '复用 SharePoint / Entra 权限', '要自己实现', { text: '要自己实现', textStyle: { bold: true, color: '#167762' } }],&#10;                ['上线速度', '快：许可到位即可', '中：要先搭环境', '慢：要硬件、镜像、模型'],&#10;                ['成本形态', '按用户按月', '云资源 + 人力', '硬件 + 人力'],&#10;                [&#10;                    { text: '能否不出内网', textStyle: { bold: true } },&#10;                    { text: '不能：数据出到微软云', textStyle: { bold: true, color: '#C2410C' } },&#10;                    { text: '不能：数据出到 Azure', textStyle: { bold: true, color: '#C2410C' } },&#10;                    { text: '能：全程内网', textStyle: { bold: true, color: '#167762' } },&#10;                ],&#10;                ['适合谁', '已经在用 M365、能接受云', '要定制、能上云', '数据绝对不允许出网'],&#10;            ]}&#10;        /&gt;&#10;        &lt;Box style={{ flexDirection: 'row', gap: 16, alignItems: 'center', padding: '14px 20px', background: 'rgba(194,65,12,0.08)', borderRadius: 6 }}&gt;&#10;            &lt;Text style={{ fontSize: 15, fontWeight: 'bold', color: '#C2410C' }}&gt;结论&lt;/Text&gt;&#10;            &lt;Text style={{ fontSize: 16, color: '#0F1E19', lineHeight: 1.55 }}&gt;&quot;不出内网&quot;和&quot;用云端 Copilot&quot;是互斥的两个选择。这一条先拍板，否则后面的架构、预算、时间表全要重做。&lt;/Text&gt;&#10;        &lt;/Box&gt;&#10;    &lt;/Box&gt;&#10;    &lt;Box style={{ position: 'absolute', left: 64, right: 64, bottom: 12, flexDirection: 'row', justifyContent: 'space-between' }}&gt;&#10;        &lt;Text style={{ fontSize: 14, color: '#6B7A72' }}&gt;SENTINEL · 安全开发环境方案&lt;/Text&gt;&#10;        &lt;Text style={{ fontSize: 14, color: '#6B7A72', fontFamily: 'Consolas' }}&gt;07 / 15&lt;/Text&gt;&#10;    &lt;/Box&gt;&#10;&lt;/Slide&gt;&#10;"/>
        <p:cNvGrpSpPr/>
        <p:nvPr/>
      </p:nvGrpSpPr>
      <p:grpSpPr>
        <a:xfrm>
          <a:off x="0" y="0"/>
          <a:ext cx="0" cy="0"/>
          <a:chOff x="0" y="0"/>
          <a:chExt cx="0" cy="0"/>
        </a:xfrm>
      </p:grpSpPr>
      <p:sp>
        <p:nvSpPr>
          <p:cNvPr id="225" name=""/>
          <p:cNvSpPr/>
          <p:nvPr/>
        </p:nvSpPr>
        <p:spPr>
          <a:xfrm rot="0" flipH="0" flipV="0">
            <a:off x="0" y="0"/>
            <a:ext cx="12192000" cy="6858000"/>
          </a:xfrm>
          <a:prstGeom prst="rect">
            <a:avLst/>
          </a:prstGeom>
          <a:solidFill>
            <a:srgbClr val="FFFFFF"/>
          </a:solidFill>
          <a:ln/>
        </p:spPr>
        <p:txBody>
          <a:bodyPr/>
          <a:p/>
        </p:txBody>
      </p:sp>
      <p:sp>
        <p:nvSpPr>
          <p:cNvPr id="226"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Three Routes: Data Boundaries Decide the Choice</a:t>
            </a:r>
            <a:endParaRPr/>
          </a:p>
        </p:txBody>
      </p:sp>
      <p:sp>
        <p:nvSpPr>
          <p:cNvPr id="227"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Not "pick whichever is most advanced," but "where is the data allowed to live?"</a:t>
            </a:r>
            <a:endParaRPr/>
          </a:p>
        </p:txBody>
      </p:sp>
      <p:graphicFrame>
        <p:nvGraphicFramePr>
          <p:cNvPr id="228" name=""/>
          <p:cNvGraphicFramePr/>
          <p:nvPr/>
        </p:nvGraphicFramePr>
        <p:xfrm rot="0" flipH="0" flipV="0">
          <a:off x="609600" y="1238250"/>
          <a:ext cx="10972800" cy="3810000"/>
        </p:xfrm>
        <a:graphic>
          <a:graphicData uri="http://schemas.openxmlformats.org/drawingml/2006/table">
            <a:tbl>
              <a:tblGrid>
                <a:gridCol w="1690735">
                  <a:extLst>
                    <a:ext uri="{9D8B030D-6E8A-4147-A177-3AD203B41FA5}">
                      <a16:colId val="1"/>
                    </a:ext>
                  </a:extLst>
                </a:gridCol>
                <a:gridCol w="3541037">
                  <a:extLst>
                    <a:ext uri="{9D8B030D-6E8A-4147-A177-3AD203B41FA5}">
                      <a16:colId val="2"/>
                    </a:ext>
                  </a:extLst>
                </a:gridCol>
                <a:gridCol w="2777150">
                  <a:extLst>
                    <a:ext uri="{9D8B030D-6E8A-4147-A177-3AD203B41FA5}">
                      <a16:colId val="3"/>
                    </a:ext>
                  </a:extLst>
                </a:gridCol>
                <a:gridCol w="2963878">
                  <a:extLst>
                    <a:ext uri="{9D8B030D-6E8A-4147-A177-3AD203B41FA5}">
                      <a16:colId val="4"/>
                    </a:ext>
                  </a:extLst>
                </a:gridCol>
              </a:tblGrid>
              <a:tr h="544286">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Dimension</a:t>
                      </a:r>
                      <a:endParaRPr/>
                    </a:p>
                  </a:txBody>
                  <a:tcPr marL="45720" marR="45720" marT="45720" marB="45720" anchor="ctr">
                    <a:lnL>
                      <a:noFill/>
                    </a:lnL>
                    <a:lnR>
                      <a:noFill/>
                    </a:lnR>
                    <a:lnT>
                      <a:noFill/>
                    </a:lnT>
                    <a:lnB>
                      <a:noFill/>
                    </a:lnB>
                    <a:solidFill>
                      <a:srgbClr val="0F1E19"/>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Microsoft Copilot (M365)</a:t>
                      </a:r>
                      <a:endParaRPr/>
                    </a:p>
                  </a:txBody>
                  <a:tcPr marL="45720" marR="45720" marT="45720" marB="45720" anchor="ctr">
                    <a:lnL>
                      <a:noFill/>
                    </a:lnL>
                    <a:lnR>
                      <a:noFill/>
                    </a:lnR>
                    <a:lnT>
                      <a:noFill/>
                    </a:lnT>
                    <a:lnB>
                      <a:noFill/>
                    </a:lnB>
                    <a:solidFill>
                      <a:srgbClr val="0F1E19"/>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Self-built on Azure</a:t>
                      </a:r>
                      <a:endParaRPr/>
                    </a:p>
                  </a:txBody>
                  <a:tcPr marL="45720" marR="45720" marT="45720" marB="45720" anchor="ctr">
                    <a:lnL>
                      <a:noFill/>
                    </a:lnL>
                    <a:lnR>
                      <a:noFill/>
                    </a:lnR>
                    <a:lnT>
                      <a:noFill/>
                    </a:lnT>
                    <a:lnB>
                      <a:noFill/>
                    </a:lnB>
                    <a:solidFill>
                      <a:srgbClr val="0F1E19"/>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Fully offline, self-built</a:t>
                      </a:r>
                      <a:endParaRPr/>
                    </a:p>
                  </a:txBody>
                  <a:tcPr marL="45720" marR="45720" marT="45720" marB="45720" anchor="ctr">
                    <a:lnL>
                      <a:noFill/>
                    </a:lnL>
                    <a:lnR>
                      <a:noFill/>
                    </a:lnR>
                    <a:lnT>
                      <a:noFill/>
                    </a:lnT>
                    <a:lnB>
                      <a:noFill/>
                    </a:lnB>
                    <a:solidFill>
                      <a:srgbClr val="167762"/>
                    </a:solidFill>
                  </a:tcPr>
                </a:tc>
                <a:extLst>
                  <a:ext uri="{0D108BD9-81ED-4DB2-BD59-A6C34878D82A}">
                    <a16:rowId val="1"/>
                  </a:ext>
                </a:extLst>
              </a:tr>
              <a:tr h="544286">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Where the data lives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Your M365 tenant (Microsoft cloud)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Your Azure subscription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b="1">
                          <a:solidFill>
                            <a:srgbClr val="167762"/>
                          </a:solidFill>
                          <a:latin typeface="Microsoft YaHei"/>
                          <a:ea typeface="Microsoft YaHei"/>
                        </a:rPr>
                        <a:t>Your own data center</a:t>
                      </a:r>
                      <a:endParaRPr/>
                    </a:p>
                  </a:txBody>
                  <a:tcPr marL="45720" marR="45720" marT="45720" marB="45720" anchor="ctr">
                    <a:lnL>
                      <a:noFill/>
                    </a:lnL>
                    <a:lnR>
                      <a:noFill/>
                    </a:lnR>
                    <a:lnT>
                      <a:noFill/>
                    </a:lnT>
                    <a:lnB>
                      <a:noFill/>
                    </a:lnB>
                  </a:tcPr>
                </a:tc>
                <a:extLst>
                  <a:ext uri="{0D108BD9-81ED-4DB2-BD59-A6C34878D82A}">
                    <a16:rowId val="2"/>
                  </a:ext>
                </a:extLst>
              </a:tr>
              <a:tr h="544286">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Where permissions come from</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Reuses SharePoint / Entra permissions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Must be built yourself</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b="1">
                          <a:solidFill>
                            <a:srgbClr val="167762"/>
                          </a:solidFill>
                          <a:latin typeface="Microsoft YaHei"/>
                          <a:ea typeface="Microsoft YaHei"/>
                        </a:rPr>
                        <a:t>Must be built yourself</a:t>
                      </a:r>
                      <a:endParaRPr/>
                    </a:p>
                  </a:txBody>
                  <a:tcPr marL="45720" marR="45720" marT="45720" marB="45720" anchor="ctr">
                    <a:lnL>
                      <a:noFill/>
                    </a:lnL>
                    <a:lnR>
                      <a:noFill/>
                    </a:lnR>
                    <a:lnT>
                      <a:noFill/>
                    </a:lnT>
                    <a:lnB>
                      <a:noFill/>
                    </a:lnB>
                  </a:tcPr>
                </a:tc>
                <a:extLst>
                  <a:ext uri="{0D108BD9-81ED-4DB2-BD59-A6C34878D82A}">
                    <a16:rowId val="3"/>
                  </a:ext>
                </a:extLst>
              </a:tr>
              <a:tr h="544286">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Speed to go live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Fast: once licenses are in place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Medium: environment must be built first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Slow: needs hardware, images, and models</a:t>
                      </a:r>
                      <a:endParaRPr/>
                    </a:p>
                  </a:txBody>
                  <a:tcPr marL="45720" marR="45720" marT="45720" marB="45720" anchor="ctr">
                    <a:lnL>
                      <a:noFill/>
                    </a:lnL>
                    <a:lnR>
                      <a:noFill/>
                    </a:lnR>
                    <a:lnT>
                      <a:noFill/>
                    </a:lnT>
                    <a:lnB>
                      <a:noFill/>
                    </a:lnB>
                  </a:tcPr>
                </a:tc>
                <a:extLst>
                  <a:ext uri="{0D108BD9-81ED-4DB2-BD59-A6C34878D82A}">
                    <a16:rowId val="4"/>
                  </a:ext>
                </a:extLst>
              </a:tr>
              <a:tr h="544286">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Cost model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Per user per month</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Cloud resources + staff</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Hardware + staff</a:t>
                      </a:r>
                      <a:endParaRPr/>
                    </a:p>
                  </a:txBody>
                  <a:tcPr marL="45720" marR="45720" marT="45720" marB="45720" anchor="ctr">
                    <a:lnL>
                      <a:noFill/>
                    </a:lnL>
                    <a:lnR>
                      <a:noFill/>
                    </a:lnR>
                    <a:lnT>
                      <a:noFill/>
                    </a:lnT>
                    <a:lnB>
                      <a:noFill/>
                    </a:lnB>
                  </a:tcPr>
                </a:tc>
                <a:extLst>
                  <a:ext uri="{0D108BD9-81ED-4DB2-BD59-A6C34878D82A}">
                    <a16:rowId val="5"/>
                  </a:ext>
                </a:extLst>
              </a:tr>
              <a:tr h="544286">
                <a:tc>
                  <a:txBody>
                    <a:bodyPr wrap="square" lIns="0" tIns="0" rIns="0" bIns="0" anchor="ctr">
                      <a:normAutofit/>
                    </a:bodyPr>
                    <a:p>
                      <a:pPr marL="114300" marR="114300" algn="l">
                        <a:lnSpc>
                          <a:spcPct val="120000"/>
                        </a:lnSpc>
                      </a:pPr>
                      <a:r>
                        <a:rPr sz="1125" b="1">
                          <a:solidFill>
                            <a:srgbClr val="0F1E19"/>
                          </a:solidFill>
                          <a:latin typeface="Microsoft YaHei"/>
                          <a:ea typeface="Microsoft YaHei"/>
                        </a:rPr>
                        <a:t>Can data stay inside the network?</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b="1">
                          <a:solidFill>
                            <a:srgbClr val="C2410C"/>
                          </a:solidFill>
                          <a:latin typeface="Microsoft YaHei"/>
                          <a:ea typeface="Microsoft YaHei"/>
                        </a:rPr>
                        <a:t>No: data goes to the Microsoft cloud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b="1">
                          <a:solidFill>
                            <a:srgbClr val="C2410C"/>
                          </a:solidFill>
                          <a:latin typeface="Microsoft YaHei"/>
                          <a:ea typeface="Microsoft YaHei"/>
                        </a:rPr>
                        <a:t>No: data goes to Azure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b="1">
                          <a:solidFill>
                            <a:srgbClr val="167762"/>
                          </a:solidFill>
                          <a:latin typeface="Microsoft YaHei"/>
                          <a:ea typeface="Microsoft YaHei"/>
                        </a:rPr>
                        <a:t>Yes: fully inside the network</a:t>
                      </a:r>
                      <a:endParaRPr/>
                    </a:p>
                  </a:txBody>
                  <a:tcPr marL="45720" marR="45720" marT="45720" marB="45720" anchor="ctr">
                    <a:lnL>
                      <a:noFill/>
                    </a:lnL>
                    <a:lnR>
                      <a:noFill/>
                    </a:lnR>
                    <a:lnT>
                      <a:noFill/>
                    </a:lnT>
                    <a:lnB>
                      <a:noFill/>
                    </a:lnB>
                  </a:tcPr>
                </a:tc>
                <a:extLst>
                  <a:ext uri="{0D108BD9-81ED-4DB2-BD59-A6C34878D82A}">
                    <a16:rowId val="6"/>
                  </a:ext>
                </a:extLst>
              </a:tr>
              <a:tr h="544286">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Best for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Already on M365 and comfortable with the cloud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Needs customization and can use the cloud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Data must never leave the network</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229" name=""/>
          <p:cNvSpPr/>
          <p:nvPr/>
        </p:nvSpPr>
        <p:spPr>
          <a:xfrm rot="0" flipH="0" flipV="0">
            <a:off x="609600" y="5200650"/>
            <a:ext cx="10972800" cy="552450"/>
          </a:xfrm>
          <a:prstGeom prst="roundRect">
            <a:avLst>
              <a:gd name="adj" fmla="val 10345"/>
            </a:avLst>
          </a:prstGeom>
          <a:solidFill>
            <a:srgbClr val="C2410C">
              <a:alpha val="8000"/>
            </a:srgbClr>
          </a:solidFill>
          <a:ln/>
        </p:spPr>
        <p:txBody>
          <a:bodyPr/>
          <a:p/>
        </p:txBody>
      </p:sp>
      <p:sp>
        <p:nvSpPr>
          <p:cNvPr id="230" name="" descr="{&quot;isTemplate&quot;:true,&quot;type&quot;:&quot;text&quot;}"/>
          <p:cNvSpPr txBox="1"/>
          <p:nvPr/>
        </p:nvSpPr>
        <p:spPr>
          <a:xfrm rot="0" flipH="0" flipV="0">
            <a:off x="800100" y="5391150"/>
            <a:ext cx="285750" cy="171450"/>
          </a:xfrm>
          <a:prstGeom prst="rect"/>
        </p:spPr>
        <p:txBody>
          <a:bodyPr wrap="square" lIns="0" tIns="0" rIns="0" bIns="0"/>
          <a:p>
            <a:pPr>
              <a:lnSpc>
                <a:spcPct val="100000"/>
              </a:lnSpc>
            </a:pPr>
            <a:r>
              <a:rPr lang="zh-CN" sz="1125" b="1">
                <a:solidFill>
                  <a:srgbClr val="C2410C"/>
                </a:solidFill>
                <a:latin typeface="Microsoft YaHei"/>
                <a:ea typeface="Microsoft YaHei"/>
              </a:rPr>
              <a:t>Conclusion</a:t>
            </a:r>
            <a:endParaRPr/>
          </a:p>
        </p:txBody>
      </p:sp>
      <p:sp>
        <p:nvSpPr>
          <p:cNvPr id="231" name="" descr="{&quot;isTemplate&quot;:true,&quot;type&quot;:&quot;text&quot;}"/>
          <p:cNvSpPr txBox="1"/>
          <p:nvPr/>
        </p:nvSpPr>
        <p:spPr>
          <a:xfrm rot="0" flipH="0" flipV="0">
            <a:off x="1238250" y="5334000"/>
            <a:ext cx="7400925" cy="285750"/>
          </a:xfrm>
          <a:prstGeom prst="rect"/>
        </p:spPr>
        <p:txBody>
          <a:bodyPr wrap="square" lIns="0" tIns="0" rIns="0" bIns="0"/>
          <a:p>
            <a:pPr>
              <a:lnSpc>
                <a:spcPct val="155000"/>
              </a:lnSpc>
            </a:pPr>
            <a:r>
              <a:rPr lang="en-US" sz="1020">
                <a:solidFill>
                  <a:srgbClr val="0F1E19"/>
                </a:solidFill>
                <a:latin typeface="Microsoft YaHei"/>
                <a:ea typeface="Microsoft YaHei"/>
              </a:rPr>
              <a:t>"Stay inside the network" and "use cloud Copilot" are mutually exclusive. Decide this one first, or the architecture, budget, and timeline all have to be redone.</a:t>
            </a:r>
            <a:endParaRPr/>
          </a:p>
        </p:txBody>
      </p:sp>
      <p:sp>
        <p:nvSpPr>
          <p:cNvPr id="232"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233"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07 / 15</a:t>
            </a:r>
            <a:endParaRPr/>
          </a:p>
        </p:txBody>
      </p:sp>
    </p:spTree>
  </p:cSld>
</p:sld>
</file>

<file path=ppt/slides/slide8.xml><?xml version="1.0" encoding="utf-8"?>
<p:sld xmlns:p="http://schemas.openxmlformats.org/presentationml/2006/main" xmlns:a="http://schemas.openxmlformats.org/drawingml/2006/main">
  <p:cSld>
    <p:spTree>
      <p:nvGrpSpPr>
        <p:cNvPr id="234" name="" descr="&lt;Slide style={{ width: 1280, height: 720, background: '#FFFFFF', padding: '26px 64px 18px 64px', position: 'relative', fontFamily: 'Microsoft YaHei' }}&gt;&#13;&#10;    &lt;Box style={{ flexDirection: 'column', gap: 6, height: 100 }}&gt;&#13;&#10;        &lt;Text style={{ fontSize: 36, fontWeight: 'bold', color: '#0F1E19', lineHeight: 1.3 }}&gt;离线架构：一条边界，两条产线&lt;/Text&gt;&#13;&#10;        &lt;Text style={{ fontSize: 17, color: '#6B7A72', lineHeight: 1.5 }}&gt;代码怎么进来、知识怎么用，都在同一道边界里完成&lt;/Text&gt;&#13;&#10;    &lt;/Box&gt;&#13;&#10;    &lt;Box style={{ flexDirection: 'column', gap: 12, height: 520, justifyContent: 'space-between' }}&gt;&#13;&#10;        &lt;Box style={{ flexDirection: 'row', alignItems: 'center', gap: 12, height: 44, padding: '0 18px', background: 'rgba(194,65,12,0.08)', borderRadius: 6 }}&gt;&#13;&#10;            &lt;Text style={{ fontSize: 14, fontWeight: 'bold', color: '#C2410C' }}&gt;唯一出口&lt;/Text&gt;&#13;&#10;            &lt;Text style={{ fontSize: 15, color: '#0F1E19' }}&gt;补丁与镜像导入 · 时间同步 · 加密备份外送（全部白名单 + 留日志）&lt;/Text&gt;&#13;&#10;        &lt;/Box&gt;&#13;&#10;        &lt;Box style={{ flexDirection: 'column', height: 262, border: '2px dashed #167762', borderRadius: 10, padding: '14px 16px', gap: 8, position: 'relative' }}&gt;&#13;&#10;            &lt;Text style={{ fontSize: 14, color: '#167762', letterSpacing: 2 }}&gt;内网边界&lt;/Text&gt;&#13;&#10;            &lt;Text style={{ fontSize: 13, color: '#6B7A72' }}&gt;代码产线&lt;/Text&gt;&#13;&#10;            &lt;Box style={{ flexDirection: 'row', gap: 24 }}&gt;&#13;&#10;                &lt;Box style={{ width: 204, height: 66, background: 'rgba(22,119,98,0.09)', borderRadius: 6, padding: '8px 12px', flexDirection: 'column', justifyContent: 'center' }}&gt;&#13;&#10;                    &lt;Text style={{ fontSize: 16, fontWeight: 'bold', color: '#0F1E19' }}&gt;开发工作区&lt;/Text&gt;&#13;&#10;                    &lt;Text style={{ fontSize: 13, color: '#44534C' }}&gt;每人一个容器，同一镜像&lt;/Text&gt;&#13;&#10;                &lt;/Box&gt;&#13;&#10;                &lt;Box style={{ width: 204, height: 66, background: 'rgba(22,119,98,0.09)', borderRadius: 6, padding: '8px 12px', flexDirection: 'column', justifyContent: 'center' }}&gt;&#13;&#10;                    &lt;Text style={{ fontSize: 16, fontWeight: 'bold', color: '#0F1E19' }}&gt;内网 Git&lt;/Text&gt;&#13;&#10;                    &lt;Text style={{ fontSize: 13, color: '#44534C' }}&gt;自建 GitLab / Gitea&lt;/Text&gt;&#13;&#10;                &lt;/Box&gt;&#13;&#10;                &lt;Box style={{ width: 204, height: 66, background: 'rgba(22,119,98,0.09)', borderRadius: 6, padding: '8px 12px', flexDirection: 'column', justifyContent: 'center' }}&gt;&#13;&#10;                    &lt;Text style={{ fontSize: 16, fontWeight: 'bold', color: '#0F1E19' }}&gt;CI Runner&lt;/Text&gt;&#13;&#10;                    &lt;Text style={{ fontSize: 13, color: '#44534C' }}&gt;五道关卡在这里跑&lt;/Text&gt;&#13;&#10;                &lt;/Box&gt;&#13;&#10;                &lt;Box style={{ width: 204, height: 66, background: 'rgba(22,119,98,0.09)', borderRadius: 6, padding: '8px 12px', flexDirection: 'column', justifyContent: 'center' }}&gt;&#13;&#10;                    &lt;Text style={{ fontSize: 16, fontWeight: 'bold', color: '#0F1E19' }}&gt;制品库&lt;/Text&gt;&#13;&#10;                    &lt;Text style={{ fontSize: 13, color: '#44534C' }}&gt;镜像与依赖的内网源&lt;/Text&gt;&#13;&#10;                &lt;/Box&gt;&#13;&#10;                &lt;Box style={{ width: 204, height: 66, background: '#167762', borderRadius: 6, padding: '8px 12px', flexDirection: 'column', justifyContent: 'center' }}&gt;&#13;&#10;                    &lt;Text style={{ fontSize: 16, fontWeight: 'bold', color: '#FFFFFF' }}&gt;运行环境&lt;/Text&gt;&#13;&#10;                    &lt;Text style={{ fontSize: 13, color: 'rgba(255,255,255,0.82)' }}&gt;非 root · 只读 · 限额&lt;/Text&gt;&#13;&#10;                &lt;/Box&gt;&#13;&#10;            &lt;/Box&gt;&#13;&#10;            &lt;Text style={{ fontSize: 13, color: '#6B7A72', marginTop: 6 }}&gt;知识产线&lt;/Text&gt;&#13;&#10;            &lt;Box style={{ flexDirection: 'row', gap: 24 }}&gt;&#13;&#10;                &lt;Box style={{ width: 204, height: 66, background: 'rgba(22,119,98,0.09)', borderRadius: 6, padding: '8px 12px', flexDirection: 'column', justifyContent: 'center' }}&gt;&#13;&#10;                    &lt;Text style={{ fontSize: 16, fontWeight: 'bold', color: '#0F1E19' }}&gt;文档库&lt;/Text&gt;&#13;&#10;                    &lt;Text style={{ fontSize: 13, color: '#44534C' }}&gt;按部门 / 项目 / 密级打标&lt;/Text&gt;&#13;&#10;                &lt;/Box&gt;&#13;&#10;                &lt;Box style={{ width: 204, height: 66, background: 'rgba(22,119,98,0.09)', borderRadius: 6, padding: '8px 12px', flexDirection: 'column', justifyContent: 'center' }}&gt;&#13;&#10;                    &lt;Text style={{ fontSize: 16, fontWeight: 'bold', color: '#0F1E19' }}&gt;切块与向量化&lt;/Text&gt;&#13;&#10;                    &lt;Text style={{ fontSize: 13, color: '#44534C' }}&gt;本地 embedding 模型&lt;/Text&gt;&#13;&#10;                &lt;/Box&gt;&#13;&#10;                &lt;Box style={{ width: 204, height: 66, background: 'rgba(22,119,98,0.09)', borderRadius: 6, padding: '8px 12px', flexDirection: 'column', justifyContent: 'center' }}&gt;&#13;&#10;                    &lt;Text style={{ fontSize: 16, fontWeight: 'bold', color: '#0F1E19' }}&gt;向量索引&lt;/Text&gt;&#13;&#10;                    &lt;Text style={{ fontSize: 13, color: '#44534C' }}&gt;pgvector / Qdrant&lt;/Text&gt;&#13;&#10;                &lt;/Box&gt;&#13;&#10;                &lt;Box style={{ width: 204, height: 66, background: 'rgba(22,119,98,0.09)', borderRadius: 6, padding: '8px 12px', flexDirection: 'column', justifyContent: 'center' }}&gt;&#13;&#10;                    &lt;Text style={{ fontSize: 16, fontWeight: 'bold', color: '#0F1E19' }}&gt;本地大模型&lt;/Text&gt;&#13;&#10;                    &lt;Text style={{ fontSize: 13, color: '#44534C' }}&gt;Qwen，只监听回环&lt;/Text&gt;&#13;&#10;                &lt;/Box&gt;&#13;&#10;                &lt;Box style={{ width: 204, height: 66, background: 'rgba(22,119,98,0.09)', borderRadius: 6, padding: '8px 12px', flexDirection: 'column', justifyContent: 'center' }}&gt;&#13;&#10;                    &lt;Text style={{ fontSize: 16, fontWeight: 'bold', color: '#0F1E19' }}&gt;问答服务&lt;/Text&gt;&#13;&#10;                    &lt;Text style={{ fontSize: 13, color: '#44534C' }}&gt;带引用，可拒答&lt;/Text&gt;&#13;&#10;                &lt;/Box&gt;&#13;&#10;            &lt;/Box&gt;&#13;&#10;        &lt;/Box&gt;&#13;&#10;        &lt;Box style={{ flexDirection: 'row', gap: 16 }}&gt;&#13;&#10;            &lt;Box style={{ flex: 1, padding: '12px 16px', background: 'rgba(15,30,25,0.04)', borderRadius: 6, flexDirection: 'column', gap: 4 }}&gt;&#13;&#10;                &lt;Text style={{ fontSize: 16, fontWeight: 'bold', color: '#0F1E19' }}&gt;边界不是防火墙&lt;/Text&gt;&#13;&#10;                &lt;Text style={{ fontSize: 14, color: '#44534C', lineHeight: 1.55 }}&gt;真正管住风险的是出站通道：默认拒绝、白名单放行、每条出站留日志。&lt;/Text&gt;&#13;&#10;            &lt;/Box&gt;&#13;&#10;            &lt;Box style={{ flex: 1, padding: '12px 16px', background: 'rgba(15,30,25,0.04)', borderRadius: 6, flexDirection: 'column', gap: 4 }}&gt;&#13;&#10;                &lt;Text style={{ fontSize: 16, fontWeight: 'bold', color: '#0F1E19' }}&gt;依赖要自建镜像源&lt;/Text&gt;&#13;&#10;                &lt;Text style={{ fontSize: 14, color: '#44534C', lineHeight: 1.55 }}&gt;npm / pip / 容器镜像必须有内网源，否则一条 install 就卡死，开发直接停摆。&lt;/Text&gt;&#13;&#10;            &lt;/Box&gt;&#13;&#10;            &lt;Box style={{ flex: 1, padding: '12px 16px', background: 'rgba(15,30,25,0.04)', borderRadius: 6, flexDirection: 'column', gap: 4 }}&gt;&#13;&#10;                &lt;Text style={{ fontSize: 16, fontWeight: 'bold', color: '#0F1E19' }}&gt;模型不出网&lt;/Text&gt;&#13;&#10;                &lt;Text style={{ fontSize: 14, color: '#44534C', lineHeight: 1.55 }}&gt;推理走本机回环，代码里写死地址校验，配成外部地址直接拒绝。&lt;/Text&gt;&#13;&#10;            &lt;/Box&gt;&#13;&#10;        &lt;/Box&gt;&#13;&#10;    &lt;/Box&gt;&#13;&#10;    &lt;Box style={{ position: 'absolute', left: 64, right: 64, bottom: 12, flexDirection: 'row', justifyContent: 'space-between' }}&gt;&#13;&#10;        &lt;Text style={{ fontSize: 14, color: '#6B7A72' }}&gt;SENTINEL · 安全开发环境方案&lt;/Text&gt;&#13;&#10;        &lt;Text style={{ fontSize: 14, color: '#6B7A72', fontFamily: 'Consolas' }}&gt;08 / 15&lt;/Text&gt;&#13;&#10;    &lt;/Box&gt;&#13;&#10;&lt;/Slide&gt;&#13;&#10;"/>
        <p:cNvGrpSpPr/>
        <p:nvPr/>
      </p:nvGrpSpPr>
      <p:grpSpPr>
        <a:xfrm>
          <a:off x="0" y="0"/>
          <a:ext cx="0" cy="0"/>
          <a:chOff x="0" y="0"/>
          <a:chExt cx="0" cy="0"/>
        </a:xfrm>
      </p:grpSpPr>
      <p:sp>
        <p:nvSpPr>
          <p:cNvPr id="235" name=""/>
          <p:cNvSpPr/>
          <p:nvPr/>
        </p:nvSpPr>
        <p:spPr>
          <a:xfrm rot="0" flipH="0" flipV="0">
            <a:off x="0" y="0"/>
            <a:ext cx="12192000" cy="6858000"/>
          </a:xfrm>
          <a:prstGeom prst="rect">
            <a:avLst/>
          </a:prstGeom>
          <a:solidFill>
            <a:srgbClr val="FFFFFF"/>
          </a:solidFill>
          <a:ln/>
        </p:spPr>
        <p:txBody>
          <a:bodyPr/>
          <a:p/>
        </p:txBody>
      </p:sp>
      <p:sp>
        <p:nvSpPr>
          <p:cNvPr id="236"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Offline Architecture: One Boundary, Two Pipelines</a:t>
            </a:r>
            <a:endParaRPr/>
          </a:p>
        </p:txBody>
      </p:sp>
      <p:sp>
        <p:nvSpPr>
          <p:cNvPr id="237"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How code gets in and how knowledge gets used both happen inside the same boundary</a:t>
            </a:r>
            <a:endParaRPr/>
          </a:p>
        </p:txBody>
      </p:sp>
      <p:sp>
        <p:nvSpPr>
          <p:cNvPr id="238" name=""/>
          <p:cNvSpPr/>
          <p:nvPr/>
        </p:nvSpPr>
        <p:spPr>
          <a:xfrm rot="0" flipH="0" flipV="0">
            <a:off x="609600" y="1200150"/>
            <a:ext cx="10972800" cy="419100"/>
          </a:xfrm>
          <a:prstGeom prst="roundRect">
            <a:avLst>
              <a:gd name="adj" fmla="val 13636"/>
            </a:avLst>
          </a:prstGeom>
          <a:solidFill>
            <a:srgbClr val="C2410C">
              <a:alpha val="8000"/>
            </a:srgbClr>
          </a:solidFill>
          <a:ln/>
        </p:spPr>
        <p:txBody>
          <a:bodyPr/>
          <a:p/>
        </p:txBody>
      </p:sp>
      <p:sp>
        <p:nvSpPr>
          <p:cNvPr id="239" name="" descr="{&quot;isTemplate&quot;:true,&quot;type&quot;:&quot;text&quot;}"/>
          <p:cNvSpPr txBox="1"/>
          <p:nvPr/>
        </p:nvSpPr>
        <p:spPr>
          <a:xfrm rot="0" flipH="0" flipV="0">
            <a:off x="781050" y="1333500"/>
            <a:ext cx="651205" cy="161925"/>
          </a:xfrm>
          <a:prstGeom prst="rect"/>
        </p:spPr>
        <p:txBody>
          <a:bodyPr wrap="none" lIns="0" tIns="0" rIns="0" bIns="0"/>
          <a:p>
            <a:pPr>
              <a:lnSpc>
                <a:spcPct val="100000"/>
              </a:lnSpc>
            </a:pPr>
            <a:r>
              <a:rPr lang="zh-CN" sz="1050" b="1">
                <a:solidFill>
                  <a:srgbClr val="C2410C"/>
                </a:solidFill>
                <a:latin typeface="Microsoft YaHei"/>
                <a:ea typeface="Microsoft YaHei"/>
              </a:rPr>
              <a:t>Only exit</a:t>
            </a:r>
            <a:endParaRPr/>
          </a:p>
        </p:txBody>
      </p:sp>
      <p:sp>
        <p:nvSpPr>
          <p:cNvPr id="240" name="" descr="{&quot;isTemplate&quot;:true,&quot;type&quot;:&quot;text&quot;}"/>
          <p:cNvSpPr txBox="1"/>
          <p:nvPr/>
        </p:nvSpPr>
        <p:spPr>
          <a:xfrm rot="0" flipH="0" flipV="0">
            <a:off x="1428750" y="1323975"/>
            <a:ext cx="6176069" cy="171450"/>
          </a:xfrm>
          <a:prstGeom prst="rect"/>
        </p:spPr>
        <p:txBody>
          <a:bodyPr wrap="none" lIns="0" tIns="0" rIns="0" bIns="0"/>
          <a:p>
            <a:pPr>
              <a:lnSpc>
                <a:spcPct val="100000"/>
              </a:lnSpc>
            </a:pPr>
            <a:r>
              <a:rPr lang="zh-CN" sz="1125">
                <a:solidFill>
                  <a:srgbClr val="0F1E19"/>
                </a:solidFill>
                <a:latin typeface="Microsoft YaHei"/>
                <a:ea typeface="Microsoft YaHei"/>
              </a:rPr>
              <a:t>Patch and image import · time sync · encrypted backup export (all allowlisted and logged)</a:t>
            </a:r>
            <a:endParaRPr/>
          </a:p>
        </p:txBody>
      </p:sp>
      <p:sp>
        <p:nvSpPr>
          <p:cNvPr id="241" name=""/>
          <p:cNvSpPr/>
          <p:nvPr/>
        </p:nvSpPr>
        <p:spPr>
          <a:xfrm rot="0" flipH="0" flipV="0">
            <a:off x="609600" y="5191125"/>
            <a:ext cx="3552825" cy="962025"/>
          </a:xfrm>
          <a:prstGeom prst="roundRect">
            <a:avLst>
              <a:gd name="adj" fmla="val 5941"/>
            </a:avLst>
          </a:prstGeom>
          <a:solidFill>
            <a:srgbClr val="0F1E19">
              <a:alpha val="4000"/>
            </a:srgbClr>
          </a:solidFill>
          <a:ln/>
        </p:spPr>
        <p:txBody>
          <a:bodyPr/>
          <a:p/>
        </p:txBody>
      </p:sp>
      <p:sp>
        <p:nvSpPr>
          <p:cNvPr id="242" name="" descr="{&quot;isTemplate&quot;:true,&quot;type&quot;:&quot;text&quot;}"/>
          <p:cNvSpPr txBox="1"/>
          <p:nvPr/>
        </p:nvSpPr>
        <p:spPr>
          <a:xfrm rot="0" flipH="0" flipV="0">
            <a:off x="762000" y="5305425"/>
            <a:ext cx="3248025" cy="190500"/>
          </a:xfrm>
          <a:prstGeom prst="rect"/>
        </p:spPr>
        <p:txBody>
          <a:bodyPr wrap="none" lIns="0" tIns="0" rIns="0" bIns="0"/>
          <a:p>
            <a:pPr>
              <a:lnSpc>
                <a:spcPct val="100000"/>
              </a:lnSpc>
            </a:pPr>
            <a:r>
              <a:rPr lang="zh-CN" sz="1200" b="1">
                <a:solidFill>
                  <a:srgbClr val="0F1E19"/>
                </a:solidFill>
                <a:latin typeface="Microsoft YaHei"/>
                <a:ea typeface="Microsoft YaHei"/>
              </a:rPr>
              <a:t>The boundary is not a firewall</a:t>
            </a:r>
            <a:endParaRPr/>
          </a:p>
        </p:txBody>
      </p:sp>
      <p:sp>
        <p:nvSpPr>
          <p:cNvPr id="243" name="" descr="{&quot;isTemplate&quot;:true,&quot;type&quot;:&quot;text&quot;}"/>
          <p:cNvSpPr txBox="1"/>
          <p:nvPr/>
        </p:nvSpPr>
        <p:spPr>
          <a:xfrm rot="0" flipH="0" flipV="0">
            <a:off x="762000" y="5534025"/>
            <a:ext cx="3248025" cy="504825"/>
          </a:xfrm>
          <a:prstGeom prst="rect"/>
        </p:spPr>
        <p:txBody>
          <a:bodyPr wrap="square" lIns="0" tIns="0" rIns="0" bIns="0">
            <a:normAutofit/>
          </a:bodyPr>
          <a:p>
            <a:pPr>
              <a:lnSpc>
                <a:spcPct val="155000"/>
              </a:lnSpc>
            </a:pPr>
            <a:r>
              <a:rPr lang="zh-CN" sz="1050">
                <a:solidFill>
                  <a:srgbClr val="44534C"/>
                </a:solidFill>
                <a:latin typeface="Microsoft YaHei"/>
                <a:ea typeface="Microsoft YaHei"/>
              </a:rPr>
              <a:t>What really controls risk is the outbound channel: deny by default, allow by allowlist, and log every outbound transfer.</a:t>
            </a:r>
            <a:endParaRPr/>
          </a:p>
        </p:txBody>
      </p:sp>
      <p:sp>
        <p:nvSpPr>
          <p:cNvPr id="244" name=""/>
          <p:cNvSpPr/>
          <p:nvPr/>
        </p:nvSpPr>
        <p:spPr>
          <a:xfrm rot="0" flipH="0" flipV="0">
            <a:off x="4314825" y="5191125"/>
            <a:ext cx="3562350" cy="962025"/>
          </a:xfrm>
          <a:prstGeom prst="roundRect">
            <a:avLst>
              <a:gd name="adj" fmla="val 5941"/>
            </a:avLst>
          </a:prstGeom>
          <a:solidFill>
            <a:srgbClr val="0F1E19">
              <a:alpha val="4000"/>
            </a:srgbClr>
          </a:solidFill>
          <a:ln/>
        </p:spPr>
        <p:txBody>
          <a:bodyPr/>
          <a:p/>
        </p:txBody>
      </p:sp>
      <p:sp>
        <p:nvSpPr>
          <p:cNvPr id="245" name="" descr="{&quot;isTemplate&quot;:true,&quot;type&quot;:&quot;text&quot;}"/>
          <p:cNvSpPr txBox="1"/>
          <p:nvPr/>
        </p:nvSpPr>
        <p:spPr>
          <a:xfrm rot="0" flipH="0" flipV="0">
            <a:off x="4467225" y="5305425"/>
            <a:ext cx="3257550" cy="190500"/>
          </a:xfrm>
          <a:prstGeom prst="rect"/>
        </p:spPr>
        <p:txBody>
          <a:bodyPr wrap="none" lIns="0" tIns="0" rIns="0" bIns="0"/>
          <a:p>
            <a:pPr>
              <a:lnSpc>
                <a:spcPct val="100000"/>
              </a:lnSpc>
            </a:pPr>
            <a:r>
              <a:rPr lang="zh-CN" sz="1200" b="1">
                <a:solidFill>
                  <a:srgbClr val="0F1E19"/>
                </a:solidFill>
                <a:latin typeface="Microsoft YaHei"/>
                <a:ea typeface="Microsoft YaHei"/>
              </a:rPr>
              <a:t>Dependencies need self-hosted mirrors</a:t>
            </a:r>
            <a:endParaRPr/>
          </a:p>
        </p:txBody>
      </p:sp>
      <p:sp>
        <p:nvSpPr>
          <p:cNvPr id="246" name="" descr="{&quot;isTemplate&quot;:true,&quot;type&quot;:&quot;text&quot;}"/>
          <p:cNvSpPr txBox="1"/>
          <p:nvPr/>
        </p:nvSpPr>
        <p:spPr>
          <a:xfrm rot="0" flipH="0" flipV="0">
            <a:off x="4467225" y="5534025"/>
            <a:ext cx="3257550" cy="504825"/>
          </a:xfrm>
          <a:prstGeom prst="rect"/>
        </p:spPr>
        <p:txBody>
          <a:bodyPr wrap="square" lIns="0" tIns="0" rIns="0" bIns="0">
            <a:normAutofit/>
          </a:bodyPr>
          <a:p>
            <a:pPr>
              <a:lnSpc>
                <a:spcPct val="155000"/>
              </a:lnSpc>
            </a:pPr>
            <a:r>
              <a:rPr lang="en-US" sz="1050">
                <a:solidFill>
                  <a:srgbClr val="44534C"/>
                </a:solidFill>
                <a:latin typeface="Microsoft YaHei"/>
                <a:ea typeface="Microsoft YaHei"/>
              </a:rPr>
              <a:t>npm, pip, and container images must have internal mirrors. Otherwise one install hangs and development stops.</a:t>
            </a:r>
            <a:endParaRPr/>
          </a:p>
        </p:txBody>
      </p:sp>
      <p:sp>
        <p:nvSpPr>
          <p:cNvPr id="247" name=""/>
          <p:cNvSpPr/>
          <p:nvPr/>
        </p:nvSpPr>
        <p:spPr>
          <a:xfrm rot="0" flipH="0" flipV="0">
            <a:off x="8029575" y="5191125"/>
            <a:ext cx="3552825" cy="962025"/>
          </a:xfrm>
          <a:prstGeom prst="roundRect">
            <a:avLst>
              <a:gd name="adj" fmla="val 5941"/>
            </a:avLst>
          </a:prstGeom>
          <a:solidFill>
            <a:srgbClr val="0F1E19">
              <a:alpha val="4000"/>
            </a:srgbClr>
          </a:solidFill>
          <a:ln/>
        </p:spPr>
        <p:txBody>
          <a:bodyPr/>
          <a:p/>
        </p:txBody>
      </p:sp>
      <p:sp>
        <p:nvSpPr>
          <p:cNvPr id="248" name="" descr="{&quot;isTemplate&quot;:true,&quot;type&quot;:&quot;text&quot;}"/>
          <p:cNvSpPr txBox="1"/>
          <p:nvPr/>
        </p:nvSpPr>
        <p:spPr>
          <a:xfrm rot="0" flipH="0" flipV="0">
            <a:off x="8181975" y="5305425"/>
            <a:ext cx="3248025" cy="190500"/>
          </a:xfrm>
          <a:prstGeom prst="rect"/>
        </p:spPr>
        <p:txBody>
          <a:bodyPr wrap="none" lIns="0" tIns="0" rIns="0" bIns="0"/>
          <a:p>
            <a:pPr>
              <a:lnSpc>
                <a:spcPct val="100000"/>
              </a:lnSpc>
            </a:pPr>
            <a:r>
              <a:rPr lang="zh-CN" sz="1200" b="1">
                <a:solidFill>
                  <a:srgbClr val="0F1E19"/>
                </a:solidFill>
                <a:latin typeface="Microsoft YaHei"/>
                <a:ea typeface="Microsoft YaHei"/>
              </a:rPr>
              <a:t>Models never go online</a:t>
            </a:r>
            <a:endParaRPr/>
          </a:p>
        </p:txBody>
      </p:sp>
      <p:sp>
        <p:nvSpPr>
          <p:cNvPr id="249" name="" descr="{&quot;isTemplate&quot;:true,&quot;type&quot;:&quot;text&quot;}"/>
          <p:cNvSpPr txBox="1"/>
          <p:nvPr/>
        </p:nvSpPr>
        <p:spPr>
          <a:xfrm rot="0" flipH="0" flipV="0">
            <a:off x="8181975" y="5534025"/>
            <a:ext cx="3248025" cy="504825"/>
          </a:xfrm>
          <a:prstGeom prst="rect"/>
        </p:spPr>
        <p:txBody>
          <a:bodyPr wrap="square" lIns="0" tIns="0" rIns="0" bIns="0">
            <a:normAutofit/>
          </a:bodyPr>
          <a:p>
            <a:pPr>
              <a:lnSpc>
                <a:spcPct val="155000"/>
              </a:lnSpc>
            </a:pPr>
            <a:r>
              <a:rPr lang="zh-CN" sz="1050">
                <a:solidFill>
                  <a:srgbClr val="44534C"/>
                </a:solidFill>
                <a:latin typeface="Microsoft YaHei"/>
                <a:ea typeface="Microsoft YaHei"/>
              </a:rPr>
              <a:t>Inference runs over local loopback. The address check is hard-coded, and an external address is rejected outright.</a:t>
            </a:r>
            <a:endParaRPr/>
          </a:p>
        </p:txBody>
      </p:sp>
      <p:sp>
        <p:nvSpPr>
          <p:cNvPr id="250" name=""/>
          <p:cNvSpPr/>
          <p:nvPr/>
        </p:nvSpPr>
        <p:spPr>
          <a:xfrm rot="0" flipH="0" flipV="0">
            <a:off x="609600" y="2162175"/>
            <a:ext cx="10972800" cy="2495550"/>
          </a:xfrm>
          <a:prstGeom prst="roundRect">
            <a:avLst>
              <a:gd name="adj" fmla="val 3817"/>
            </a:avLst>
          </a:prstGeom>
          <a:ln w="25400">
            <a:solidFill>
              <a:srgbClr val="167762"/>
            </a:solidFill>
            <a:prstDash val="dash"/>
          </a:ln>
        </p:spPr>
        <p:txBody>
          <a:bodyPr/>
          <a:p/>
        </p:txBody>
      </p:sp>
      <p:sp>
        <p:nvSpPr>
          <p:cNvPr id="251" name="" descr="{&quot;isTemplate&quot;:true,&quot;type&quot;:&quot;text&quot;}"/>
          <p:cNvSpPr txBox="1"/>
          <p:nvPr/>
        </p:nvSpPr>
        <p:spPr>
          <a:xfrm rot="0" flipH="0" flipV="0">
            <a:off x="762000" y="2295525"/>
            <a:ext cx="10668000" cy="161925"/>
          </a:xfrm>
          <a:prstGeom prst="rect"/>
        </p:spPr>
        <p:txBody>
          <a:bodyPr wrap="none" lIns="0" tIns="0" rIns="0" bIns="0"/>
          <a:p>
            <a:pPr>
              <a:lnSpc>
                <a:spcPct val="100000"/>
              </a:lnSpc>
            </a:pPr>
            <a:r>
              <a:rPr lang="zh-CN" sz="1050" spc="150">
                <a:solidFill>
                  <a:srgbClr val="167762"/>
                </a:solidFill>
                <a:latin typeface="Microsoft YaHei"/>
                <a:ea typeface="Microsoft YaHei"/>
              </a:rPr>
              <a:t>Internal network boundary</a:t>
            </a:r>
            <a:endParaRPr/>
          </a:p>
        </p:txBody>
      </p:sp>
      <p:sp>
        <p:nvSpPr>
          <p:cNvPr id="252" name="" descr="{&quot;isTemplate&quot;:true,&quot;type&quot;:&quot;text&quot;}"/>
          <p:cNvSpPr txBox="1"/>
          <p:nvPr/>
        </p:nvSpPr>
        <p:spPr>
          <a:xfrm rot="0" flipH="0" flipV="0">
            <a:off x="762000" y="2533650"/>
            <a:ext cx="10668000" cy="152400"/>
          </a:xfrm>
          <a:prstGeom prst="rect"/>
        </p:spPr>
        <p:txBody>
          <a:bodyPr wrap="none" lIns="0" tIns="0" rIns="0" bIns="0"/>
          <a:p>
            <a:pPr>
              <a:lnSpc>
                <a:spcPct val="100000"/>
              </a:lnSpc>
            </a:pPr>
            <a:r>
              <a:rPr lang="zh-CN" sz="975">
                <a:solidFill>
                  <a:srgbClr val="6B7A72"/>
                </a:solidFill>
                <a:latin typeface="Microsoft YaHei"/>
                <a:ea typeface="Microsoft YaHei"/>
              </a:rPr>
              <a:t>Code pipeline</a:t>
            </a:r>
            <a:endParaRPr/>
          </a:p>
        </p:txBody>
      </p:sp>
      <p:sp>
        <p:nvSpPr>
          <p:cNvPr id="253" name=""/>
          <p:cNvSpPr/>
          <p:nvPr/>
        </p:nvSpPr>
        <p:spPr>
          <a:xfrm rot="0" flipH="0" flipV="0">
            <a:off x="762000" y="2762250"/>
            <a:ext cx="1943100" cy="628650"/>
          </a:xfrm>
          <a:prstGeom prst="roundRect">
            <a:avLst>
              <a:gd name="adj" fmla="val 9091"/>
            </a:avLst>
          </a:prstGeom>
          <a:solidFill>
            <a:srgbClr val="167762">
              <a:alpha val="9000"/>
            </a:srgbClr>
          </a:solidFill>
          <a:ln/>
        </p:spPr>
        <p:txBody>
          <a:bodyPr/>
          <a:p/>
        </p:txBody>
      </p:sp>
      <p:sp>
        <p:nvSpPr>
          <p:cNvPr id="254" name="" descr="{&quot;isTemplate&quot;:true,&quot;type&quot;:&quot;text&quot;}"/>
          <p:cNvSpPr txBox="1"/>
          <p:nvPr/>
        </p:nvSpPr>
        <p:spPr>
          <a:xfrm rot="0" flipH="0" flipV="0">
            <a:off x="876300" y="29051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Dev workspace</a:t>
            </a:r>
            <a:endParaRPr/>
          </a:p>
        </p:txBody>
      </p:sp>
      <p:sp>
        <p:nvSpPr>
          <p:cNvPr id="255" name="" descr="{&quot;isTemplate&quot;:true,&quot;type&quot;:&quot;text&quot;}"/>
          <p:cNvSpPr txBox="1"/>
          <p:nvPr/>
        </p:nvSpPr>
        <p:spPr>
          <a:xfrm rot="0" flipH="0" flipV="0">
            <a:off x="876300" y="30956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One container per person</a:t>
            </a:r>
            <a:endParaRPr/>
          </a:p>
        </p:txBody>
      </p:sp>
      <p:sp>
        <p:nvSpPr>
          <p:cNvPr id="256" name=""/>
          <p:cNvSpPr/>
          <p:nvPr/>
        </p:nvSpPr>
        <p:spPr>
          <a:xfrm rot="0" flipH="0" flipV="0">
            <a:off x="2933700" y="2762250"/>
            <a:ext cx="1943100" cy="628650"/>
          </a:xfrm>
          <a:prstGeom prst="roundRect">
            <a:avLst>
              <a:gd name="adj" fmla="val 9091"/>
            </a:avLst>
          </a:prstGeom>
          <a:solidFill>
            <a:srgbClr val="167762">
              <a:alpha val="9000"/>
            </a:srgbClr>
          </a:solidFill>
          <a:ln/>
        </p:spPr>
        <p:txBody>
          <a:bodyPr/>
          <a:p/>
        </p:txBody>
      </p:sp>
      <p:sp>
        <p:nvSpPr>
          <p:cNvPr id="257" name="" descr="{&quot;isTemplate&quot;:true,&quot;type&quot;:&quot;text&quot;}"/>
          <p:cNvSpPr txBox="1"/>
          <p:nvPr/>
        </p:nvSpPr>
        <p:spPr>
          <a:xfrm rot="0" flipH="0" flipV="0">
            <a:off x="3048000" y="29051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Internal Git</a:t>
            </a:r>
            <a:endParaRPr/>
          </a:p>
        </p:txBody>
      </p:sp>
      <p:sp>
        <p:nvSpPr>
          <p:cNvPr id="258" name="" descr="{&quot;isTemplate&quot;:true,&quot;type&quot;:&quot;text&quot;}"/>
          <p:cNvSpPr txBox="1"/>
          <p:nvPr/>
        </p:nvSpPr>
        <p:spPr>
          <a:xfrm rot="0" flipH="0" flipV="0">
            <a:off x="3048000" y="30956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Self-hosted GitLab / Gitea</a:t>
            </a:r>
            <a:endParaRPr/>
          </a:p>
        </p:txBody>
      </p:sp>
      <p:sp>
        <p:nvSpPr>
          <p:cNvPr id="259" name=""/>
          <p:cNvSpPr/>
          <p:nvPr/>
        </p:nvSpPr>
        <p:spPr>
          <a:xfrm rot="0" flipH="0" flipV="0">
            <a:off x="5105400" y="2762250"/>
            <a:ext cx="1943100" cy="628650"/>
          </a:xfrm>
          <a:prstGeom prst="roundRect">
            <a:avLst>
              <a:gd name="adj" fmla="val 9091"/>
            </a:avLst>
          </a:prstGeom>
          <a:solidFill>
            <a:srgbClr val="167762">
              <a:alpha val="9000"/>
            </a:srgbClr>
          </a:solidFill>
          <a:ln/>
        </p:spPr>
        <p:txBody>
          <a:bodyPr/>
          <a:p/>
        </p:txBody>
      </p:sp>
      <p:sp>
        <p:nvSpPr>
          <p:cNvPr id="260" name="" descr="{&quot;isTemplate&quot;:true,&quot;type&quot;:&quot;text&quot;}"/>
          <p:cNvSpPr txBox="1"/>
          <p:nvPr/>
        </p:nvSpPr>
        <p:spPr>
          <a:xfrm rot="0" flipH="0" flipV="0">
            <a:off x="5219700" y="2905125"/>
            <a:ext cx="1714500" cy="190500"/>
          </a:xfrm>
          <a:prstGeom prst="rect"/>
        </p:spPr>
        <p:txBody>
          <a:bodyPr wrap="none" lIns="0" tIns="0" rIns="0" bIns="0"/>
          <a:p>
            <a:pPr>
              <a:lnSpc>
                <a:spcPct val="100000"/>
              </a:lnSpc>
            </a:pPr>
            <a:r>
              <a:rPr lang="en-US" sz="1200" b="1">
                <a:solidFill>
                  <a:srgbClr val="0F1E19"/>
                </a:solidFill>
                <a:latin typeface="Microsoft YaHei"/>
                <a:ea typeface="Microsoft YaHei"/>
              </a:rPr>
              <a:t>CI runner</a:t>
            </a:r>
            <a:endParaRPr/>
          </a:p>
        </p:txBody>
      </p:sp>
      <p:sp>
        <p:nvSpPr>
          <p:cNvPr id="261" name="" descr="{&quot;isTemplate&quot;:true,&quot;type&quot;:&quot;text&quot;}"/>
          <p:cNvSpPr txBox="1"/>
          <p:nvPr/>
        </p:nvSpPr>
        <p:spPr>
          <a:xfrm rot="0" flipH="0" flipV="0">
            <a:off x="5219700" y="30956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The five gates run here</a:t>
            </a:r>
            <a:endParaRPr/>
          </a:p>
        </p:txBody>
      </p:sp>
      <p:sp>
        <p:nvSpPr>
          <p:cNvPr id="262" name=""/>
          <p:cNvSpPr/>
          <p:nvPr/>
        </p:nvSpPr>
        <p:spPr>
          <a:xfrm rot="0" flipH="0" flipV="0">
            <a:off x="7277100" y="2762250"/>
            <a:ext cx="1943100" cy="628650"/>
          </a:xfrm>
          <a:prstGeom prst="roundRect">
            <a:avLst>
              <a:gd name="adj" fmla="val 9091"/>
            </a:avLst>
          </a:prstGeom>
          <a:solidFill>
            <a:srgbClr val="167762">
              <a:alpha val="9000"/>
            </a:srgbClr>
          </a:solidFill>
          <a:ln/>
        </p:spPr>
        <p:txBody>
          <a:bodyPr/>
          <a:p/>
        </p:txBody>
      </p:sp>
      <p:sp>
        <p:nvSpPr>
          <p:cNvPr id="263" name="" descr="{&quot;isTemplate&quot;:true,&quot;type&quot;:&quot;text&quot;}"/>
          <p:cNvSpPr txBox="1"/>
          <p:nvPr/>
        </p:nvSpPr>
        <p:spPr>
          <a:xfrm rot="0" flipH="0" flipV="0">
            <a:off x="7391400" y="29051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Artifact store</a:t>
            </a:r>
            <a:endParaRPr/>
          </a:p>
        </p:txBody>
      </p:sp>
      <p:sp>
        <p:nvSpPr>
          <p:cNvPr id="264" name="" descr="{&quot;isTemplate&quot;:true,&quot;type&quot;:&quot;text&quot;}"/>
          <p:cNvSpPr txBox="1"/>
          <p:nvPr/>
        </p:nvSpPr>
        <p:spPr>
          <a:xfrm rot="0" flipH="0" flipV="0">
            <a:off x="7391400" y="30956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Internal package mirror</a:t>
            </a:r>
            <a:endParaRPr/>
          </a:p>
        </p:txBody>
      </p:sp>
      <p:sp>
        <p:nvSpPr>
          <p:cNvPr id="265" name=""/>
          <p:cNvSpPr/>
          <p:nvPr/>
        </p:nvSpPr>
        <p:spPr>
          <a:xfrm rot="0" flipH="0" flipV="0">
            <a:off x="9448800" y="2762250"/>
            <a:ext cx="1943100" cy="628650"/>
          </a:xfrm>
          <a:prstGeom prst="roundRect">
            <a:avLst>
              <a:gd name="adj" fmla="val 9091"/>
            </a:avLst>
          </a:prstGeom>
          <a:solidFill>
            <a:srgbClr val="167762"/>
          </a:solidFill>
          <a:ln/>
        </p:spPr>
        <p:txBody>
          <a:bodyPr/>
          <a:p/>
        </p:txBody>
      </p:sp>
      <p:sp>
        <p:nvSpPr>
          <p:cNvPr id="266" name="" descr="{&quot;isTemplate&quot;:true,&quot;type&quot;:&quot;text&quot;}"/>
          <p:cNvSpPr txBox="1"/>
          <p:nvPr/>
        </p:nvSpPr>
        <p:spPr>
          <a:xfrm rot="0" flipH="0" flipV="0">
            <a:off x="9563100" y="2905125"/>
            <a:ext cx="1714500" cy="190500"/>
          </a:xfrm>
          <a:prstGeom prst="rect"/>
        </p:spPr>
        <p:txBody>
          <a:bodyPr wrap="none" lIns="0" tIns="0" rIns="0" bIns="0"/>
          <a:p>
            <a:pPr>
              <a:lnSpc>
                <a:spcPct val="100000"/>
              </a:lnSpc>
            </a:pPr>
            <a:r>
              <a:rPr lang="zh-CN" sz="1200" b="1">
                <a:solidFill>
                  <a:srgbClr val="FFFFFF"/>
                </a:solidFill>
                <a:latin typeface="Microsoft YaHei"/>
                <a:ea typeface="Microsoft YaHei"/>
              </a:rPr>
              <a:t>Runtime</a:t>
            </a:r>
            <a:endParaRPr/>
          </a:p>
        </p:txBody>
      </p:sp>
      <p:sp>
        <p:nvSpPr>
          <p:cNvPr id="267" name="" descr="{&quot;isTemplate&quot;:true,&quot;type&quot;:&quot;text&quot;}"/>
          <p:cNvSpPr txBox="1"/>
          <p:nvPr/>
        </p:nvSpPr>
        <p:spPr>
          <a:xfrm rot="0" flipH="0" flipV="0">
            <a:off x="9563100" y="3095625"/>
            <a:ext cx="1714500" cy="152400"/>
          </a:xfrm>
          <a:prstGeom prst="rect"/>
        </p:spPr>
        <p:txBody>
          <a:bodyPr wrap="none" lIns="0" tIns="0" rIns="0" bIns="0"/>
          <a:p>
            <a:pPr>
              <a:lnSpc>
                <a:spcPct val="100000"/>
              </a:lnSpc>
            </a:pPr>
            <a:r>
              <a:rPr lang="zh-CN" sz="975">
                <a:solidFill>
                  <a:srgbClr val="FFFFFF">
                    <a:alpha val="82000"/>
                  </a:srgbClr>
                </a:solidFill>
                <a:latin typeface="Microsoft YaHei"/>
                <a:ea typeface="Microsoft YaHei"/>
              </a:rPr>
              <a:t>Non-root · read-only</a:t>
            </a:r>
            <a:endParaRPr/>
          </a:p>
        </p:txBody>
      </p:sp>
      <p:sp>
        <p:nvSpPr>
          <p:cNvPr id="268" name="" descr="{&quot;isTemplate&quot;:true,&quot;type&quot;:&quot;text&quot;}"/>
          <p:cNvSpPr txBox="1"/>
          <p:nvPr/>
        </p:nvSpPr>
        <p:spPr>
          <a:xfrm rot="0" flipH="0" flipV="0">
            <a:off x="762000" y="3524250"/>
            <a:ext cx="10668000" cy="152400"/>
          </a:xfrm>
          <a:prstGeom prst="rect"/>
        </p:spPr>
        <p:txBody>
          <a:bodyPr wrap="none" lIns="0" tIns="0" rIns="0" bIns="0"/>
          <a:p>
            <a:pPr>
              <a:lnSpc>
                <a:spcPct val="100000"/>
              </a:lnSpc>
            </a:pPr>
            <a:r>
              <a:rPr lang="zh-CN" sz="975">
                <a:solidFill>
                  <a:srgbClr val="6B7A72"/>
                </a:solidFill>
                <a:latin typeface="Microsoft YaHei"/>
                <a:ea typeface="Microsoft YaHei"/>
              </a:rPr>
              <a:t>Knowledge pipeline</a:t>
            </a:r>
            <a:endParaRPr/>
          </a:p>
        </p:txBody>
      </p:sp>
      <p:sp>
        <p:nvSpPr>
          <p:cNvPr id="269" name=""/>
          <p:cNvSpPr/>
          <p:nvPr/>
        </p:nvSpPr>
        <p:spPr>
          <a:xfrm rot="0" flipH="0" flipV="0">
            <a:off x="762000" y="3752850"/>
            <a:ext cx="1943100" cy="628650"/>
          </a:xfrm>
          <a:prstGeom prst="roundRect">
            <a:avLst>
              <a:gd name="adj" fmla="val 9091"/>
            </a:avLst>
          </a:prstGeom>
          <a:solidFill>
            <a:srgbClr val="167762">
              <a:alpha val="9000"/>
            </a:srgbClr>
          </a:solidFill>
          <a:ln/>
        </p:spPr>
        <p:txBody>
          <a:bodyPr/>
          <a:p/>
        </p:txBody>
      </p:sp>
      <p:sp>
        <p:nvSpPr>
          <p:cNvPr id="270" name="" descr="{&quot;isTemplate&quot;:true,&quot;type&quot;:&quot;text&quot;}"/>
          <p:cNvSpPr txBox="1"/>
          <p:nvPr/>
        </p:nvSpPr>
        <p:spPr>
          <a:xfrm rot="0" flipH="0" flipV="0">
            <a:off x="876300" y="38957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Document store</a:t>
            </a:r>
            <a:endParaRPr/>
          </a:p>
        </p:txBody>
      </p:sp>
      <p:sp>
        <p:nvSpPr>
          <p:cNvPr id="271" name="" descr="{&quot;isTemplate&quot;:true,&quot;type&quot;:&quot;text&quot;}"/>
          <p:cNvSpPr txBox="1"/>
          <p:nvPr/>
        </p:nvSpPr>
        <p:spPr>
          <a:xfrm rot="0" flipH="0" flipV="0">
            <a:off x="876300" y="40862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Dept / project / level tags</a:t>
            </a:r>
            <a:endParaRPr/>
          </a:p>
        </p:txBody>
      </p:sp>
      <p:sp>
        <p:nvSpPr>
          <p:cNvPr id="272" name=""/>
          <p:cNvSpPr/>
          <p:nvPr/>
        </p:nvSpPr>
        <p:spPr>
          <a:xfrm rot="0" flipH="0" flipV="0">
            <a:off x="2933700" y="3752850"/>
            <a:ext cx="1943100" cy="628650"/>
          </a:xfrm>
          <a:prstGeom prst="roundRect">
            <a:avLst>
              <a:gd name="adj" fmla="val 9091"/>
            </a:avLst>
          </a:prstGeom>
          <a:solidFill>
            <a:srgbClr val="167762">
              <a:alpha val="9000"/>
            </a:srgbClr>
          </a:solidFill>
          <a:ln/>
        </p:spPr>
        <p:txBody>
          <a:bodyPr/>
          <a:p/>
        </p:txBody>
      </p:sp>
      <p:sp>
        <p:nvSpPr>
          <p:cNvPr id="273" name="" descr="{&quot;isTemplate&quot;:true,&quot;type&quot;:&quot;text&quot;}"/>
          <p:cNvSpPr txBox="1"/>
          <p:nvPr/>
        </p:nvSpPr>
        <p:spPr>
          <a:xfrm rot="0" flipH="0" flipV="0">
            <a:off x="3048000" y="3895725"/>
            <a:ext cx="2071446" cy="190500"/>
          </a:xfrm>
          <a:prstGeom prst="rect"/>
        </p:spPr>
        <p:txBody>
          <a:bodyPr wrap="none" lIns="0" tIns="0" rIns="0" bIns="0"/>
          <a:p>
            <a:pPr>
              <a:lnSpc>
                <a:spcPct val="100000"/>
              </a:lnSpc>
            </a:pPr>
            <a:r>
              <a:rPr lang="zh-CN" sz="1200" b="1">
                <a:solidFill>
                  <a:srgbClr val="0F1E19"/>
                </a:solidFill>
                <a:latin typeface="Microsoft YaHei"/>
                <a:ea typeface="Microsoft YaHei"/>
              </a:rPr>
              <a:t>Chunking and embedding</a:t>
            </a:r>
            <a:endParaRPr/>
          </a:p>
        </p:txBody>
      </p:sp>
      <p:sp>
        <p:nvSpPr>
          <p:cNvPr id="274" name="" descr="{&quot;isTemplate&quot;:true,&quot;type&quot;:&quot;text&quot;}"/>
          <p:cNvSpPr txBox="1"/>
          <p:nvPr/>
        </p:nvSpPr>
        <p:spPr>
          <a:xfrm rot="0" flipH="0" flipV="0">
            <a:off x="3048000" y="40862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Local embedding model</a:t>
            </a:r>
            <a:endParaRPr/>
          </a:p>
        </p:txBody>
      </p:sp>
      <p:sp>
        <p:nvSpPr>
          <p:cNvPr id="275" name=""/>
          <p:cNvSpPr/>
          <p:nvPr/>
        </p:nvSpPr>
        <p:spPr>
          <a:xfrm rot="0" flipH="0" flipV="0">
            <a:off x="5105400" y="3752850"/>
            <a:ext cx="1943100" cy="628650"/>
          </a:xfrm>
          <a:prstGeom prst="roundRect">
            <a:avLst>
              <a:gd name="adj" fmla="val 9091"/>
            </a:avLst>
          </a:prstGeom>
          <a:solidFill>
            <a:srgbClr val="167762">
              <a:alpha val="9000"/>
            </a:srgbClr>
          </a:solidFill>
          <a:ln/>
        </p:spPr>
        <p:txBody>
          <a:bodyPr/>
          <a:p/>
        </p:txBody>
      </p:sp>
      <p:sp>
        <p:nvSpPr>
          <p:cNvPr id="276" name="" descr="{&quot;isTemplate&quot;:true,&quot;type&quot;:&quot;text&quot;}"/>
          <p:cNvSpPr txBox="1"/>
          <p:nvPr/>
        </p:nvSpPr>
        <p:spPr>
          <a:xfrm rot="0" flipH="0" flipV="0">
            <a:off x="5219700" y="38957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Vector index</a:t>
            </a:r>
            <a:endParaRPr/>
          </a:p>
        </p:txBody>
      </p:sp>
      <p:sp>
        <p:nvSpPr>
          <p:cNvPr id="277" name="" descr="{&quot;isTemplate&quot;:true,&quot;type&quot;:&quot;text&quot;}"/>
          <p:cNvSpPr txBox="1"/>
          <p:nvPr/>
        </p:nvSpPr>
        <p:spPr>
          <a:xfrm rot="0" flipH="0" flipV="0">
            <a:off x="5219700" y="4086225"/>
            <a:ext cx="1714500" cy="152400"/>
          </a:xfrm>
          <a:prstGeom prst="rect"/>
        </p:spPr>
        <p:txBody>
          <a:bodyPr wrap="none" lIns="0" tIns="0" rIns="0" bIns="0"/>
          <a:p>
            <a:pPr>
              <a:lnSpc>
                <a:spcPct val="100000"/>
              </a:lnSpc>
            </a:pPr>
            <a:r>
              <a:rPr lang="en-US" sz="975">
                <a:solidFill>
                  <a:srgbClr val="44534C"/>
                </a:solidFill>
                <a:latin typeface="Microsoft YaHei"/>
                <a:ea typeface="Microsoft YaHei"/>
              </a:rPr>
              <a:t>pgvector / Qdrant</a:t>
            </a:r>
            <a:endParaRPr/>
          </a:p>
        </p:txBody>
      </p:sp>
      <p:sp>
        <p:nvSpPr>
          <p:cNvPr id="278" name=""/>
          <p:cNvSpPr/>
          <p:nvPr/>
        </p:nvSpPr>
        <p:spPr>
          <a:xfrm rot="0" flipH="0" flipV="0">
            <a:off x="7277100" y="3752850"/>
            <a:ext cx="1943100" cy="628650"/>
          </a:xfrm>
          <a:prstGeom prst="roundRect">
            <a:avLst>
              <a:gd name="adj" fmla="val 9091"/>
            </a:avLst>
          </a:prstGeom>
          <a:solidFill>
            <a:srgbClr val="167762">
              <a:alpha val="9000"/>
            </a:srgbClr>
          </a:solidFill>
          <a:ln/>
        </p:spPr>
        <p:txBody>
          <a:bodyPr/>
          <a:p/>
        </p:txBody>
      </p:sp>
      <p:sp>
        <p:nvSpPr>
          <p:cNvPr id="279" name="" descr="{&quot;isTemplate&quot;:true,&quot;type&quot;:&quot;text&quot;}"/>
          <p:cNvSpPr txBox="1"/>
          <p:nvPr/>
        </p:nvSpPr>
        <p:spPr>
          <a:xfrm rot="0" flipH="0" flipV="0">
            <a:off x="7391400" y="38957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Local LLM</a:t>
            </a:r>
            <a:endParaRPr/>
          </a:p>
        </p:txBody>
      </p:sp>
      <p:sp>
        <p:nvSpPr>
          <p:cNvPr id="280" name="" descr="{&quot;isTemplate&quot;:true,&quot;type&quot;:&quot;text&quot;}"/>
          <p:cNvSpPr txBox="1"/>
          <p:nvPr/>
        </p:nvSpPr>
        <p:spPr>
          <a:xfrm rot="0" flipH="0" flipV="0">
            <a:off x="7391400" y="4086225"/>
            <a:ext cx="1714500" cy="152400"/>
          </a:xfrm>
          <a:prstGeom prst="rect"/>
        </p:spPr>
        <p:txBody>
          <a:bodyPr wrap="none" lIns="0" tIns="0" rIns="0" bIns="0"/>
          <a:p>
            <a:pPr>
              <a:lnSpc>
                <a:spcPct val="100000"/>
              </a:lnSpc>
            </a:pPr>
            <a:r>
              <a:rPr lang="en-US" sz="975">
                <a:solidFill>
                  <a:srgbClr val="44534C"/>
                </a:solidFill>
                <a:latin typeface="Microsoft YaHei"/>
                <a:ea typeface="Microsoft YaHei"/>
              </a:rPr>
              <a:t>Qwen, loopback-only</a:t>
            </a:r>
            <a:endParaRPr/>
          </a:p>
        </p:txBody>
      </p:sp>
      <p:sp>
        <p:nvSpPr>
          <p:cNvPr id="281" name=""/>
          <p:cNvSpPr/>
          <p:nvPr/>
        </p:nvSpPr>
        <p:spPr>
          <a:xfrm rot="0" flipH="0" flipV="0">
            <a:off x="9448800" y="3752850"/>
            <a:ext cx="1943100" cy="628650"/>
          </a:xfrm>
          <a:prstGeom prst="roundRect">
            <a:avLst>
              <a:gd name="adj" fmla="val 9091"/>
            </a:avLst>
          </a:prstGeom>
          <a:solidFill>
            <a:srgbClr val="167762">
              <a:alpha val="9000"/>
            </a:srgbClr>
          </a:solidFill>
          <a:ln/>
        </p:spPr>
        <p:txBody>
          <a:bodyPr/>
          <a:p/>
        </p:txBody>
      </p:sp>
      <p:sp>
        <p:nvSpPr>
          <p:cNvPr id="282" name="" descr="{&quot;isTemplate&quot;:true,&quot;type&quot;:&quot;text&quot;}"/>
          <p:cNvSpPr txBox="1"/>
          <p:nvPr/>
        </p:nvSpPr>
        <p:spPr>
          <a:xfrm rot="0" flipH="0" flipV="0">
            <a:off x="9563100" y="3895725"/>
            <a:ext cx="1714500" cy="190500"/>
          </a:xfrm>
          <a:prstGeom prst="rect"/>
        </p:spPr>
        <p:txBody>
          <a:bodyPr wrap="none" lIns="0" tIns="0" rIns="0" bIns="0"/>
          <a:p>
            <a:pPr>
              <a:lnSpc>
                <a:spcPct val="100000"/>
              </a:lnSpc>
            </a:pPr>
            <a:r>
              <a:rPr lang="zh-CN" sz="1200" b="1">
                <a:solidFill>
                  <a:srgbClr val="0F1E19"/>
                </a:solidFill>
                <a:latin typeface="Microsoft YaHei"/>
                <a:ea typeface="Microsoft YaHei"/>
              </a:rPr>
              <a:t>Answer service</a:t>
            </a:r>
            <a:endParaRPr/>
          </a:p>
        </p:txBody>
      </p:sp>
      <p:sp>
        <p:nvSpPr>
          <p:cNvPr id="283" name="" descr="{&quot;isTemplate&quot;:true,&quot;type&quot;:&quot;text&quot;}"/>
          <p:cNvSpPr txBox="1"/>
          <p:nvPr/>
        </p:nvSpPr>
        <p:spPr>
          <a:xfrm rot="0" flipH="0" flipV="0">
            <a:off x="9563100" y="4086225"/>
            <a:ext cx="1714500" cy="152400"/>
          </a:xfrm>
          <a:prstGeom prst="rect"/>
        </p:spPr>
        <p:txBody>
          <a:bodyPr wrap="none" lIns="0" tIns="0" rIns="0" bIns="0"/>
          <a:p>
            <a:pPr>
              <a:lnSpc>
                <a:spcPct val="100000"/>
              </a:lnSpc>
            </a:pPr>
            <a:r>
              <a:rPr lang="zh-CN" sz="975">
                <a:solidFill>
                  <a:srgbClr val="44534C"/>
                </a:solidFill>
                <a:latin typeface="Microsoft YaHei"/>
                <a:ea typeface="Microsoft YaHei"/>
              </a:rPr>
              <a:t>Cited answers, or a refusal</a:t>
            </a:r>
            <a:endParaRPr/>
          </a:p>
        </p:txBody>
      </p:sp>
      <p:sp>
        <p:nvSpPr>
          <p:cNvPr id="284"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285"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08 / 15</a:t>
            </a:r>
            <a:endParaRPr/>
          </a:p>
        </p:txBody>
      </p:sp>
    </p:spTree>
  </p:cSld>
</p:sld>
</file>

<file path=ppt/slides/slide9.xml><?xml version="1.0" encoding="utf-8"?>
<p:sld xmlns:p="http://schemas.openxmlformats.org/presentationml/2006/main" xmlns:a="http://schemas.openxmlformats.org/drawingml/2006/main">
  <p:cSld>
    <p:spTree>
      <p:nvGrpSpPr>
        <p:cNvPr id="286" name="" descr="&lt;Slide style={{ width: 1280, height: 720, background: '#FFFFFF', padding: '26px 64px 18px 64px', position: 'relative', fontFamily: 'Microsoft YaHei' }}&gt;&#10;    &lt;Box style={{ flexDirection: 'column', gap: 6, height: 104 }}&gt;&#10;        &lt;Text style={{ fontSize: 36, fontWeight: 'bold', color: '#0F1E19', lineHeight: 1.3 }}&gt;五道关卡，卡在必经之路上&lt;/Text&gt;&#10;        &lt;Text style={{ fontSize: 17, color: '#6B7A72', lineHeight: 1.5 }}&gt;安全不是扫描器越多越好，是每一关都绕不过去&lt;/Text&gt;&#10;    &lt;/Box&gt;&#10;    &lt;Box style={{ flexDirection: 'row', gap: 40, height: 526 }}&gt;&#10;        &lt;Box style={{ width: 712, flexDirection: 'column', justifyContent: 'space-between' }}&gt;&#10;            &lt;Box style={{ flexDirection: 'row', gap: 16, alignItems: 'center', paddingBottom: 14, borderBottom: '1px solid rgba(15,30,25,0.10)' }}&gt;&#10;                &lt;Box style={{ width: 40, height: 40, borderRadius: 20, background: '#167762', alignItems: 'center', justifyContent: 'center' }}&gt;&#10;                    &lt;Text style={{ fontSize: 16, fontWeight: 'bold', color: '#FFFFFF', fontFamily: 'Consolas' }}&gt;1&lt;/Text&gt;&#10;                &lt;/Box&gt;&#10;                &lt;Box style={{ flex: 1, flexDirection: 'column', gap: 2 }}&gt;&#10;                    &lt;Text style={{ fontSize: 19, fontWeight: 'bold', color: '#0F1E19' }}&gt;统一环境&lt;/Text&gt;&#10;                    &lt;Text style={{ fontSize: 15, color: '#44534C' }}&gt;Dev Container + 固定版本，挡住&quot;我这能跑&quot;&lt;/Text&gt;&#10;                &lt;/Box&gt;&#10;                &lt;Text style={{ fontSize: 14, color: '#6B7A72', fontFamily: 'Consolas' }}&gt;写代码时&lt;/Text&gt;&#10;            &lt;/Box&gt;&#10;            &lt;Box style={{ flexDirection: 'row', gap: 16, alignItems: 'center', paddingBottom: 14, borderBottom: '1px solid rgba(15,30,25,0.10)' }}&gt;&#10;                &lt;Box style={{ width: 40, height: 40, borderRadius: 20, background: '#167762', alignItems: 'center', justifyContent: 'center' }}&gt;&#10;                    &lt;Text style={{ fontSize: 16, fontWeight: 'bold', color: '#FFFFFF', fontFamily: 'Consolas' }}&gt;2&lt;/Text&gt;&#10;                &lt;/Box&gt;&#10;                &lt;Box style={{ flex: 1, flexDirection: 'column', gap: 2 }}&gt;&#10;                    &lt;Text style={{ fontSize: 19, fontWeight: 'bold', color: '#0F1E19' }}&gt;提交前扫描&lt;/Text&gt;&#10;                    &lt;Text style={{ fontSize: 15, color: '#44534C' }}&gt;扫 Git 暂存区，挡住&quot;删了密钥但忘了 add&quot;&lt;/Text&gt;&#10;                &lt;/Box&gt;&#10;                &lt;Text style={{ fontSize: 14, color: '#6B7A72', fontFamily: 'Consolas' }}&gt;commit 时&lt;/Text&gt;&#10;            &lt;/Box&gt;&#10;            &lt;Box style={{ flexDirection: 'row', gap: 16, alignItems: 'center', paddingBottom: 14, borderBottom: '1px solid rgba(15,30,25,0.10)' }}&gt;&#10;                &lt;Box style={{ width: 40, height: 40, borderRadius: 20, background: '#167762', alignItems: 'center', justifyContent: 'center' }}&gt;&#10;                    &lt;Text style={{ fontSize: 16, fontWeight: 'bold', color: '#FFFFFF', fontFamily: 'Consolas' }}&gt;3&lt;/Text&gt;&#10;                &lt;/Box&gt;&#10;                &lt;Box style={{ flex: 1, flexDirection: 'column', gap: 2 }}&gt;&#10;                    &lt;Text style={{ fontSize: 19, fontWeight: 'bold', color: '#0F1E19' }}&gt;CI 五项并行&lt;/Text&gt;&#10;                    &lt;Text style={{ fontSize: 15, color: '#44534C' }}&gt;测试 / 历史密钥 / IaC / 依赖 / 镜像，挡住&quot;本地跳过&quot;&lt;/Text&gt;&#10;                &lt;/Box&gt;&#10;                &lt;Text style={{ fontSize: 14, color: '#6B7A72', fontFamily: 'Consolas' }}&gt;开 PR 时&lt;/Text&gt;&#10;            &lt;/Box&gt;&#10;            &lt;Box style={{ flexDirection: 'row', gap: 16, alignItems: 'center', paddingBottom: 14, borderBottom: '1px solid rgba(15,30,25,0.10)' }}&gt;&#10;                &lt;Box style={{ width: 40, height: 40, borderRadius: 20, background: 'rgba(194,65,12,0.12)', alignItems: 'center', justifyContent: 'center' }}&gt;&#10;                    &lt;Text style={{ fontSize: 16, fontWeight: 'bold', color: '#C2410C', fontFamily: 'Consolas' }}&gt;4&lt;/Text&gt;&#10;                &lt;/Box&gt;&#10;                &lt;Box style={{ flex: 1, flexDirection: 'column', gap: 2 }}&gt;&#10;                    &lt;Text style={{ fontSize: 19, fontWeight: 'bold', color: '#0F1E19' }}&gt;评审 + 分支保护&lt;/Text&gt;&#10;                    &lt;Text style={{ fontSize: 15, color: '#44534C' }}&gt;一人评审、禁强推，挡住&quot;直接推 main&quot;（模板未启用）&lt;/Text&gt;&#10;                &lt;/Box&gt;&#10;                &lt;Text style={{ fontSize: 14, color: '#C2410C', fontFamily: 'Consolas' }}&gt;待启用&lt;/Text&gt;&#10;            &lt;/Box&gt;&#10;            &lt;Box style={{ flexDirection: 'row', gap: 16, alignItems: 'center' }}&gt;&#10;                &lt;Box style={{ width: 40, height: 40, borderRadius: 20, background: '#167762', alignItems: 'center', justifyContent: 'center' }}&gt;&#10;                    &lt;Text style={{ fontSize: 16, fontWeight: 'bold', color: '#FFFFFF', fontFamily: 'Consolas' }}&gt;5&lt;/Text&gt;&#10;                &lt;/Box&gt;&#10;                &lt;Box style={{ flex: 1, flexDirection: 'column', gap: 2 }}&gt;&#10;                    &lt;Text style={{ fontSize: 19, fontWeight: 'bold', color: '#0F1E19' }}&gt;运行时加固&lt;/Text&gt;&#10;                    &lt;Text style={{ fontSize: 15, color: '#44534C' }}&gt;非 root、只读、无特权、限额，挡住&quot;漏洞变成事故&quot;&lt;/Text&gt;&#10;                &lt;/Box&gt;&#10;                &lt;Text style={{ fontSize: 14, color: '#6B7A72', fontFamily: 'Consolas' }}&gt;运行时&lt;/Text&gt;&#10;            &lt;/Box&gt;&#10;        &lt;/Box&gt;&#10;        &lt;Box style={{ flex: 1, flexDirection: 'column', justifyContent: 'center', gap: 10 }}&gt;&#10;            &lt;Text style={{ fontSize: 96, fontWeight: 'bold', color: '#167762', fontFamily: 'Consolas', lineHeight: 1 }}&gt;26&lt;/Text&gt;&#10;            &lt;Text style={{ fontSize: 20, fontWeight: 'bold', color: '#0F1E19' }}&gt;项自动化测试&lt;/Text&gt;&#10;            &lt;Text style={{ fontSize: 15, color: '#44534C', lineHeight: 1.65 }}&gt;每一道关卡都有对应的实测证据，不是流程图上的一个框。&lt;/Text&gt;&#10;            &lt;Box style={{ flexDirection: 'column', gap: 4, marginTop: 14, padding: 12, background: 'rgba(194,65,12,0.08)', borderRadius: 6 }}&gt;&#10;                &lt;Text style={{ fontSize: 14, fontWeight: 'bold', color: '#C2410C' }}&gt;第 4 道还差一步&lt;/Text&gt;&#10;                &lt;Text style={{ fontSize: 14, color: '#0F1E19', lineHeight: 1.55 }}&gt;模板已写好，需要仓库管理员在 GitHub 上应用后才生效。&lt;/Text&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09 / 15&lt;/Text&gt;&#10;    &lt;/Box&gt;&#10;&lt;/Slide&gt;&#10;"/>
        <p:cNvGrpSpPr/>
        <p:nvPr/>
      </p:nvGrpSpPr>
      <p:grpSpPr>
        <a:xfrm>
          <a:off x="0" y="0"/>
          <a:ext cx="0" cy="0"/>
          <a:chOff x="0" y="0"/>
          <a:chExt cx="0" cy="0"/>
        </a:xfrm>
      </p:grpSpPr>
      <p:sp>
        <p:nvSpPr>
          <p:cNvPr id="287" name=""/>
          <p:cNvSpPr/>
          <p:nvPr/>
        </p:nvSpPr>
        <p:spPr>
          <a:xfrm rot="0" flipH="0" flipV="0">
            <a:off x="0" y="0"/>
            <a:ext cx="12192000" cy="6858000"/>
          </a:xfrm>
          <a:prstGeom prst="rect">
            <a:avLst/>
          </a:prstGeom>
          <a:solidFill>
            <a:srgbClr val="FFFFFF"/>
          </a:solidFill>
          <a:ln/>
        </p:spPr>
        <p:txBody>
          <a:bodyPr/>
          <a:p/>
        </p:txBody>
      </p:sp>
      <p:sp>
        <p:nvSpPr>
          <p:cNvPr id="288"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Five Gates, Placed on the Mandatory Path</a:t>
            </a:r>
            <a:endParaRPr/>
          </a:p>
        </p:txBody>
      </p:sp>
      <p:sp>
        <p:nvSpPr>
          <p:cNvPr id="289"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Security is not about having more scanners; every gate has to be impossible to walk around</a:t>
            </a:r>
            <a:endParaRPr/>
          </a:p>
        </p:txBody>
      </p:sp>
      <p:sp>
        <p:nvSpPr>
          <p:cNvPr id="290" name=""/>
          <p:cNvSpPr/>
          <p:nvPr/>
        </p:nvSpPr>
        <p:spPr>
          <a:xfrm rot="0" flipH="0" flipV="0">
            <a:off x="609600" y="1238250"/>
            <a:ext cx="6781800" cy="561975"/>
          </a:xfrm>
          <a:custGeom>
            <a:pathLst>
              <a:path w="712" h="59">
                <a:moveTo>
                  <a:pt x="0" y="58"/>
                </a:moveTo>
                <a:lnTo>
                  <a:pt x="712" y="58"/>
                </a:lnTo>
                <a:lnTo>
                  <a:pt x="712" y="59"/>
                </a:lnTo>
                <a:lnTo>
                  <a:pt x="0" y="59"/>
                </a:lnTo>
                <a:close/>
              </a:path>
            </a:pathLst>
          </a:custGeom>
          <a:solidFill>
            <a:srgbClr val="0F1E19">
              <a:alpha val="10000"/>
            </a:srgbClr>
          </a:solidFill>
          <a:ln/>
        </p:spPr>
        <p:txBody>
          <a:bodyPr/>
          <a:p/>
        </p:txBody>
      </p:sp>
      <p:sp>
        <p:nvSpPr>
          <p:cNvPr id="291" name=""/>
          <p:cNvSpPr/>
          <p:nvPr/>
        </p:nvSpPr>
        <p:spPr>
          <a:xfrm rot="0" flipH="0" flipV="0">
            <a:off x="609600" y="1257300"/>
            <a:ext cx="381000" cy="381000"/>
          </a:xfrm>
          <a:prstGeom prst="roundRect">
            <a:avLst>
              <a:gd name="adj" fmla="val 50000"/>
            </a:avLst>
          </a:prstGeom>
          <a:solidFill>
            <a:srgbClr val="167762"/>
          </a:solidFill>
          <a:ln/>
        </p:spPr>
        <p:txBody>
          <a:bodyPr/>
          <a:p/>
        </p:txBody>
      </p:sp>
      <p:sp>
        <p:nvSpPr>
          <p:cNvPr id="292" name="" descr="{&quot;isTemplate&quot;:true,&quot;type&quot;:&quot;text&quot;}"/>
          <p:cNvSpPr txBox="1"/>
          <p:nvPr/>
        </p:nvSpPr>
        <p:spPr>
          <a:xfrm rot="0" flipH="0" flipV="0">
            <a:off x="762000" y="1352550"/>
            <a:ext cx="85725" cy="190500"/>
          </a:xfrm>
          <a:prstGeom prst="rect"/>
        </p:spPr>
        <p:txBody>
          <a:bodyPr wrap="none" lIns="0" tIns="0" rIns="0" bIns="0"/>
          <a:p>
            <a:pPr>
              <a:lnSpc>
                <a:spcPct val="100000"/>
              </a:lnSpc>
            </a:pPr>
            <a:r>
              <a:rPr lang="en-US" sz="1200" b="1">
                <a:solidFill>
                  <a:srgbClr val="FFFFFF"/>
                </a:solidFill>
                <a:latin typeface="Consolas"/>
                <a:ea typeface="Consolas"/>
              </a:rPr>
              <a:t>1</a:t>
            </a:r>
            <a:endParaRPr/>
          </a:p>
        </p:txBody>
      </p:sp>
      <p:sp>
        <p:nvSpPr>
          <p:cNvPr id="293" name="" descr="{&quot;isTemplate&quot;:true,&quot;type&quot;:&quot;text&quot;}"/>
          <p:cNvSpPr txBox="1"/>
          <p:nvPr/>
        </p:nvSpPr>
        <p:spPr>
          <a:xfrm rot="0" flipH="0" flipV="0">
            <a:off x="1143000" y="1238250"/>
            <a:ext cx="5295900" cy="219075"/>
          </a:xfrm>
          <a:prstGeom prst="rect"/>
        </p:spPr>
        <p:txBody>
          <a:bodyPr wrap="none" lIns="0" tIns="0" rIns="0" bIns="0"/>
          <a:p>
            <a:pPr>
              <a:lnSpc>
                <a:spcPct val="100000"/>
              </a:lnSpc>
            </a:pPr>
            <a:r>
              <a:rPr lang="zh-CN" sz="1425" b="1">
                <a:solidFill>
                  <a:srgbClr val="0F1E19"/>
                </a:solidFill>
                <a:latin typeface="Microsoft YaHei"/>
                <a:ea typeface="Microsoft YaHei"/>
              </a:rPr>
              <a:t>Unified environment</a:t>
            </a:r>
            <a:endParaRPr/>
          </a:p>
        </p:txBody>
      </p:sp>
      <p:sp>
        <p:nvSpPr>
          <p:cNvPr id="294" name="" descr="{&quot;isTemplate&quot;:true,&quot;type&quot;:&quot;text&quot;}"/>
          <p:cNvSpPr txBox="1"/>
          <p:nvPr/>
        </p:nvSpPr>
        <p:spPr>
          <a:xfrm rot="0" flipH="0" flipV="0">
            <a:off x="1143000" y="1476375"/>
            <a:ext cx="5295900" cy="171450"/>
          </a:xfrm>
          <a:prstGeom prst="rect"/>
        </p:spPr>
        <p:txBody>
          <a:bodyPr wrap="none" lIns="0" tIns="0" rIns="0" bIns="0"/>
          <a:p>
            <a:pPr>
              <a:lnSpc>
                <a:spcPct val="100000"/>
              </a:lnSpc>
            </a:pPr>
            <a:r>
              <a:rPr lang="en-US" sz="1125">
                <a:solidFill>
                  <a:srgbClr val="44534C"/>
                </a:solidFill>
                <a:latin typeface="Microsoft YaHei"/>
                <a:ea typeface="Microsoft YaHei"/>
              </a:rPr>
              <a:t>Dev Container + pinned versions, blocking "it only works on my machine"</a:t>
            </a:r>
            <a:endParaRPr/>
          </a:p>
        </p:txBody>
      </p:sp>
      <p:sp>
        <p:nvSpPr>
          <p:cNvPr id="295" name="" descr="{&quot;isTemplate&quot;:true,&quot;type&quot;:&quot;text&quot;}"/>
          <p:cNvSpPr txBox="1"/>
          <p:nvPr/>
        </p:nvSpPr>
        <p:spPr>
          <a:xfrm rot="0" flipH="0" flipV="0">
            <a:off x="6591300" y="1362075"/>
            <a:ext cx="896619" cy="161925"/>
          </a:xfrm>
          <a:prstGeom prst="rect"/>
        </p:spPr>
        <p:txBody>
          <a:bodyPr wrap="none" lIns="0" tIns="0" rIns="0" bIns="0"/>
          <a:p>
            <a:pPr>
              <a:lnSpc>
                <a:spcPct val="100000"/>
              </a:lnSpc>
            </a:pPr>
            <a:r>
              <a:rPr lang="zh-CN" sz="1050">
                <a:solidFill>
                  <a:srgbClr val="6B7A72"/>
                </a:solidFill>
                <a:latin typeface="Consolas"/>
                <a:ea typeface="Consolas"/>
              </a:rPr>
              <a:t>While coding</a:t>
            </a:r>
            <a:endParaRPr/>
          </a:p>
        </p:txBody>
      </p:sp>
      <p:sp>
        <p:nvSpPr>
          <p:cNvPr id="296" name=""/>
          <p:cNvSpPr/>
          <p:nvPr/>
        </p:nvSpPr>
        <p:spPr>
          <a:xfrm rot="0" flipH="0" flipV="0">
            <a:off x="609600" y="2390775"/>
            <a:ext cx="6781800" cy="561975"/>
          </a:xfrm>
          <a:custGeom>
            <a:pathLst>
              <a:path w="712" h="59">
                <a:moveTo>
                  <a:pt x="0" y="58"/>
                </a:moveTo>
                <a:lnTo>
                  <a:pt x="712" y="58"/>
                </a:lnTo>
                <a:lnTo>
                  <a:pt x="712" y="59"/>
                </a:lnTo>
                <a:lnTo>
                  <a:pt x="0" y="59"/>
                </a:lnTo>
                <a:close/>
              </a:path>
            </a:pathLst>
          </a:custGeom>
          <a:solidFill>
            <a:srgbClr val="0F1E19">
              <a:alpha val="10000"/>
            </a:srgbClr>
          </a:solidFill>
          <a:ln/>
        </p:spPr>
        <p:txBody>
          <a:bodyPr/>
          <a:p/>
        </p:txBody>
      </p:sp>
      <p:sp>
        <p:nvSpPr>
          <p:cNvPr id="297" name=""/>
          <p:cNvSpPr/>
          <p:nvPr/>
        </p:nvSpPr>
        <p:spPr>
          <a:xfrm rot="0" flipH="0" flipV="0">
            <a:off x="609600" y="2409825"/>
            <a:ext cx="381000" cy="381000"/>
          </a:xfrm>
          <a:prstGeom prst="roundRect">
            <a:avLst>
              <a:gd name="adj" fmla="val 50000"/>
            </a:avLst>
          </a:prstGeom>
          <a:solidFill>
            <a:srgbClr val="167762"/>
          </a:solidFill>
          <a:ln/>
        </p:spPr>
        <p:txBody>
          <a:bodyPr/>
          <a:p/>
        </p:txBody>
      </p:sp>
      <p:sp>
        <p:nvSpPr>
          <p:cNvPr id="298" name="" descr="{&quot;isTemplate&quot;:true,&quot;type&quot;:&quot;text&quot;}"/>
          <p:cNvSpPr txBox="1"/>
          <p:nvPr/>
        </p:nvSpPr>
        <p:spPr>
          <a:xfrm rot="0" flipH="0" flipV="0">
            <a:off x="762000" y="2505075"/>
            <a:ext cx="85725" cy="190500"/>
          </a:xfrm>
          <a:prstGeom prst="rect"/>
        </p:spPr>
        <p:txBody>
          <a:bodyPr wrap="none" lIns="0" tIns="0" rIns="0" bIns="0"/>
          <a:p>
            <a:pPr>
              <a:lnSpc>
                <a:spcPct val="100000"/>
              </a:lnSpc>
            </a:pPr>
            <a:r>
              <a:rPr lang="en-US" sz="1200" b="1">
                <a:solidFill>
                  <a:srgbClr val="FFFFFF"/>
                </a:solidFill>
                <a:latin typeface="Consolas"/>
                <a:ea typeface="Consolas"/>
              </a:rPr>
              <a:t>2</a:t>
            </a:r>
            <a:endParaRPr/>
          </a:p>
        </p:txBody>
      </p:sp>
      <p:sp>
        <p:nvSpPr>
          <p:cNvPr id="299" name="" descr="{&quot;isTemplate&quot;:true,&quot;type&quot;:&quot;text&quot;}"/>
          <p:cNvSpPr txBox="1"/>
          <p:nvPr/>
        </p:nvSpPr>
        <p:spPr>
          <a:xfrm rot="0" flipH="0" flipV="0">
            <a:off x="1143000" y="2390775"/>
            <a:ext cx="5381625" cy="219075"/>
          </a:xfrm>
          <a:prstGeom prst="rect"/>
        </p:spPr>
        <p:txBody>
          <a:bodyPr wrap="none" lIns="0" tIns="0" rIns="0" bIns="0"/>
          <a:p>
            <a:pPr>
              <a:lnSpc>
                <a:spcPct val="100000"/>
              </a:lnSpc>
            </a:pPr>
            <a:r>
              <a:rPr lang="zh-CN" sz="1425" b="1">
                <a:solidFill>
                  <a:srgbClr val="0F1E19"/>
                </a:solidFill>
                <a:latin typeface="Microsoft YaHei"/>
                <a:ea typeface="Microsoft YaHei"/>
              </a:rPr>
              <a:t>Pre-commit scan</a:t>
            </a:r>
            <a:endParaRPr/>
          </a:p>
        </p:txBody>
      </p:sp>
      <p:sp>
        <p:nvSpPr>
          <p:cNvPr id="300" name="" descr="{&quot;isTemplate&quot;:true,&quot;type&quot;:&quot;text&quot;}"/>
          <p:cNvSpPr txBox="1"/>
          <p:nvPr/>
        </p:nvSpPr>
        <p:spPr>
          <a:xfrm rot="0" flipH="0" flipV="0">
            <a:off x="1143000" y="2628900"/>
            <a:ext cx="5381625" cy="171450"/>
          </a:xfrm>
          <a:prstGeom prst="rect"/>
        </p:spPr>
        <p:txBody>
          <a:bodyPr wrap="none" lIns="0" tIns="0" rIns="0" bIns="0"/>
          <a:p>
            <a:pPr>
              <a:lnSpc>
                <a:spcPct val="100000"/>
              </a:lnSpc>
            </a:pPr>
            <a:r>
              <a:rPr lang="zh-CN" sz="1125">
                <a:solidFill>
                  <a:srgbClr val="44534C"/>
                </a:solidFill>
                <a:latin typeface="Microsoft YaHei"/>
                <a:ea typeface="Microsoft YaHei"/>
              </a:rPr>
              <a:t>Scans the Git staging area, blocking "deleted the secret but forgot to git add"</a:t>
            </a:r>
            <a:endParaRPr/>
          </a:p>
        </p:txBody>
      </p:sp>
      <p:sp>
        <p:nvSpPr>
          <p:cNvPr id="301" name="" descr="{&quot;isTemplate&quot;:true,&quot;type&quot;:&quot;text&quot;}"/>
          <p:cNvSpPr txBox="1"/>
          <p:nvPr/>
        </p:nvSpPr>
        <p:spPr>
          <a:xfrm rot="0" flipH="0" flipV="0">
            <a:off x="6677025" y="2514600"/>
            <a:ext cx="714375" cy="161925"/>
          </a:xfrm>
          <a:prstGeom prst="rect"/>
        </p:spPr>
        <p:txBody>
          <a:bodyPr wrap="none" lIns="0" tIns="0" rIns="0" bIns="0"/>
          <a:p>
            <a:pPr>
              <a:lnSpc>
                <a:spcPct val="100000"/>
              </a:lnSpc>
            </a:pPr>
            <a:r>
              <a:rPr lang="en-US" sz="1050">
                <a:solidFill>
                  <a:srgbClr val="6B7A72"/>
                </a:solidFill>
                <a:latin typeface="Consolas"/>
                <a:ea typeface="Consolas"/>
              </a:rPr>
              <a:t>At commit</a:t>
            </a:r>
            <a:endParaRPr/>
          </a:p>
        </p:txBody>
      </p:sp>
      <p:sp>
        <p:nvSpPr>
          <p:cNvPr id="302" name=""/>
          <p:cNvSpPr/>
          <p:nvPr/>
        </p:nvSpPr>
        <p:spPr>
          <a:xfrm rot="0" flipH="0" flipV="0">
            <a:off x="609600" y="3543300"/>
            <a:ext cx="6781800" cy="561975"/>
          </a:xfrm>
          <a:custGeom>
            <a:pathLst>
              <a:path w="712" h="59">
                <a:moveTo>
                  <a:pt x="0" y="58"/>
                </a:moveTo>
                <a:lnTo>
                  <a:pt x="712" y="58"/>
                </a:lnTo>
                <a:lnTo>
                  <a:pt x="712" y="59"/>
                </a:lnTo>
                <a:lnTo>
                  <a:pt x="0" y="59"/>
                </a:lnTo>
                <a:close/>
              </a:path>
            </a:pathLst>
          </a:custGeom>
          <a:solidFill>
            <a:srgbClr val="0F1E19">
              <a:alpha val="10000"/>
            </a:srgbClr>
          </a:solidFill>
          <a:ln/>
        </p:spPr>
        <p:txBody>
          <a:bodyPr/>
          <a:p/>
        </p:txBody>
      </p:sp>
      <p:sp>
        <p:nvSpPr>
          <p:cNvPr id="303" name=""/>
          <p:cNvSpPr/>
          <p:nvPr/>
        </p:nvSpPr>
        <p:spPr>
          <a:xfrm rot="0" flipH="0" flipV="0">
            <a:off x="609600" y="3562350"/>
            <a:ext cx="381000" cy="381000"/>
          </a:xfrm>
          <a:prstGeom prst="roundRect">
            <a:avLst>
              <a:gd name="adj" fmla="val 50000"/>
            </a:avLst>
          </a:prstGeom>
          <a:solidFill>
            <a:srgbClr val="167762"/>
          </a:solidFill>
          <a:ln/>
        </p:spPr>
        <p:txBody>
          <a:bodyPr/>
          <a:p/>
        </p:txBody>
      </p:sp>
      <p:sp>
        <p:nvSpPr>
          <p:cNvPr id="304" name="" descr="{&quot;isTemplate&quot;:true,&quot;type&quot;:&quot;text&quot;}"/>
          <p:cNvSpPr txBox="1"/>
          <p:nvPr/>
        </p:nvSpPr>
        <p:spPr>
          <a:xfrm rot="0" flipH="0" flipV="0">
            <a:off x="762000" y="3657600"/>
            <a:ext cx="85725" cy="190500"/>
          </a:xfrm>
          <a:prstGeom prst="rect"/>
        </p:spPr>
        <p:txBody>
          <a:bodyPr wrap="none" lIns="0" tIns="0" rIns="0" bIns="0"/>
          <a:p>
            <a:pPr>
              <a:lnSpc>
                <a:spcPct val="100000"/>
              </a:lnSpc>
            </a:pPr>
            <a:r>
              <a:rPr lang="en-US" sz="1200" b="1">
                <a:solidFill>
                  <a:srgbClr val="FFFFFF"/>
                </a:solidFill>
                <a:latin typeface="Consolas"/>
                <a:ea typeface="Consolas"/>
              </a:rPr>
              <a:t>3</a:t>
            </a:r>
            <a:endParaRPr/>
          </a:p>
        </p:txBody>
      </p:sp>
      <p:sp>
        <p:nvSpPr>
          <p:cNvPr id="305" name="" descr="{&quot;isTemplate&quot;:true,&quot;type&quot;:&quot;text&quot;}"/>
          <p:cNvSpPr txBox="1"/>
          <p:nvPr/>
        </p:nvSpPr>
        <p:spPr>
          <a:xfrm rot="0" flipH="0" flipV="0">
            <a:off x="1143000" y="3543300"/>
            <a:ext cx="5400675" cy="219075"/>
          </a:xfrm>
          <a:prstGeom prst="rect"/>
        </p:spPr>
        <p:txBody>
          <a:bodyPr wrap="none" lIns="0" tIns="0" rIns="0" bIns="0"/>
          <a:p>
            <a:pPr>
              <a:lnSpc>
                <a:spcPct val="100000"/>
              </a:lnSpc>
            </a:pPr>
            <a:r>
              <a:rPr lang="en-US" sz="1425" b="1">
                <a:solidFill>
                  <a:srgbClr val="0F1E19"/>
                </a:solidFill>
                <a:latin typeface="Microsoft YaHei"/>
                <a:ea typeface="Microsoft YaHei"/>
              </a:rPr>
              <a:t>Five CI checks in parallel</a:t>
            </a:r>
            <a:endParaRPr/>
          </a:p>
        </p:txBody>
      </p:sp>
      <p:sp>
        <p:nvSpPr>
          <p:cNvPr id="306" name="" descr="{&quot;isTemplate&quot;:true,&quot;type&quot;:&quot;text&quot;}"/>
          <p:cNvSpPr txBox="1"/>
          <p:nvPr/>
        </p:nvSpPr>
        <p:spPr>
          <a:xfrm rot="0" flipH="0" flipV="0">
            <a:off x="1143000" y="3781425"/>
            <a:ext cx="5400675" cy="171450"/>
          </a:xfrm>
          <a:prstGeom prst="rect"/>
        </p:spPr>
        <p:txBody>
          <a:bodyPr wrap="none" lIns="0" tIns="0" rIns="0" bIns="0"/>
          <a:p>
            <a:pPr>
              <a:lnSpc>
                <a:spcPct val="100000"/>
              </a:lnSpc>
            </a:pPr>
            <a:r>
              <a:rPr lang="zh-CN" sz="1125">
                <a:solidFill>
                  <a:srgbClr val="44534C"/>
                </a:solidFill>
                <a:latin typeface="Microsoft YaHei"/>
                <a:ea typeface="Microsoft YaHei"/>
              </a:rPr>
              <a:t>Tests / secrets / IaC / dependencies / images, blocking "skipped locally"</a:t>
            </a:r>
            <a:endParaRPr/>
          </a:p>
        </p:txBody>
      </p:sp>
      <p:sp>
        <p:nvSpPr>
          <p:cNvPr id="307" name="" descr="{&quot;isTemplate&quot;:true,&quot;type&quot;:&quot;text&quot;}"/>
          <p:cNvSpPr txBox="1"/>
          <p:nvPr/>
        </p:nvSpPr>
        <p:spPr>
          <a:xfrm rot="0" flipH="0" flipV="0">
            <a:off x="6696075" y="3667125"/>
            <a:ext cx="819150" cy="161925"/>
          </a:xfrm>
          <a:prstGeom prst="rect"/>
        </p:spPr>
        <p:txBody>
          <a:bodyPr wrap="none" lIns="0" tIns="0" rIns="0" bIns="0"/>
          <a:p>
            <a:pPr>
              <a:lnSpc>
                <a:spcPct val="100000"/>
              </a:lnSpc>
            </a:pPr>
            <a:r>
              <a:rPr lang="zh-CN" sz="1050">
                <a:solidFill>
                  <a:srgbClr val="6B7A72"/>
                </a:solidFill>
                <a:latin typeface="Consolas"/>
                <a:ea typeface="Consolas"/>
              </a:rPr>
              <a:t>On PR open</a:t>
            </a:r>
            <a:endParaRPr/>
          </a:p>
        </p:txBody>
      </p:sp>
      <p:sp>
        <p:nvSpPr>
          <p:cNvPr id="308" name=""/>
          <p:cNvSpPr/>
          <p:nvPr/>
        </p:nvSpPr>
        <p:spPr>
          <a:xfrm rot="0" flipH="0" flipV="0">
            <a:off x="609600" y="4686300"/>
            <a:ext cx="6781800" cy="561975"/>
          </a:xfrm>
          <a:custGeom>
            <a:pathLst>
              <a:path w="712" h="59">
                <a:moveTo>
                  <a:pt x="0" y="58"/>
                </a:moveTo>
                <a:lnTo>
                  <a:pt x="712" y="58"/>
                </a:lnTo>
                <a:lnTo>
                  <a:pt x="712" y="59"/>
                </a:lnTo>
                <a:lnTo>
                  <a:pt x="0" y="59"/>
                </a:lnTo>
                <a:close/>
              </a:path>
            </a:pathLst>
          </a:custGeom>
          <a:solidFill>
            <a:srgbClr val="0F1E19">
              <a:alpha val="10000"/>
            </a:srgbClr>
          </a:solidFill>
          <a:ln/>
        </p:spPr>
        <p:txBody>
          <a:bodyPr/>
          <a:p/>
        </p:txBody>
      </p:sp>
      <p:sp>
        <p:nvSpPr>
          <p:cNvPr id="309" name=""/>
          <p:cNvSpPr/>
          <p:nvPr/>
        </p:nvSpPr>
        <p:spPr>
          <a:xfrm rot="0" flipH="0" flipV="0">
            <a:off x="609600" y="4705350"/>
            <a:ext cx="381000" cy="381000"/>
          </a:xfrm>
          <a:prstGeom prst="roundRect">
            <a:avLst>
              <a:gd name="adj" fmla="val 50000"/>
            </a:avLst>
          </a:prstGeom>
          <a:solidFill>
            <a:srgbClr val="C2410C">
              <a:alpha val="12000"/>
            </a:srgbClr>
          </a:solidFill>
          <a:ln/>
        </p:spPr>
        <p:txBody>
          <a:bodyPr/>
          <a:p/>
        </p:txBody>
      </p:sp>
      <p:sp>
        <p:nvSpPr>
          <p:cNvPr id="310" name="" descr="{&quot;isTemplate&quot;:true,&quot;type&quot;:&quot;text&quot;}"/>
          <p:cNvSpPr txBox="1"/>
          <p:nvPr/>
        </p:nvSpPr>
        <p:spPr>
          <a:xfrm rot="0" flipH="0" flipV="0">
            <a:off x="762000" y="4800600"/>
            <a:ext cx="85725" cy="190500"/>
          </a:xfrm>
          <a:prstGeom prst="rect"/>
        </p:spPr>
        <p:txBody>
          <a:bodyPr wrap="none" lIns="0" tIns="0" rIns="0" bIns="0"/>
          <a:p>
            <a:pPr>
              <a:lnSpc>
                <a:spcPct val="100000"/>
              </a:lnSpc>
            </a:pPr>
            <a:r>
              <a:rPr lang="en-US" sz="1200" b="1">
                <a:solidFill>
                  <a:srgbClr val="C2410C"/>
                </a:solidFill>
                <a:latin typeface="Consolas"/>
                <a:ea typeface="Consolas"/>
              </a:rPr>
              <a:t>4</a:t>
            </a:r>
            <a:endParaRPr/>
          </a:p>
        </p:txBody>
      </p:sp>
      <p:sp>
        <p:nvSpPr>
          <p:cNvPr id="311" name="" descr="{&quot;isTemplate&quot;:true,&quot;type&quot;:&quot;text&quot;}"/>
          <p:cNvSpPr txBox="1"/>
          <p:nvPr/>
        </p:nvSpPr>
        <p:spPr>
          <a:xfrm rot="0" flipH="0" flipV="0">
            <a:off x="1143000" y="4686300"/>
            <a:ext cx="5495925" cy="219075"/>
          </a:xfrm>
          <a:prstGeom prst="rect"/>
        </p:spPr>
        <p:txBody>
          <a:bodyPr wrap="none" lIns="0" tIns="0" rIns="0" bIns="0"/>
          <a:p>
            <a:pPr>
              <a:lnSpc>
                <a:spcPct val="100000"/>
              </a:lnSpc>
            </a:pPr>
            <a:r>
              <a:rPr lang="zh-CN" sz="1425" b="1">
                <a:solidFill>
                  <a:srgbClr val="0F1E19"/>
                </a:solidFill>
                <a:latin typeface="Microsoft YaHei"/>
                <a:ea typeface="Microsoft YaHei"/>
              </a:rPr>
              <a:t>Review + branch protection</a:t>
            </a:r>
            <a:endParaRPr/>
          </a:p>
        </p:txBody>
      </p:sp>
      <p:sp>
        <p:nvSpPr>
          <p:cNvPr id="312" name="" descr="{&quot;isTemplate&quot;:true,&quot;type&quot;:&quot;text&quot;}"/>
          <p:cNvSpPr txBox="1"/>
          <p:nvPr/>
        </p:nvSpPr>
        <p:spPr>
          <a:xfrm rot="0" flipH="0" flipV="0">
            <a:off x="1143000" y="4924425"/>
            <a:ext cx="5495925" cy="171450"/>
          </a:xfrm>
          <a:prstGeom prst="rect"/>
        </p:spPr>
        <p:txBody>
          <a:bodyPr wrap="square" lIns="0" tIns="0" rIns="0" bIns="0"/>
          <a:p>
            <a:pPr>
              <a:lnSpc>
                <a:spcPct val="100000"/>
              </a:lnSpc>
            </a:pPr>
            <a:r>
              <a:rPr lang="zh-CN" sz="956">
                <a:solidFill>
                  <a:srgbClr val="44534C"/>
                </a:solidFill>
                <a:latin typeface="Microsoft YaHei"/>
                <a:ea typeface="Microsoft YaHei"/>
              </a:rPr>
              <a:t>One reviewer, no force pushes, blocking "pushed straight to main" (template not yet enabled)</a:t>
            </a:r>
            <a:endParaRPr/>
          </a:p>
        </p:txBody>
      </p:sp>
      <p:sp>
        <p:nvSpPr>
          <p:cNvPr id="313" name="" descr="{&quot;isTemplate&quot;:true,&quot;type&quot;:&quot;text&quot;}"/>
          <p:cNvSpPr txBox="1"/>
          <p:nvPr/>
        </p:nvSpPr>
        <p:spPr>
          <a:xfrm rot="0" flipH="0" flipV="0">
            <a:off x="6791325" y="4810125"/>
            <a:ext cx="600075" cy="161925"/>
          </a:xfrm>
          <a:prstGeom prst="rect"/>
        </p:spPr>
        <p:txBody>
          <a:bodyPr wrap="none" lIns="0" tIns="0" rIns="0" bIns="0"/>
          <a:p>
            <a:pPr>
              <a:lnSpc>
                <a:spcPct val="100000"/>
              </a:lnSpc>
            </a:pPr>
            <a:r>
              <a:rPr lang="zh-CN" sz="1050">
                <a:solidFill>
                  <a:srgbClr val="C2410C"/>
                </a:solidFill>
                <a:latin typeface="Consolas"/>
                <a:ea typeface="Consolas"/>
              </a:rPr>
              <a:t>Pending</a:t>
            </a:r>
            <a:endParaRPr/>
          </a:p>
        </p:txBody>
      </p:sp>
      <p:sp>
        <p:nvSpPr>
          <p:cNvPr id="314" name=""/>
          <p:cNvSpPr/>
          <p:nvPr/>
        </p:nvSpPr>
        <p:spPr>
          <a:xfrm rot="0" flipH="0" flipV="0">
            <a:off x="609600" y="5857875"/>
            <a:ext cx="381000" cy="381000"/>
          </a:xfrm>
          <a:prstGeom prst="roundRect">
            <a:avLst>
              <a:gd name="adj" fmla="val 50000"/>
            </a:avLst>
          </a:prstGeom>
          <a:solidFill>
            <a:srgbClr val="167762"/>
          </a:solidFill>
          <a:ln/>
        </p:spPr>
        <p:txBody>
          <a:bodyPr/>
          <a:p/>
        </p:txBody>
      </p:sp>
      <p:sp>
        <p:nvSpPr>
          <p:cNvPr id="315" name="" descr="{&quot;isTemplate&quot;:true,&quot;type&quot;:&quot;text&quot;}"/>
          <p:cNvSpPr txBox="1"/>
          <p:nvPr/>
        </p:nvSpPr>
        <p:spPr>
          <a:xfrm rot="0" flipH="0" flipV="0">
            <a:off x="762000" y="5953125"/>
            <a:ext cx="85725" cy="190500"/>
          </a:xfrm>
          <a:prstGeom prst="rect"/>
        </p:spPr>
        <p:txBody>
          <a:bodyPr wrap="none" lIns="0" tIns="0" rIns="0" bIns="0"/>
          <a:p>
            <a:pPr>
              <a:lnSpc>
                <a:spcPct val="100000"/>
              </a:lnSpc>
            </a:pPr>
            <a:r>
              <a:rPr lang="en-US" sz="1200" b="1">
                <a:solidFill>
                  <a:srgbClr val="FFFFFF"/>
                </a:solidFill>
                <a:latin typeface="Consolas"/>
                <a:ea typeface="Consolas"/>
              </a:rPr>
              <a:t>5</a:t>
            </a:r>
            <a:endParaRPr/>
          </a:p>
        </p:txBody>
      </p:sp>
      <p:sp>
        <p:nvSpPr>
          <p:cNvPr id="316" name="" descr="{&quot;isTemplate&quot;:true,&quot;type&quot;:&quot;text&quot;}"/>
          <p:cNvSpPr txBox="1"/>
          <p:nvPr/>
        </p:nvSpPr>
        <p:spPr>
          <a:xfrm rot="0" flipH="0" flipV="0">
            <a:off x="1143000" y="5838825"/>
            <a:ext cx="5495925" cy="219075"/>
          </a:xfrm>
          <a:prstGeom prst="rect"/>
        </p:spPr>
        <p:txBody>
          <a:bodyPr wrap="none" lIns="0" tIns="0" rIns="0" bIns="0"/>
          <a:p>
            <a:pPr>
              <a:lnSpc>
                <a:spcPct val="100000"/>
              </a:lnSpc>
            </a:pPr>
            <a:r>
              <a:rPr lang="zh-CN" sz="1425" b="1">
                <a:solidFill>
                  <a:srgbClr val="0F1E19"/>
                </a:solidFill>
                <a:latin typeface="Microsoft YaHei"/>
                <a:ea typeface="Microsoft YaHei"/>
              </a:rPr>
              <a:t>Runtime hardening</a:t>
            </a:r>
            <a:endParaRPr/>
          </a:p>
        </p:txBody>
      </p:sp>
      <p:sp>
        <p:nvSpPr>
          <p:cNvPr id="317" name="" descr="{&quot;isTemplate&quot;:true,&quot;type&quot;:&quot;text&quot;}"/>
          <p:cNvSpPr txBox="1"/>
          <p:nvPr/>
        </p:nvSpPr>
        <p:spPr>
          <a:xfrm rot="0" flipH="0" flipV="0">
            <a:off x="1143000" y="6076950"/>
            <a:ext cx="5495925" cy="171450"/>
          </a:xfrm>
          <a:prstGeom prst="rect"/>
        </p:spPr>
        <p:txBody>
          <a:bodyPr wrap="square" lIns="0" tIns="0" rIns="0" bIns="0"/>
          <a:p>
            <a:pPr>
              <a:lnSpc>
                <a:spcPct val="100000"/>
              </a:lnSpc>
            </a:pPr>
            <a:r>
              <a:rPr lang="zh-CN" sz="900">
                <a:solidFill>
                  <a:srgbClr val="44534C"/>
                </a:solidFill>
                <a:latin typeface="Microsoft YaHei"/>
                <a:ea typeface="Microsoft YaHei"/>
              </a:rPr>
              <a:t>Non-root, read-only, no privileges, resource limits, blocking "a vulnerability turns into an incident"</a:t>
            </a:r>
            <a:endParaRPr/>
          </a:p>
        </p:txBody>
      </p:sp>
      <p:sp>
        <p:nvSpPr>
          <p:cNvPr id="318" name="" descr="{&quot;isTemplate&quot;:true,&quot;type&quot;:&quot;text&quot;}"/>
          <p:cNvSpPr txBox="1"/>
          <p:nvPr/>
        </p:nvSpPr>
        <p:spPr>
          <a:xfrm rot="0" flipH="0" flipV="0">
            <a:off x="6791325" y="5962650"/>
            <a:ext cx="735310" cy="161925"/>
          </a:xfrm>
          <a:prstGeom prst="rect"/>
        </p:spPr>
        <p:txBody>
          <a:bodyPr wrap="none" lIns="0" tIns="0" rIns="0" bIns="0"/>
          <a:p>
            <a:pPr>
              <a:lnSpc>
                <a:spcPct val="100000"/>
              </a:lnSpc>
            </a:pPr>
            <a:r>
              <a:rPr lang="zh-CN" sz="1050">
                <a:solidFill>
                  <a:srgbClr val="6B7A72"/>
                </a:solidFill>
                <a:latin typeface="Consolas"/>
                <a:ea typeface="Consolas"/>
              </a:rPr>
              <a:t>At runtime</a:t>
            </a:r>
            <a:endParaRPr/>
          </a:p>
        </p:txBody>
      </p:sp>
      <p:sp>
        <p:nvSpPr>
          <p:cNvPr id="319" name="" descr="{&quot;isTemplate&quot;:true,&quot;type&quot;:&quot;text&quot;}"/>
          <p:cNvSpPr txBox="1"/>
          <p:nvPr/>
        </p:nvSpPr>
        <p:spPr>
          <a:xfrm rot="0" flipH="0" flipV="0">
            <a:off x="7772400" y="2381250"/>
            <a:ext cx="3810000" cy="1104900"/>
          </a:xfrm>
          <a:prstGeom prst="rect"/>
        </p:spPr>
        <p:txBody>
          <a:bodyPr wrap="none" lIns="0" tIns="0" rIns="0" bIns="0"/>
          <a:p>
            <a:pPr>
              <a:lnSpc>
                <a:spcPct val="100000"/>
              </a:lnSpc>
            </a:pPr>
            <a:r>
              <a:rPr lang="en-US" sz="7200" b="1">
                <a:solidFill>
                  <a:srgbClr val="167762"/>
                </a:solidFill>
                <a:latin typeface="Consolas"/>
                <a:ea typeface="Consolas"/>
              </a:rPr>
              <a:t>26</a:t>
            </a:r>
            <a:endParaRPr/>
          </a:p>
        </p:txBody>
      </p:sp>
      <p:sp>
        <p:nvSpPr>
          <p:cNvPr id="320" name="" descr="{&quot;isTemplate&quot;:true,&quot;type&quot;:&quot;text&quot;}"/>
          <p:cNvSpPr txBox="1"/>
          <p:nvPr/>
        </p:nvSpPr>
        <p:spPr>
          <a:xfrm rot="0" flipH="0" flipV="0">
            <a:off x="7772400" y="3581400"/>
            <a:ext cx="3810000" cy="228600"/>
          </a:xfrm>
          <a:prstGeom prst="rect"/>
        </p:spPr>
        <p:txBody>
          <a:bodyPr wrap="none" lIns="0" tIns="0" rIns="0" bIns="0"/>
          <a:p>
            <a:pPr>
              <a:lnSpc>
                <a:spcPct val="100000"/>
              </a:lnSpc>
            </a:pPr>
            <a:r>
              <a:rPr lang="zh-CN" sz="1500" b="1">
                <a:solidFill>
                  <a:srgbClr val="0F1E19"/>
                </a:solidFill>
                <a:latin typeface="Microsoft YaHei"/>
                <a:ea typeface="Microsoft YaHei"/>
              </a:rPr>
              <a:t>automated tests</a:t>
            </a:r>
            <a:endParaRPr/>
          </a:p>
        </p:txBody>
      </p:sp>
      <p:sp>
        <p:nvSpPr>
          <p:cNvPr id="321" name="" descr="{&quot;isTemplate&quot;:true,&quot;type&quot;:&quot;text&quot;}"/>
          <p:cNvSpPr txBox="1"/>
          <p:nvPr/>
        </p:nvSpPr>
        <p:spPr>
          <a:xfrm rot="0" flipH="0" flipV="0">
            <a:off x="7772400" y="3905250"/>
            <a:ext cx="3810000" cy="285750"/>
          </a:xfrm>
          <a:prstGeom prst="rect"/>
        </p:spPr>
        <p:txBody>
          <a:bodyPr wrap="square" lIns="0" tIns="0" rIns="0" bIns="0"/>
          <a:p>
            <a:pPr>
              <a:lnSpc>
                <a:spcPct val="165000"/>
              </a:lnSpc>
            </a:pPr>
            <a:r>
              <a:rPr lang="zh-CN" sz="1012">
                <a:solidFill>
                  <a:srgbClr val="44534C"/>
                </a:solidFill>
                <a:latin typeface="Microsoft YaHei"/>
                <a:ea typeface="Microsoft YaHei"/>
              </a:rPr>
              <a:t>Each gate has matching measured evidence. It is not just a box on a flow chart.</a:t>
            </a:r>
            <a:endParaRPr/>
          </a:p>
        </p:txBody>
      </p:sp>
      <p:sp>
        <p:nvSpPr>
          <p:cNvPr id="322" name=""/>
          <p:cNvSpPr/>
          <p:nvPr/>
        </p:nvSpPr>
        <p:spPr>
          <a:xfrm rot="0" flipH="0" flipV="0">
            <a:off x="7772400" y="4419600"/>
            <a:ext cx="3810000" cy="685800"/>
          </a:xfrm>
          <a:prstGeom prst="roundRect">
            <a:avLst>
              <a:gd name="adj" fmla="val 8333"/>
            </a:avLst>
          </a:prstGeom>
          <a:solidFill>
            <a:srgbClr val="C2410C">
              <a:alpha val="8000"/>
            </a:srgbClr>
          </a:solidFill>
          <a:ln/>
        </p:spPr>
        <p:txBody>
          <a:bodyPr/>
          <a:p/>
        </p:txBody>
      </p:sp>
      <p:sp>
        <p:nvSpPr>
          <p:cNvPr id="323" name="" descr="{&quot;isTemplate&quot;:true,&quot;type&quot;:&quot;text&quot;}"/>
          <p:cNvSpPr txBox="1"/>
          <p:nvPr/>
        </p:nvSpPr>
        <p:spPr>
          <a:xfrm rot="0" flipH="0" flipV="0">
            <a:off x="7886700" y="4533900"/>
            <a:ext cx="3581400" cy="161925"/>
          </a:xfrm>
          <a:prstGeom prst="rect"/>
        </p:spPr>
        <p:txBody>
          <a:bodyPr wrap="none" lIns="0" tIns="0" rIns="0" bIns="0"/>
          <a:p>
            <a:pPr>
              <a:lnSpc>
                <a:spcPct val="100000"/>
              </a:lnSpc>
            </a:pPr>
            <a:r>
              <a:rPr lang="zh-CN" sz="1050" b="1">
                <a:solidFill>
                  <a:srgbClr val="C2410C"/>
                </a:solidFill>
                <a:latin typeface="Microsoft YaHei"/>
                <a:ea typeface="Microsoft YaHei"/>
              </a:rPr>
              <a:t>Gate 4 still has one step left</a:t>
            </a:r>
            <a:endParaRPr/>
          </a:p>
        </p:txBody>
      </p:sp>
      <p:sp>
        <p:nvSpPr>
          <p:cNvPr id="324" name="" descr="{&quot;isTemplate&quot;:true,&quot;type&quot;:&quot;text&quot;}"/>
          <p:cNvSpPr txBox="1"/>
          <p:nvPr/>
        </p:nvSpPr>
        <p:spPr>
          <a:xfrm rot="0" flipH="0" flipV="0">
            <a:off x="7886700" y="4733925"/>
            <a:ext cx="3581400" cy="257175"/>
          </a:xfrm>
          <a:prstGeom prst="rect"/>
        </p:spPr>
        <p:txBody>
          <a:bodyPr wrap="square" lIns="0" tIns="0" rIns="0" bIns="0"/>
          <a:p>
            <a:pPr>
              <a:lnSpc>
                <a:spcPct val="155000"/>
              </a:lnSpc>
            </a:pPr>
            <a:r>
              <a:rPr lang="zh-CN" sz="945">
                <a:solidFill>
                  <a:srgbClr val="0F1E19"/>
                </a:solidFill>
                <a:latin typeface="Microsoft YaHei"/>
                <a:ea typeface="Microsoft YaHei"/>
              </a:rPr>
              <a:t>The template is written. It takes effect only after a repository administrator applies it on GitHub.</a:t>
            </a:r>
            <a:endParaRPr/>
          </a:p>
        </p:txBody>
      </p:sp>
      <p:sp>
        <p:nvSpPr>
          <p:cNvPr id="325"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326"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09 / 15</a:t>
            </a:r>
            <a:endParaRPr/>
          </a:p>
        </p:txBody>
      </p:sp>
    </p:spTree>
  </p:cSld>
</p:sld>
</file>

<file path=ppt/slides/slide10.xml><?xml version="1.0" encoding="utf-8"?>
<p:sld xmlns:p="http://schemas.openxmlformats.org/presentationml/2006/main" xmlns:a="http://schemas.openxmlformats.org/drawingml/2006/main">
  <p:cSld>
    <p:spTree>
      <p:nvGrpSpPr>
        <p:cNvPr id="21" name="" descr="&lt;Slide style={{ width: 1280, height: 720, background: '#FFFFFF', padding: '26px 64px 18px 64px', position: 'relative', fontFamily: 'Microsoft YaHei' }}&gt;&#10;    &lt;Box style={{ flexDirection: 'column', gap: 6, height: 104 }}&gt;&#10;        &lt;Text style={{ fontSize: 36, fontWeight: 'bold', color: '#0F1E19', lineHeight: 1.3 }}&gt;权限化 RAG：先过滤，再检索&lt;/Text&gt;&#10;        &lt;Text style={{ fontSize: 17, color: '#6B7A72', lineHeight: 1.5 }}&gt;顺序错了，后面做多少都没用&lt;/Text&gt;&#10;    &lt;/Box&gt;&#10;    &lt;Box style={{ flexDirection: 'row', gap: 44, height: 526 }}&gt;&#10;        &lt;Box style={{ width: 620, flexDirection: 'column', justifyContent: 'center', gap: 14 }}&gt;&#10;            &lt;Box style={{ flexDirection: 'row', gap: 16, alignItems: 'center', padding: '14px 18px', background: 'rgba(22,119,98,0.07)', borderRadius: 8 }}&gt;&#10;                &lt;Text style={{ width: 34, fontSize: 15, fontWeight: 'bold', color: '#167762', fontFamily: 'Consolas' }}&gt;01&lt;/Text&gt;&#10;                &lt;Box style={{ flex: 1, flexDirection: 'column', gap: 2 }}&gt;&#10;                    &lt;Text style={{ fontSize: 18, fontWeight: 'bold', color: '#0F1E19' }}&gt;认出这个人是谁&lt;/Text&gt;&#10;                    &lt;Text style={{ fontSize: 14, color: '#44534C' }}&gt;来自企业目录的身份，不是自建账号&lt;/Text&gt;&#10;                &lt;/Box&gt;&#10;            &lt;/Box&gt;&#10;            &lt;Box style={{ flexDirection: 'row', gap: 16, alignItems: 'center', padding: '14px 18px', background: 'rgba(22,119,98,0.07)', borderRadius: 8 }}&gt;&#10;                &lt;Text style={{ width: 34, fontSize: 15, fontWeight: 'bold', color: '#167762', fontFamily: 'Consolas' }}&gt;02&lt;/Text&gt;&#10;                &lt;Box style={{ flex: 1, flexDirection: 'column', gap: 2 }}&gt;&#10;                    &lt;Text style={{ fontSize: 18, fontWeight: 'bold', color: '#0F1E19' }}&gt;把候选范围压到他有权限的部分&lt;/Text&gt;&#10;                    &lt;Text style={{ fontSize: 14, color: '#44534C' }}&gt;按部门 / 项目 / 密级过滤，越权文档根本不进入计算&lt;/Text&gt;&#10;                &lt;/Box&gt;&#10;            &lt;/Box&gt;&#10;            &lt;Box style={{ flexDirection: 'row', gap: 16, alignItems: 'center', padding: '14px 18px', background: 'rgba(22,119,98,0.07)', borderRadius: 8 }}&gt;&#10;                &lt;Text style={{ width: 34, fontSize: 15, fontWeight: 'bold', color: '#167762', fontFamily: 'Consolas' }}&gt;03&lt;/Text&gt;&#10;                &lt;Box style={{ flex: 1, flexDirection: 'column', gap: 2 }}&gt;&#10;                    &lt;Text style={{ fontSize: 18, fontWeight: 'bold', color: '#0F1E19' }}&gt;只在允许的范围内做相似度检索&lt;/Text&gt;&#10;                    &lt;Text style={{ fontSize: 14, color: '#44534C' }}&gt;Top-K 从过滤后的集合里取，不是取完再筛&lt;/Text&gt;&#10;                &lt;/Box&gt;&#10;            &lt;/Box&gt;&#10;            &lt;Box style={{ flexDirection: 'row', gap: 16, alignItems: 'center', padding: '14px 18px', background: '#167762', borderRadius: 8 }}&gt;&#10;                &lt;Text style={{ width: 34, fontSize: 15, fontWeight: 'bold', color: 'rgba(255,255,255,0.75)', fontFamily: 'Consolas' }}&gt;04&lt;/Text&gt;&#10;                &lt;Box style={{ flex: 1, flexDirection: 'column', gap: 2 }}&gt;&#10;                    &lt;Text style={{ fontSize: 18, fontWeight: 'bold', color: '#FFFFFF' }}&gt;生成答案，引用同样过滤&lt;/Text&gt;&#10;                    &lt;Text style={{ fontSize: 14, color: 'rgba(255,255,255,0.82)' }}&gt;答案里的出处，只能是他能打开的那几份&lt;/Text&gt;&#10;                &lt;/Box&gt;&#10;            &lt;/Box&gt;&#10;            &lt;Text style={{ fontSize: 14, color: '#6B7A72', lineHeight: 1.6, marginTop: 4 }}&gt;每一步都是硬约束，不是提示词里&quot;请不要泄露&quot;。&lt;/Text&gt;&#10;        &lt;/Box&gt;&#10;        &lt;Box style={{ flex: 1, flexDirection: 'column', justifyContent: 'center', gap: 20 }}&gt;&#10;            &lt;Box style={{ flexDirection: 'column', gap: 6 }}&gt;&#10;                &lt;Text style={{ fontSize: 18, fontWeight: 'bold', color: '#C2410C' }}&gt;&quot;检索完再删结果&quot;为什么不行&lt;/Text&gt;&#10;                &lt;Text style={{ fontSize: 15, color: '#44534C', lineHeight: 1.65 }}&gt;模型已经读到了那段内容，答案里可能已经把它复述出来。删结果只能骗过眼睛，骗不过已经生成的文字。&lt;/Text&gt;&#10;            &lt;/Box&gt;&#10;            &lt;Box style={{ width: 100, height: 1, background: 'rgba(15,30,25,0.12)' }} /&gt;&#10;            &lt;Box style={{ flexDirection: 'column', gap: 6 }}&gt;&#10;                &lt;Text style={{ fontSize: 18, fontWeight: 'bold', color: '#0F1E19' }}&gt;引用本身就是信息&lt;/Text&gt;&#10;                &lt;Text style={{ fontSize: 15, color: '#44534C', lineHeight: 1.65 }}&gt;文件名、章节名、标题常常比正文更敏感。所以引用列表也要走同一套权限判断。&lt;/Text&gt;&#10;            &lt;/Box&gt;&#10;            &lt;Box style={{ width: 100, height: 1, background: 'rgba(15,30,25,0.12)' }} /&gt;&#10;            &lt;Box style={{ flexDirection: 'column', gap: 6 }}&gt;&#10;                &lt;Text style={{ fontSize: 18, fontWeight: 'bold', color: '#0F1E19' }}&gt;会说&quot;没有&quot;，才算可用&lt;/Text&gt;&#10;                &lt;Text style={{ fontSize: 15, color: '#44534C', lineHeight: 1.65 }}&gt;资料里没有就直说没有，不靠猜补齐。演示里问一个知识库外的问题，它会明确拒答。&lt;/Text&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10 / 15&lt;/Text&gt;&#10;    &lt;/Box&gt;&#10;&lt;/Slide&gt;&#10;"/>
        <p:cNvGrpSpPr/>
        <p:nvPr/>
      </p:nvGrpSpPr>
      <p:grpSpPr>
        <a:xfrm>
          <a:off x="0" y="0"/>
          <a:ext cx="0" cy="0"/>
          <a:chOff x="0" y="0"/>
          <a:chExt cx="0" cy="0"/>
        </a:xfrm>
      </p:grpSpPr>
      <p:sp>
        <p:nvSpPr>
          <p:cNvPr id="22" name=""/>
          <p:cNvSpPr/>
          <p:nvPr/>
        </p:nvSpPr>
        <p:spPr>
          <a:xfrm rot="0" flipH="0" flipV="0">
            <a:off x="0" y="0"/>
            <a:ext cx="12192000" cy="6858000"/>
          </a:xfrm>
          <a:prstGeom prst="rect">
            <a:avLst/>
          </a:prstGeom>
          <a:solidFill>
            <a:srgbClr val="FFFFFF"/>
          </a:solidFill>
          <a:ln/>
        </p:spPr>
        <p:txBody>
          <a:bodyPr/>
          <a:p/>
        </p:txBody>
      </p:sp>
      <p:sp>
        <p:nvSpPr>
          <p:cNvPr id="23"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Permissioned RAG: Filter First, Then Retrieve</a:t>
            </a:r>
            <a:endParaRPr/>
          </a:p>
        </p:txBody>
      </p:sp>
      <p:sp>
        <p:nvSpPr>
          <p:cNvPr id="24"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If the order is wrong, nothing built afterward helps</a:t>
            </a:r>
            <a:endParaRPr/>
          </a:p>
        </p:txBody>
      </p:sp>
      <p:sp>
        <p:nvSpPr>
          <p:cNvPr id="25" name=""/>
          <p:cNvSpPr/>
          <p:nvPr/>
        </p:nvSpPr>
        <p:spPr>
          <a:xfrm rot="0" flipH="0" flipV="0">
            <a:off x="609600" y="2019300"/>
            <a:ext cx="5905500" cy="657225"/>
          </a:xfrm>
          <a:prstGeom prst="roundRect">
            <a:avLst>
              <a:gd name="adj" fmla="val 11594"/>
            </a:avLst>
          </a:prstGeom>
          <a:solidFill>
            <a:srgbClr val="167762">
              <a:alpha val="7000"/>
            </a:srgbClr>
          </a:solidFill>
          <a:ln/>
        </p:spPr>
        <p:txBody>
          <a:bodyPr/>
          <a:p/>
        </p:txBody>
      </p:sp>
      <p:sp>
        <p:nvSpPr>
          <p:cNvPr id="26" name="" descr="{&quot;isTemplate&quot;:true,&quot;type&quot;:&quot;text&quot;}"/>
          <p:cNvSpPr txBox="1"/>
          <p:nvPr/>
        </p:nvSpPr>
        <p:spPr>
          <a:xfrm rot="0" flipH="0" flipV="0">
            <a:off x="781050" y="2266950"/>
            <a:ext cx="323850" cy="171450"/>
          </a:xfrm>
          <a:prstGeom prst="rect"/>
        </p:spPr>
        <p:txBody>
          <a:bodyPr wrap="none" lIns="0" tIns="0" rIns="0" bIns="0"/>
          <a:p>
            <a:pPr>
              <a:lnSpc>
                <a:spcPct val="100000"/>
              </a:lnSpc>
            </a:pPr>
            <a:r>
              <a:rPr lang="en-US" sz="1125" b="1">
                <a:solidFill>
                  <a:srgbClr val="167762"/>
                </a:solidFill>
                <a:latin typeface="Consolas"/>
                <a:ea typeface="Consolas"/>
              </a:rPr>
              <a:t>01</a:t>
            </a:r>
            <a:endParaRPr/>
          </a:p>
        </p:txBody>
      </p:sp>
      <p:sp>
        <p:nvSpPr>
          <p:cNvPr id="27" name="" descr="{&quot;isTemplate&quot;:true,&quot;type&quot;:&quot;text&quot;}"/>
          <p:cNvSpPr txBox="1"/>
          <p:nvPr/>
        </p:nvSpPr>
        <p:spPr>
          <a:xfrm rot="0" flipH="0" flipV="0">
            <a:off x="1257300" y="2152650"/>
            <a:ext cx="5086350" cy="209550"/>
          </a:xfrm>
          <a:prstGeom prst="rect"/>
        </p:spPr>
        <p:txBody>
          <a:bodyPr wrap="none" lIns="0" tIns="0" rIns="0" bIns="0"/>
          <a:p>
            <a:pPr>
              <a:lnSpc>
                <a:spcPct val="100000"/>
              </a:lnSpc>
            </a:pPr>
            <a:r>
              <a:rPr lang="zh-CN" sz="1350" b="1">
                <a:solidFill>
                  <a:srgbClr val="0F1E19"/>
                </a:solidFill>
                <a:latin typeface="Microsoft YaHei"/>
                <a:ea typeface="Microsoft YaHei"/>
              </a:rPr>
              <a:t>Identify who this person is</a:t>
            </a:r>
            <a:endParaRPr/>
          </a:p>
        </p:txBody>
      </p:sp>
      <p:sp>
        <p:nvSpPr>
          <p:cNvPr id="28" name="" descr="{&quot;isTemplate&quot;:true,&quot;type&quot;:&quot;text&quot;}"/>
          <p:cNvSpPr txBox="1"/>
          <p:nvPr/>
        </p:nvSpPr>
        <p:spPr>
          <a:xfrm rot="0" flipH="0" flipV="0">
            <a:off x="1257300" y="2381250"/>
            <a:ext cx="5086350" cy="161925"/>
          </a:xfrm>
          <a:prstGeom prst="rect"/>
        </p:spPr>
        <p:txBody>
          <a:bodyPr wrap="none" lIns="0" tIns="0" rIns="0" bIns="0"/>
          <a:p>
            <a:pPr>
              <a:lnSpc>
                <a:spcPct val="100000"/>
              </a:lnSpc>
            </a:pPr>
            <a:r>
              <a:rPr lang="zh-CN" sz="1050">
                <a:solidFill>
                  <a:srgbClr val="44534C"/>
                </a:solidFill>
                <a:latin typeface="Microsoft YaHei"/>
                <a:ea typeface="Microsoft YaHei"/>
              </a:rPr>
              <a:t>Identity comes from the corporate directory, not a self-built account</a:t>
            </a:r>
            <a:endParaRPr/>
          </a:p>
        </p:txBody>
      </p:sp>
      <p:sp>
        <p:nvSpPr>
          <p:cNvPr id="29" name=""/>
          <p:cNvSpPr/>
          <p:nvPr/>
        </p:nvSpPr>
        <p:spPr>
          <a:xfrm rot="0" flipH="0" flipV="0">
            <a:off x="609600" y="2809875"/>
            <a:ext cx="5905500" cy="657225"/>
          </a:xfrm>
          <a:prstGeom prst="roundRect">
            <a:avLst>
              <a:gd name="adj" fmla="val 11594"/>
            </a:avLst>
          </a:prstGeom>
          <a:solidFill>
            <a:srgbClr val="167762">
              <a:alpha val="7000"/>
            </a:srgbClr>
          </a:solidFill>
          <a:ln/>
        </p:spPr>
        <p:txBody>
          <a:bodyPr/>
          <a:p/>
        </p:txBody>
      </p:sp>
      <p:sp>
        <p:nvSpPr>
          <p:cNvPr id="30" name="" descr="{&quot;isTemplate&quot;:true,&quot;type&quot;:&quot;text&quot;}"/>
          <p:cNvSpPr txBox="1"/>
          <p:nvPr/>
        </p:nvSpPr>
        <p:spPr>
          <a:xfrm rot="0" flipH="0" flipV="0">
            <a:off x="781050" y="3057525"/>
            <a:ext cx="323850" cy="171450"/>
          </a:xfrm>
          <a:prstGeom prst="rect"/>
        </p:spPr>
        <p:txBody>
          <a:bodyPr wrap="none" lIns="0" tIns="0" rIns="0" bIns="0"/>
          <a:p>
            <a:pPr>
              <a:lnSpc>
                <a:spcPct val="100000"/>
              </a:lnSpc>
            </a:pPr>
            <a:r>
              <a:rPr lang="en-US" sz="1125" b="1">
                <a:solidFill>
                  <a:srgbClr val="167762"/>
                </a:solidFill>
                <a:latin typeface="Consolas"/>
                <a:ea typeface="Consolas"/>
              </a:rPr>
              <a:t>02</a:t>
            </a:r>
            <a:endParaRPr/>
          </a:p>
        </p:txBody>
      </p:sp>
      <p:sp>
        <p:nvSpPr>
          <p:cNvPr id="31" name="" descr="{&quot;isTemplate&quot;:true,&quot;type&quot;:&quot;text&quot;}"/>
          <p:cNvSpPr txBox="1"/>
          <p:nvPr/>
        </p:nvSpPr>
        <p:spPr>
          <a:xfrm rot="0" flipH="0" flipV="0">
            <a:off x="1257300" y="2943225"/>
            <a:ext cx="5086350" cy="209550"/>
          </a:xfrm>
          <a:prstGeom prst="rect"/>
        </p:spPr>
        <p:txBody>
          <a:bodyPr wrap="none" lIns="0" tIns="0" rIns="0" bIns="0"/>
          <a:p>
            <a:pPr>
              <a:lnSpc>
                <a:spcPct val="100000"/>
              </a:lnSpc>
            </a:pPr>
            <a:r>
              <a:rPr lang="zh-CN" sz="1350" b="1">
                <a:solidFill>
                  <a:srgbClr val="0F1E19"/>
                </a:solidFill>
                <a:latin typeface="Microsoft YaHei"/>
                <a:ea typeface="Microsoft YaHei"/>
              </a:rPr>
              <a:t>Narrow candidates to what they may see</a:t>
            </a:r>
            <a:endParaRPr/>
          </a:p>
        </p:txBody>
      </p:sp>
      <p:sp>
        <p:nvSpPr>
          <p:cNvPr id="32" name="" descr="{&quot;isTemplate&quot;:true,&quot;type&quot;:&quot;text&quot;}"/>
          <p:cNvSpPr txBox="1"/>
          <p:nvPr/>
        </p:nvSpPr>
        <p:spPr>
          <a:xfrm rot="0" flipH="0" flipV="0">
            <a:off x="1257300" y="3171825"/>
            <a:ext cx="5086350" cy="161925"/>
          </a:xfrm>
          <a:prstGeom prst="rect"/>
        </p:spPr>
        <p:txBody>
          <a:bodyPr wrap="square" lIns="0" tIns="0" rIns="0" bIns="0"/>
          <a:p>
            <a:pPr>
              <a:lnSpc>
                <a:spcPct val="100000"/>
              </a:lnSpc>
            </a:pPr>
            <a:r>
              <a:rPr lang="zh-CN" sz="840">
                <a:solidFill>
                  <a:srgbClr val="44534C"/>
                </a:solidFill>
                <a:latin typeface="Microsoft YaHei"/>
                <a:ea typeface="Microsoft YaHei"/>
              </a:rPr>
              <a:t>Filter by department / project / level; documents they cannot access never enter the computation</a:t>
            </a:r>
            <a:endParaRPr/>
          </a:p>
        </p:txBody>
      </p:sp>
      <p:sp>
        <p:nvSpPr>
          <p:cNvPr id="33" name=""/>
          <p:cNvSpPr/>
          <p:nvPr/>
        </p:nvSpPr>
        <p:spPr>
          <a:xfrm rot="0" flipH="0" flipV="0">
            <a:off x="609600" y="3600450"/>
            <a:ext cx="5905500" cy="657225"/>
          </a:xfrm>
          <a:prstGeom prst="roundRect">
            <a:avLst>
              <a:gd name="adj" fmla="val 11594"/>
            </a:avLst>
          </a:prstGeom>
          <a:solidFill>
            <a:srgbClr val="167762">
              <a:alpha val="7000"/>
            </a:srgbClr>
          </a:solidFill>
          <a:ln/>
        </p:spPr>
        <p:txBody>
          <a:bodyPr/>
          <a:p/>
        </p:txBody>
      </p:sp>
      <p:sp>
        <p:nvSpPr>
          <p:cNvPr id="34" name="" descr="{&quot;isTemplate&quot;:true,&quot;type&quot;:&quot;text&quot;}"/>
          <p:cNvSpPr txBox="1"/>
          <p:nvPr/>
        </p:nvSpPr>
        <p:spPr>
          <a:xfrm rot="0" flipH="0" flipV="0">
            <a:off x="781050" y="3848100"/>
            <a:ext cx="323850" cy="171450"/>
          </a:xfrm>
          <a:prstGeom prst="rect"/>
        </p:spPr>
        <p:txBody>
          <a:bodyPr wrap="none" lIns="0" tIns="0" rIns="0" bIns="0"/>
          <a:p>
            <a:pPr>
              <a:lnSpc>
                <a:spcPct val="100000"/>
              </a:lnSpc>
            </a:pPr>
            <a:r>
              <a:rPr lang="en-US" sz="1125" b="1">
                <a:solidFill>
                  <a:srgbClr val="167762"/>
                </a:solidFill>
                <a:latin typeface="Consolas"/>
                <a:ea typeface="Consolas"/>
              </a:rPr>
              <a:t>03</a:t>
            </a:r>
            <a:endParaRPr/>
          </a:p>
        </p:txBody>
      </p:sp>
      <p:sp>
        <p:nvSpPr>
          <p:cNvPr id="35" name="" descr="{&quot;isTemplate&quot;:true,&quot;type&quot;:&quot;text&quot;}"/>
          <p:cNvSpPr txBox="1"/>
          <p:nvPr/>
        </p:nvSpPr>
        <p:spPr>
          <a:xfrm rot="0" flipH="0" flipV="0">
            <a:off x="1257300" y="3733800"/>
            <a:ext cx="5086350" cy="209550"/>
          </a:xfrm>
          <a:prstGeom prst="rect"/>
        </p:spPr>
        <p:txBody>
          <a:bodyPr wrap="none" lIns="0" tIns="0" rIns="0" bIns="0"/>
          <a:p>
            <a:pPr>
              <a:lnSpc>
                <a:spcPct val="100000"/>
              </a:lnSpc>
            </a:pPr>
            <a:r>
              <a:rPr lang="zh-CN" sz="1350" b="1">
                <a:solidFill>
                  <a:srgbClr val="0F1E19"/>
                </a:solidFill>
                <a:latin typeface="Microsoft YaHei"/>
                <a:ea typeface="Microsoft YaHei"/>
              </a:rPr>
              <a:t>Run similarity search only within that scope</a:t>
            </a:r>
            <a:endParaRPr/>
          </a:p>
        </p:txBody>
      </p:sp>
      <p:sp>
        <p:nvSpPr>
          <p:cNvPr id="36" name="" descr="{&quot;isTemplate&quot;:true,&quot;type&quot;:&quot;text&quot;}"/>
          <p:cNvSpPr txBox="1"/>
          <p:nvPr/>
        </p:nvSpPr>
        <p:spPr>
          <a:xfrm rot="0" flipH="0" flipV="0">
            <a:off x="1257300" y="3962400"/>
            <a:ext cx="5086350" cy="161925"/>
          </a:xfrm>
          <a:prstGeom prst="rect"/>
        </p:spPr>
        <p:txBody>
          <a:bodyPr wrap="none" lIns="0" tIns="0" rIns="0" bIns="0"/>
          <a:p>
            <a:pPr>
              <a:lnSpc>
                <a:spcPct val="100000"/>
              </a:lnSpc>
            </a:pPr>
            <a:r>
              <a:rPr lang="en-US" sz="1050">
                <a:solidFill>
                  <a:srgbClr val="44534C"/>
                </a:solidFill>
                <a:latin typeface="Microsoft YaHei"/>
                <a:ea typeface="Microsoft YaHei"/>
              </a:rPr>
              <a:t>Top-K is taken from the filtered set, not filtered after the fact</a:t>
            </a:r>
            <a:endParaRPr/>
          </a:p>
        </p:txBody>
      </p:sp>
      <p:sp>
        <p:nvSpPr>
          <p:cNvPr id="37" name=""/>
          <p:cNvSpPr/>
          <p:nvPr/>
        </p:nvSpPr>
        <p:spPr>
          <a:xfrm rot="0" flipH="0" flipV="0">
            <a:off x="609600" y="4391025"/>
            <a:ext cx="5905500" cy="657225"/>
          </a:xfrm>
          <a:prstGeom prst="roundRect">
            <a:avLst>
              <a:gd name="adj" fmla="val 11594"/>
            </a:avLst>
          </a:prstGeom>
          <a:solidFill>
            <a:srgbClr val="167762"/>
          </a:solidFill>
          <a:ln/>
        </p:spPr>
        <p:txBody>
          <a:bodyPr/>
          <a:p/>
        </p:txBody>
      </p:sp>
      <p:sp>
        <p:nvSpPr>
          <p:cNvPr id="38" name="" descr="{&quot;isTemplate&quot;:true,&quot;type&quot;:&quot;text&quot;}"/>
          <p:cNvSpPr txBox="1"/>
          <p:nvPr/>
        </p:nvSpPr>
        <p:spPr>
          <a:xfrm rot="0" flipH="0" flipV="0">
            <a:off x="781050" y="4638675"/>
            <a:ext cx="323850" cy="171450"/>
          </a:xfrm>
          <a:prstGeom prst="rect"/>
        </p:spPr>
        <p:txBody>
          <a:bodyPr wrap="none" lIns="0" tIns="0" rIns="0" bIns="0"/>
          <a:p>
            <a:pPr>
              <a:lnSpc>
                <a:spcPct val="100000"/>
              </a:lnSpc>
            </a:pPr>
            <a:r>
              <a:rPr lang="en-US" sz="1125" b="1">
                <a:solidFill>
                  <a:srgbClr val="FFFFFF">
                    <a:alpha val="75000"/>
                  </a:srgbClr>
                </a:solidFill>
                <a:latin typeface="Consolas"/>
                <a:ea typeface="Consolas"/>
              </a:rPr>
              <a:t>04</a:t>
            </a:r>
            <a:endParaRPr/>
          </a:p>
        </p:txBody>
      </p:sp>
      <p:sp>
        <p:nvSpPr>
          <p:cNvPr id="39" name="" descr="{&quot;isTemplate&quot;:true,&quot;type&quot;:&quot;text&quot;}"/>
          <p:cNvSpPr txBox="1"/>
          <p:nvPr/>
        </p:nvSpPr>
        <p:spPr>
          <a:xfrm rot="0" flipH="0" flipV="0">
            <a:off x="1257300" y="4524375"/>
            <a:ext cx="5086350" cy="209550"/>
          </a:xfrm>
          <a:prstGeom prst="rect"/>
        </p:spPr>
        <p:txBody>
          <a:bodyPr wrap="none" lIns="0" tIns="0" rIns="0" bIns="0"/>
          <a:p>
            <a:pPr>
              <a:lnSpc>
                <a:spcPct val="100000"/>
              </a:lnSpc>
            </a:pPr>
            <a:r>
              <a:rPr lang="zh-CN" sz="1350" b="1">
                <a:solidFill>
                  <a:srgbClr val="FFFFFF"/>
                </a:solidFill>
                <a:latin typeface="Microsoft YaHei"/>
                <a:ea typeface="Microsoft YaHei"/>
              </a:rPr>
              <a:t>Generate the answer; citations get the same filter</a:t>
            </a:r>
            <a:endParaRPr/>
          </a:p>
        </p:txBody>
      </p:sp>
      <p:sp>
        <p:nvSpPr>
          <p:cNvPr id="40" name="" descr="{&quot;isTemplate&quot;:true,&quot;type&quot;:&quot;text&quot;}"/>
          <p:cNvSpPr txBox="1"/>
          <p:nvPr/>
        </p:nvSpPr>
        <p:spPr>
          <a:xfrm rot="0" flipH="0" flipV="0">
            <a:off x="1257300" y="4752975"/>
            <a:ext cx="5086350" cy="161925"/>
          </a:xfrm>
          <a:prstGeom prst="rect"/>
        </p:spPr>
        <p:txBody>
          <a:bodyPr wrap="none" lIns="0" tIns="0" rIns="0" bIns="0"/>
          <a:p>
            <a:pPr>
              <a:lnSpc>
                <a:spcPct val="100000"/>
              </a:lnSpc>
            </a:pPr>
            <a:r>
              <a:rPr lang="zh-CN" sz="1050">
                <a:solidFill>
                  <a:srgbClr val="FFFFFF">
                    <a:alpha val="82000"/>
                  </a:srgbClr>
                </a:solidFill>
                <a:latin typeface="Microsoft YaHei"/>
                <a:ea typeface="Microsoft YaHei"/>
              </a:rPr>
              <a:t>Sources in the answer can only be documents they are allowed to open</a:t>
            </a:r>
            <a:endParaRPr/>
          </a:p>
        </p:txBody>
      </p:sp>
      <p:sp>
        <p:nvSpPr>
          <p:cNvPr id="41" name="" descr="{&quot;isTemplate&quot;:true,&quot;type&quot;:&quot;text&quot;}"/>
          <p:cNvSpPr txBox="1"/>
          <p:nvPr/>
        </p:nvSpPr>
        <p:spPr>
          <a:xfrm rot="0" flipH="0" flipV="0">
            <a:off x="609600" y="5219700"/>
            <a:ext cx="5905500" cy="257175"/>
          </a:xfrm>
          <a:prstGeom prst="rect"/>
        </p:spPr>
        <p:txBody>
          <a:bodyPr wrap="none" lIns="0" tIns="0" rIns="0" bIns="0"/>
          <a:p>
            <a:pPr>
              <a:lnSpc>
                <a:spcPct val="160000"/>
              </a:lnSpc>
            </a:pPr>
            <a:r>
              <a:rPr lang="zh-CN" sz="1050">
                <a:solidFill>
                  <a:srgbClr val="6B7A72"/>
                </a:solidFill>
                <a:latin typeface="Microsoft YaHei"/>
                <a:ea typeface="Microsoft YaHei"/>
              </a:rPr>
              <a:t>Each step is a hard constraint, not a prompt that says "please do not leak."</a:t>
            </a:r>
            <a:endParaRPr/>
          </a:p>
        </p:txBody>
      </p:sp>
      <p:sp>
        <p:nvSpPr>
          <p:cNvPr id="42" name="" descr="{&quot;isTemplate&quot;:true,&quot;type&quot;:&quot;text&quot;}"/>
          <p:cNvSpPr txBox="1"/>
          <p:nvPr/>
        </p:nvSpPr>
        <p:spPr>
          <a:xfrm rot="0" flipH="0" flipV="0">
            <a:off x="6934200" y="2095500"/>
            <a:ext cx="4648200" cy="209550"/>
          </a:xfrm>
          <a:prstGeom prst="rect"/>
        </p:spPr>
        <p:txBody>
          <a:bodyPr wrap="none" lIns="0" tIns="0" rIns="0" bIns="0"/>
          <a:p>
            <a:pPr>
              <a:lnSpc>
                <a:spcPct val="100000"/>
              </a:lnSpc>
            </a:pPr>
            <a:r>
              <a:rPr lang="en-US" sz="1350" b="1">
                <a:solidFill>
                  <a:srgbClr val="C2410C"/>
                </a:solidFill>
                <a:latin typeface="Microsoft YaHei"/>
                <a:ea typeface="Microsoft YaHei"/>
              </a:rPr>
              <a:t>Why "removing results after retrieval" does not work</a:t>
            </a:r>
            <a:endParaRPr/>
          </a:p>
        </p:txBody>
      </p:sp>
      <p:sp>
        <p:nvSpPr>
          <p:cNvPr id="43" name="" descr="{&quot;isTemplate&quot;:true,&quot;type&quot;:&quot;text&quot;}"/>
          <p:cNvSpPr txBox="1"/>
          <p:nvPr/>
        </p:nvSpPr>
        <p:spPr>
          <a:xfrm rot="0" flipH="0" flipV="0">
            <a:off x="6934200" y="2362200"/>
            <a:ext cx="4648200" cy="571500"/>
          </a:xfrm>
          <a:prstGeom prst="rect"/>
        </p:spPr>
        <p:txBody>
          <a:bodyPr wrap="square" lIns="0" tIns="0" rIns="0" bIns="0">
            <a:normAutofit/>
          </a:bodyPr>
          <a:p>
            <a:pPr>
              <a:lnSpc>
                <a:spcPct val="165000"/>
              </a:lnSpc>
            </a:pPr>
            <a:r>
              <a:rPr lang="zh-CN" sz="1125">
                <a:solidFill>
                  <a:srgbClr val="44534C"/>
                </a:solidFill>
                <a:latin typeface="Microsoft YaHei"/>
                <a:ea typeface="Microsoft YaHei"/>
              </a:rPr>
              <a:t>The model has already read that content, and the answer may already restate it. Deleting results only fools the eye; it does not undo text that has already been generated.</a:t>
            </a:r>
            <a:endParaRPr/>
          </a:p>
        </p:txBody>
      </p:sp>
      <p:sp>
        <p:nvSpPr>
          <p:cNvPr id="44" name=""/>
          <p:cNvSpPr/>
          <p:nvPr/>
        </p:nvSpPr>
        <p:spPr>
          <a:xfrm rot="0" flipH="0" flipV="0">
            <a:off x="6934200" y="3124200"/>
            <a:ext cx="952500" cy="9525"/>
          </a:xfrm>
          <a:prstGeom prst="rect">
            <a:avLst/>
          </a:prstGeom>
          <a:solidFill>
            <a:srgbClr val="0F1E19">
              <a:alpha val="12000"/>
            </a:srgbClr>
          </a:solidFill>
          <a:ln/>
        </p:spPr>
        <p:txBody>
          <a:bodyPr/>
          <a:p/>
        </p:txBody>
      </p:sp>
      <p:sp>
        <p:nvSpPr>
          <p:cNvPr id="45" name="" descr="{&quot;isTemplate&quot;:true,&quot;type&quot;:&quot;text&quot;}"/>
          <p:cNvSpPr txBox="1"/>
          <p:nvPr/>
        </p:nvSpPr>
        <p:spPr>
          <a:xfrm rot="0" flipH="0" flipV="0">
            <a:off x="6934200" y="3324225"/>
            <a:ext cx="4648200" cy="209550"/>
          </a:xfrm>
          <a:prstGeom prst="rect"/>
        </p:spPr>
        <p:txBody>
          <a:bodyPr wrap="none" lIns="0" tIns="0" rIns="0" bIns="0"/>
          <a:p>
            <a:pPr>
              <a:lnSpc>
                <a:spcPct val="100000"/>
              </a:lnSpc>
            </a:pPr>
            <a:r>
              <a:rPr lang="zh-CN" sz="1350" b="1">
                <a:solidFill>
                  <a:srgbClr val="0F1E19"/>
                </a:solidFill>
                <a:latin typeface="Microsoft YaHei"/>
                <a:ea typeface="Microsoft YaHei"/>
              </a:rPr>
              <a:t>The citations are information too</a:t>
            </a:r>
            <a:endParaRPr/>
          </a:p>
        </p:txBody>
      </p:sp>
      <p:sp>
        <p:nvSpPr>
          <p:cNvPr id="46" name="" descr="{&quot;isTemplate&quot;:true,&quot;type&quot;:&quot;text&quot;}"/>
          <p:cNvSpPr txBox="1"/>
          <p:nvPr/>
        </p:nvSpPr>
        <p:spPr>
          <a:xfrm rot="0" flipH="0" flipV="0">
            <a:off x="6934200" y="3590925"/>
            <a:ext cx="4648200" cy="571500"/>
          </a:xfrm>
          <a:prstGeom prst="rect"/>
        </p:spPr>
        <p:txBody>
          <a:bodyPr wrap="square" lIns="0" tIns="0" rIns="0" bIns="0">
            <a:normAutofit/>
          </a:bodyPr>
          <a:p>
            <a:pPr>
              <a:lnSpc>
                <a:spcPct val="165000"/>
              </a:lnSpc>
            </a:pPr>
            <a:r>
              <a:rPr lang="zh-CN" sz="1125">
                <a:solidFill>
                  <a:srgbClr val="44534C"/>
                </a:solidFill>
                <a:latin typeface="Microsoft YaHei"/>
                <a:ea typeface="Microsoft YaHei"/>
              </a:rPr>
              <a:t>File names, section names, and titles are often more sensitive than the body text. So the citation list must pass the same permission check.</a:t>
            </a:r>
            <a:endParaRPr/>
          </a:p>
        </p:txBody>
      </p:sp>
      <p:sp>
        <p:nvSpPr>
          <p:cNvPr id="47" name=""/>
          <p:cNvSpPr/>
          <p:nvPr/>
        </p:nvSpPr>
        <p:spPr>
          <a:xfrm rot="0" flipH="0" flipV="0">
            <a:off x="6934200" y="4352925"/>
            <a:ext cx="952500" cy="9525"/>
          </a:xfrm>
          <a:prstGeom prst="rect">
            <a:avLst/>
          </a:prstGeom>
          <a:solidFill>
            <a:srgbClr val="0F1E19">
              <a:alpha val="12000"/>
            </a:srgbClr>
          </a:solidFill>
          <a:ln/>
        </p:spPr>
        <p:txBody>
          <a:bodyPr/>
          <a:p/>
        </p:txBody>
      </p:sp>
      <p:sp>
        <p:nvSpPr>
          <p:cNvPr id="48" name="" descr="{&quot;isTemplate&quot;:true,&quot;type&quot;:&quot;text&quot;}"/>
          <p:cNvSpPr txBox="1"/>
          <p:nvPr/>
        </p:nvSpPr>
        <p:spPr>
          <a:xfrm rot="0" flipH="0" flipV="0">
            <a:off x="6934200" y="4552950"/>
            <a:ext cx="4648200" cy="209550"/>
          </a:xfrm>
          <a:prstGeom prst="rect"/>
        </p:spPr>
        <p:txBody>
          <a:bodyPr wrap="none" lIns="0" tIns="0" rIns="0" bIns="0"/>
          <a:p>
            <a:pPr>
              <a:lnSpc>
                <a:spcPct val="100000"/>
              </a:lnSpc>
            </a:pPr>
            <a:r>
              <a:rPr lang="zh-CN" sz="1350" b="1">
                <a:solidFill>
                  <a:srgbClr val="0F1E19"/>
                </a:solidFill>
                <a:latin typeface="Microsoft YaHei"/>
                <a:ea typeface="Microsoft YaHei"/>
              </a:rPr>
              <a:t>Being able to say "not found" is what makes it usable</a:t>
            </a:r>
            <a:endParaRPr/>
          </a:p>
        </p:txBody>
      </p:sp>
      <p:sp>
        <p:nvSpPr>
          <p:cNvPr id="49" name="" descr="{&quot;isTemplate&quot;:true,&quot;type&quot;:&quot;text&quot;}"/>
          <p:cNvSpPr txBox="1"/>
          <p:nvPr/>
        </p:nvSpPr>
        <p:spPr>
          <a:xfrm rot="0" flipH="0" flipV="0">
            <a:off x="6934200" y="4819650"/>
            <a:ext cx="4648200" cy="571500"/>
          </a:xfrm>
          <a:prstGeom prst="rect"/>
        </p:spPr>
        <p:txBody>
          <a:bodyPr wrap="square" lIns="0" tIns="0" rIns="0" bIns="0">
            <a:normAutofit/>
          </a:bodyPr>
          <a:p>
            <a:pPr>
              <a:lnSpc>
                <a:spcPct val="165000"/>
              </a:lnSpc>
            </a:pPr>
            <a:r>
              <a:rPr lang="zh-CN" sz="1125">
                <a:solidFill>
                  <a:srgbClr val="44534C"/>
                </a:solidFill>
                <a:latin typeface="Microsoft YaHei"/>
                <a:ea typeface="Microsoft YaHei"/>
              </a:rPr>
              <a:t>If the material does not contain the answer, say so; do not guess to fill the gap. In the demo, a question outside the knowledge base gets an explicit refusal.</a:t>
            </a:r>
            <a:endParaRPr/>
          </a:p>
        </p:txBody>
      </p:sp>
      <p:sp>
        <p:nvSpPr>
          <p:cNvPr id="50"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51"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10 / 15</a:t>
            </a:r>
            <a:endParaRPr/>
          </a:p>
        </p:txBody>
      </p:sp>
    </p:spTree>
  </p:cSld>
</p:sld>
</file>

<file path=ppt/slides/slide11.xml><?xml version="1.0" encoding="utf-8"?>
<p:sld xmlns:p="http://schemas.openxmlformats.org/presentationml/2006/main" xmlns:a="http://schemas.openxmlformats.org/drawingml/2006/main">
  <p:cSld>
    <p:spTree>
      <p:nvGrpSpPr>
        <p:cNvPr id="52" name="" descr="&lt;Slide style={{ width: 1280, height: 720, background: '#FFFFFF', padding: '26px 64px 18px 64px', position: 'relative', fontFamily: 'Microsoft YaHei' }}&gt;&#10;    &lt;Box style={{ flexDirection: 'column', gap: 6, height: 104 }}&gt;&#10;        &lt;Text style={{ fontSize: 36, fontWeight: 'bold', color: '#0F1E19', lineHeight: 1.3 }}&gt;完全离线：能做到，代价是什么&lt;/Text&gt;&#10;        &lt;Text style={{ fontSize: 17, color: '#6B7A72', lineHeight: 1.5 }}&gt;离线不是买断，是把外网依赖换成一条受控的窄通道&lt;/Text&gt;&#10;    &lt;/Box&gt;&#10;    &lt;Box style={{ flexDirection: 'row', gap: 40, height: 526 }}&gt;&#10;        &lt;Box style={{ width: 676, flexDirection: 'column', gap: 14 }}&gt;&#10;            &lt;Box style={{ flexDirection: 'row', paddingBottom: 8, borderBottom: '2px solid #0F1E19' }}&gt;&#10;                &lt;Text style={{ flex: 1, fontSize: 15, fontWeight: 'bold', color: '#0F1E19' }}&gt;能力&lt;/Text&gt;&#10;                &lt;Text style={{ flex: 1.35, fontSize: 15, fontWeight: 'bold', color: '#0F1E19' }}&gt;离线之后的代价&lt;/Text&gt;&#10;            &lt;/Box&gt;&#10;            &lt;Box style={{ flexDirection: 'row', paddingBottom: 10, borderBottom: '1px solid rgba(15,30,25,0.10)' }}&gt;&#10;                &lt;Text style={{ flex: 1, fontSize: 16, color: '#0F1E19' }}&gt;代码托管&lt;/Text&gt;&#10;                &lt;Text style={{ flex: 1.35, fontSize: 15, color: '#44534C', lineHeight: 1.5 }}&gt;自建 GitLab / Gitea，要有人维护、打补丁、做备份&lt;/Text&gt;&#10;            &lt;/Box&gt;&#10;            &lt;Box style={{ flexDirection: 'row', paddingBottom: 10, borderBottom: '1px solid rgba(15,30,25,0.10)' }}&gt;&#10;                &lt;Text style={{ flex: 1, fontSize: 16, color: '#0F1E19' }}&gt;依赖安装&lt;/Text&gt;&#10;                &lt;Text style={{ flex: 1.35, fontSize: 15, color: '#44534C', lineHeight: 1.5 }}&gt;npm / pip / 镜像走内网源，新包要人工审批后导入&lt;/Text&gt;&#10;            &lt;/Box&gt;&#10;            &lt;Box style={{ flexDirection: 'row', paddingBottom: 10, borderBottom: '1px solid rgba(15,30,25,0.10)' }}&gt;&#10;                &lt;Text style={{ flex: 1, fontSize: 16, color: '#0F1E19' }}&gt;安全补丁&lt;/Text&gt;&#10;                &lt;Text style={{ flex: 1.35, fontSize: 15, color: '#44534C', lineHeight: 1.5 }}&gt;摆渡导入 + 先扫描再放行，通常滞后数天到数周&lt;/Text&gt;&#10;            &lt;/Box&gt;&#10;            &lt;Box style={{ flexDirection: 'row' }}&gt;&#10;                &lt;Text style={{ flex: 1, fontSize: 16, color: '#0F1E19' }}&gt;模型更新&lt;/Text&gt;&#10;                &lt;Text style={{ flex: 1.35, fontSize: 15, color: '#44534C', lineHeight: 1.5 }}&gt;权重离线下载、校验、再分发，不能点一下&quot;更新&quot;&lt;/Text&gt;&#10;            &lt;/Box&gt;&#10;            &lt;Box style={{ marginTop: 'auto', padding: '12px 16px', background: 'rgba(22,119,98,0.07)', borderRadius: 6 }}&gt;&#10;                &lt;Text style={{ fontSize: 15, color: '#0F1E19', lineHeight: 1.6 }}&gt;所以真正的设计题不是&quot;能不能离线&quot;，而是&quot;离线之后，谁来承担这条窄通道的运维&quot;。&lt;/Text&gt;&#10;            &lt;/Box&gt;&#10;        &lt;/Box&gt;&#10;        &lt;Box style={{ flex: 1, flexDirection: 'column', justifyContent: 'center', gap: 18 }}&gt;&#10;            &lt;Text style={{ fontSize: 14, color: '#167762', letterSpacing: 2 }}&gt;坏了怎么办&lt;/Text&gt;&#10;            &lt;Box style={{ flexDirection: 'column', gap: 4 }}&gt;&#10;                &lt;Text style={{ fontSize: 18, fontWeight: 'bold', color: '#0F1E19' }}&gt;备份&lt;/Text&gt;&#10;                &lt;Text style={{ fontSize: 15, color: '#44534C', lineHeight: 1.6 }}&gt;仓库镜像 + 文档库 + 密钥，加密后外送一份。只留一份在原机房的，不叫备份。&lt;/Text&gt;&#10;            &lt;/Box&gt;&#10;            &lt;Box style={{ flexDirection: 'column', gap: 4 }}&gt;&#10;                &lt;Text style={{ fontSize: 18, fontWeight: 'bold', color: '#0F1E19' }}&gt;重建&lt;/Text&gt;&#10;                &lt;Text style={{ fontSize: 15, color: '#44534C', lineHeight: 1.6 }}&gt;环境用代码描述（IaC + 镜像），机器坏了是重装，不是重搭。恢复时间从几天压到几小时。&lt;/Text&gt;&#10;            &lt;/Box&gt;&#10;            &lt;Box style={{ flexDirection: 'column', gap: 4 }}&gt;&#10;                &lt;Text style={{ fontSize: 18, fontWeight: 'bold', color: '#0F1E19' }}&gt;演练&lt;/Text&gt;&#10;                &lt;Text style={{ fontSize: 15, color: '#44534C', lineHeight: 1.6 }}&gt;每季度真恢复一次。没演练过的备份，只能算&quot;希望&quot;。&lt;/Text&gt;&#10;            &lt;/Box&gt;&#10;            &lt;Box style={{ flexDirection: 'column', gap: 4, marginTop: 6, padding: 14, background: 'rgba(194,65,12,0.08)', borderRadius: 6 }}&gt;&#10;                &lt;Text style={{ fontSize: 15, fontWeight: 'bold', color: '#C2410C' }}&gt;需要你给两个数&lt;/Text&gt;&#10;                &lt;Text style={{ fontSize: 15, color: '#0F1E19', lineHeight: 1.6 }}&gt;RPO：最多能丢多少数据；RTO：多久必须恢复。这两个数直接决定备份频率和投入。&lt;/Text&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11 / 15&lt;/Text&gt;&#10;    &lt;/Box&gt;&#10;&lt;/Slide&gt;&#10;"/>
        <p:cNvGrpSpPr/>
        <p:nvPr/>
      </p:nvGrpSpPr>
      <p:grpSpPr>
        <a:xfrm>
          <a:off x="0" y="0"/>
          <a:ext cx="0" cy="0"/>
          <a:chOff x="0" y="0"/>
          <a:chExt cx="0" cy="0"/>
        </a:xfrm>
      </p:grpSpPr>
      <p:sp>
        <p:nvSpPr>
          <p:cNvPr id="53" name=""/>
          <p:cNvSpPr/>
          <p:nvPr/>
        </p:nvSpPr>
        <p:spPr>
          <a:xfrm rot="0" flipH="0" flipV="0">
            <a:off x="0" y="0"/>
            <a:ext cx="12192000" cy="6858000"/>
          </a:xfrm>
          <a:prstGeom prst="rect">
            <a:avLst/>
          </a:prstGeom>
          <a:solidFill>
            <a:srgbClr val="FFFFFF"/>
          </a:solidFill>
          <a:ln/>
        </p:spPr>
        <p:txBody>
          <a:bodyPr/>
          <a:p/>
        </p:txBody>
      </p:sp>
      <p:sp>
        <p:nvSpPr>
          <p:cNvPr id="54"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Fully Offline: Achievable, but at What Cost</a:t>
            </a:r>
            <a:endParaRPr/>
          </a:p>
        </p:txBody>
      </p:sp>
      <p:sp>
        <p:nvSpPr>
          <p:cNvPr id="55"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Going offline is not a one-time purchase; it replaces the external dependency with one controlled, narrow channel</a:t>
            </a:r>
            <a:endParaRPr/>
          </a:p>
        </p:txBody>
      </p:sp>
      <p:sp>
        <p:nvSpPr>
          <p:cNvPr id="56" name=""/>
          <p:cNvSpPr/>
          <p:nvPr/>
        </p:nvSpPr>
        <p:spPr>
          <a:xfrm rot="0" flipH="0" flipV="0">
            <a:off x="609600" y="1238250"/>
            <a:ext cx="6438900" cy="285750"/>
          </a:xfrm>
          <a:custGeom>
            <a:pathLst>
              <a:path w="676" h="30">
                <a:moveTo>
                  <a:pt x="0" y="28"/>
                </a:moveTo>
                <a:lnTo>
                  <a:pt x="676" y="28"/>
                </a:lnTo>
                <a:lnTo>
                  <a:pt x="676" y="30"/>
                </a:lnTo>
                <a:lnTo>
                  <a:pt x="0" y="30"/>
                </a:lnTo>
                <a:close/>
              </a:path>
            </a:pathLst>
          </a:custGeom>
          <a:solidFill>
            <a:srgbClr val="0F1E19"/>
          </a:solidFill>
          <a:ln/>
        </p:spPr>
        <p:txBody>
          <a:bodyPr/>
          <a:p/>
        </p:txBody>
      </p:sp>
      <p:sp>
        <p:nvSpPr>
          <p:cNvPr id="57" name="" descr="{&quot;isTemplate&quot;:true,&quot;type&quot;:&quot;text&quot;}"/>
          <p:cNvSpPr txBox="1"/>
          <p:nvPr/>
        </p:nvSpPr>
        <p:spPr>
          <a:xfrm rot="0" flipH="0" flipV="0">
            <a:off x="609600" y="1238250"/>
            <a:ext cx="2743200" cy="171450"/>
          </a:xfrm>
          <a:prstGeom prst="rect"/>
        </p:spPr>
        <p:txBody>
          <a:bodyPr wrap="none" lIns="0" tIns="0" rIns="0" bIns="0"/>
          <a:p>
            <a:pPr>
              <a:lnSpc>
                <a:spcPct val="100000"/>
              </a:lnSpc>
            </a:pPr>
            <a:r>
              <a:rPr lang="zh-CN" sz="1125" b="1">
                <a:solidFill>
                  <a:srgbClr val="0F1E19"/>
                </a:solidFill>
                <a:latin typeface="Microsoft YaHei"/>
                <a:ea typeface="Microsoft YaHei"/>
              </a:rPr>
              <a:t>Capability</a:t>
            </a:r>
            <a:endParaRPr/>
          </a:p>
        </p:txBody>
      </p:sp>
      <p:sp>
        <p:nvSpPr>
          <p:cNvPr id="58" name="" descr="{&quot;isTemplate&quot;:true,&quot;type&quot;:&quot;text&quot;}"/>
          <p:cNvSpPr txBox="1"/>
          <p:nvPr/>
        </p:nvSpPr>
        <p:spPr>
          <a:xfrm rot="0" flipH="0" flipV="0">
            <a:off x="3352800" y="1238250"/>
            <a:ext cx="3695700" cy="171450"/>
          </a:xfrm>
          <a:prstGeom prst="rect"/>
        </p:spPr>
        <p:txBody>
          <a:bodyPr wrap="none" lIns="0" tIns="0" rIns="0" bIns="0"/>
          <a:p>
            <a:pPr>
              <a:lnSpc>
                <a:spcPct val="100000"/>
              </a:lnSpc>
            </a:pPr>
            <a:r>
              <a:rPr lang="zh-CN" sz="1125" b="1">
                <a:solidFill>
                  <a:srgbClr val="0F1E19"/>
                </a:solidFill>
                <a:latin typeface="Microsoft YaHei"/>
                <a:ea typeface="Microsoft YaHei"/>
              </a:rPr>
              <a:t>Cost once offline</a:t>
            </a:r>
            <a:endParaRPr/>
          </a:p>
        </p:txBody>
      </p:sp>
      <p:sp>
        <p:nvSpPr>
          <p:cNvPr id="59" name=""/>
          <p:cNvSpPr/>
          <p:nvPr/>
        </p:nvSpPr>
        <p:spPr>
          <a:xfrm rot="0" flipH="0" flipV="0">
            <a:off x="609600" y="1638300"/>
            <a:ext cx="6438900" cy="371475"/>
          </a:xfrm>
          <a:custGeom>
            <a:pathLst>
              <a:path w="676" h="39">
                <a:moveTo>
                  <a:pt x="0" y="38"/>
                </a:moveTo>
                <a:lnTo>
                  <a:pt x="676" y="38"/>
                </a:lnTo>
                <a:lnTo>
                  <a:pt x="676" y="39"/>
                </a:lnTo>
                <a:lnTo>
                  <a:pt x="0" y="39"/>
                </a:lnTo>
                <a:close/>
              </a:path>
            </a:pathLst>
          </a:custGeom>
          <a:solidFill>
            <a:srgbClr val="0F1E19">
              <a:alpha val="10000"/>
            </a:srgbClr>
          </a:solidFill>
          <a:ln/>
        </p:spPr>
        <p:txBody>
          <a:bodyPr/>
          <a:p/>
        </p:txBody>
      </p:sp>
      <p:sp>
        <p:nvSpPr>
          <p:cNvPr id="60" name="" descr="{&quot;isTemplate&quot;:true,&quot;type&quot;:&quot;text&quot;}"/>
          <p:cNvSpPr txBox="1"/>
          <p:nvPr/>
        </p:nvSpPr>
        <p:spPr>
          <a:xfrm rot="0" flipH="0" flipV="0">
            <a:off x="609600" y="1638300"/>
            <a:ext cx="2743200" cy="257175"/>
          </a:xfrm>
          <a:prstGeom prst="rect"/>
        </p:spPr>
        <p:txBody>
          <a:bodyPr wrap="none" lIns="0" tIns="0" rIns="0" bIns="0"/>
          <a:p>
            <a:pPr>
              <a:lnSpc>
                <a:spcPct val="100000"/>
              </a:lnSpc>
            </a:pPr>
            <a:r>
              <a:rPr lang="zh-CN" sz="1200">
                <a:solidFill>
                  <a:srgbClr val="0F1E19"/>
                </a:solidFill>
                <a:latin typeface="Microsoft YaHei"/>
                <a:ea typeface="Microsoft YaHei"/>
              </a:rPr>
              <a:t>Code hosting</a:t>
            </a:r>
            <a:endParaRPr/>
          </a:p>
        </p:txBody>
      </p:sp>
      <p:sp>
        <p:nvSpPr>
          <p:cNvPr id="61" name="" descr="{&quot;isTemplate&quot;:true,&quot;type&quot;:&quot;text&quot;}"/>
          <p:cNvSpPr txBox="1"/>
          <p:nvPr/>
        </p:nvSpPr>
        <p:spPr>
          <a:xfrm rot="0" flipH="0" flipV="0">
            <a:off x="3352800" y="1638300"/>
            <a:ext cx="3695700" cy="257175"/>
          </a:xfrm>
          <a:prstGeom prst="rect"/>
        </p:spPr>
        <p:txBody>
          <a:bodyPr wrap="square" lIns="0" tIns="0" rIns="0" bIns="0"/>
          <a:p>
            <a:pPr>
              <a:lnSpc>
                <a:spcPct val="150000"/>
              </a:lnSpc>
            </a:pPr>
            <a:r>
              <a:rPr lang="zh-CN" sz="956">
                <a:solidFill>
                  <a:srgbClr val="44534C"/>
                </a:solidFill>
                <a:latin typeface="Microsoft YaHei"/>
                <a:ea typeface="Microsoft YaHei"/>
              </a:rPr>
              <a:t>Self-hosted GitLab / Gitea; someone must maintain it, patch it, and back it up</a:t>
            </a:r>
            <a:endParaRPr/>
          </a:p>
        </p:txBody>
      </p:sp>
      <p:sp>
        <p:nvSpPr>
          <p:cNvPr id="62" name=""/>
          <p:cNvSpPr/>
          <p:nvPr/>
        </p:nvSpPr>
        <p:spPr>
          <a:xfrm rot="0" flipH="0" flipV="0">
            <a:off x="609600" y="2133600"/>
            <a:ext cx="6438900" cy="371475"/>
          </a:xfrm>
          <a:custGeom>
            <a:pathLst>
              <a:path w="676" h="39">
                <a:moveTo>
                  <a:pt x="0" y="38"/>
                </a:moveTo>
                <a:lnTo>
                  <a:pt x="676" y="38"/>
                </a:lnTo>
                <a:lnTo>
                  <a:pt x="676" y="39"/>
                </a:lnTo>
                <a:lnTo>
                  <a:pt x="0" y="39"/>
                </a:lnTo>
                <a:close/>
              </a:path>
            </a:pathLst>
          </a:custGeom>
          <a:solidFill>
            <a:srgbClr val="0F1E19">
              <a:alpha val="10000"/>
            </a:srgbClr>
          </a:solidFill>
          <a:ln/>
        </p:spPr>
        <p:txBody>
          <a:bodyPr/>
          <a:p/>
        </p:txBody>
      </p:sp>
      <p:sp>
        <p:nvSpPr>
          <p:cNvPr id="63" name="" descr="{&quot;isTemplate&quot;:true,&quot;type&quot;:&quot;text&quot;}"/>
          <p:cNvSpPr txBox="1"/>
          <p:nvPr/>
        </p:nvSpPr>
        <p:spPr>
          <a:xfrm rot="0" flipH="0" flipV="0">
            <a:off x="609600" y="2133600"/>
            <a:ext cx="2743200" cy="257175"/>
          </a:xfrm>
          <a:prstGeom prst="rect"/>
        </p:spPr>
        <p:txBody>
          <a:bodyPr wrap="none" lIns="0" tIns="0" rIns="0" bIns="0"/>
          <a:p>
            <a:pPr>
              <a:lnSpc>
                <a:spcPct val="100000"/>
              </a:lnSpc>
            </a:pPr>
            <a:r>
              <a:rPr lang="zh-CN" sz="1200">
                <a:solidFill>
                  <a:srgbClr val="0F1E19"/>
                </a:solidFill>
                <a:latin typeface="Microsoft YaHei"/>
                <a:ea typeface="Microsoft YaHei"/>
              </a:rPr>
              <a:t>Dependency installs</a:t>
            </a:r>
            <a:endParaRPr/>
          </a:p>
        </p:txBody>
      </p:sp>
      <p:sp>
        <p:nvSpPr>
          <p:cNvPr id="64" name="" descr="{&quot;isTemplate&quot;:true,&quot;type&quot;:&quot;text&quot;}"/>
          <p:cNvSpPr txBox="1"/>
          <p:nvPr/>
        </p:nvSpPr>
        <p:spPr>
          <a:xfrm rot="0" flipH="0" flipV="0">
            <a:off x="3352800" y="2133600"/>
            <a:ext cx="3695700" cy="257175"/>
          </a:xfrm>
          <a:prstGeom prst="rect"/>
        </p:spPr>
        <p:txBody>
          <a:bodyPr wrap="square" lIns="0" tIns="0" rIns="0" bIns="0"/>
          <a:p>
            <a:pPr>
              <a:lnSpc>
                <a:spcPct val="150000"/>
              </a:lnSpc>
            </a:pPr>
            <a:r>
              <a:rPr lang="en-US" sz="956">
                <a:solidFill>
                  <a:srgbClr val="44534C"/>
                </a:solidFill>
                <a:latin typeface="Microsoft YaHei"/>
                <a:ea typeface="Microsoft YaHei"/>
              </a:rPr>
              <a:t>npm, pip, and images come from internal mirrors; new packages need manual approval before import</a:t>
            </a:r>
            <a:endParaRPr/>
          </a:p>
        </p:txBody>
      </p:sp>
      <p:sp>
        <p:nvSpPr>
          <p:cNvPr id="65" name=""/>
          <p:cNvSpPr/>
          <p:nvPr/>
        </p:nvSpPr>
        <p:spPr>
          <a:xfrm rot="0" flipH="0" flipV="0">
            <a:off x="609600" y="2628900"/>
            <a:ext cx="6438900" cy="371475"/>
          </a:xfrm>
          <a:custGeom>
            <a:pathLst>
              <a:path w="676" h="39">
                <a:moveTo>
                  <a:pt x="0" y="38"/>
                </a:moveTo>
                <a:lnTo>
                  <a:pt x="676" y="38"/>
                </a:lnTo>
                <a:lnTo>
                  <a:pt x="676" y="39"/>
                </a:lnTo>
                <a:lnTo>
                  <a:pt x="0" y="39"/>
                </a:lnTo>
                <a:close/>
              </a:path>
            </a:pathLst>
          </a:custGeom>
          <a:solidFill>
            <a:srgbClr val="0F1E19">
              <a:alpha val="10000"/>
            </a:srgbClr>
          </a:solidFill>
          <a:ln/>
        </p:spPr>
        <p:txBody>
          <a:bodyPr/>
          <a:p/>
        </p:txBody>
      </p:sp>
      <p:sp>
        <p:nvSpPr>
          <p:cNvPr id="66" name="" descr="{&quot;isTemplate&quot;:true,&quot;type&quot;:&quot;text&quot;}"/>
          <p:cNvSpPr txBox="1"/>
          <p:nvPr/>
        </p:nvSpPr>
        <p:spPr>
          <a:xfrm rot="0" flipH="0" flipV="0">
            <a:off x="609600" y="2628900"/>
            <a:ext cx="2743200" cy="257175"/>
          </a:xfrm>
          <a:prstGeom prst="rect"/>
        </p:spPr>
        <p:txBody>
          <a:bodyPr wrap="none" lIns="0" tIns="0" rIns="0" bIns="0"/>
          <a:p>
            <a:pPr>
              <a:lnSpc>
                <a:spcPct val="100000"/>
              </a:lnSpc>
            </a:pPr>
            <a:r>
              <a:rPr lang="zh-CN" sz="1200">
                <a:solidFill>
                  <a:srgbClr val="0F1E19"/>
                </a:solidFill>
                <a:latin typeface="Microsoft YaHei"/>
                <a:ea typeface="Microsoft YaHei"/>
              </a:rPr>
              <a:t>Security patches</a:t>
            </a:r>
            <a:endParaRPr/>
          </a:p>
        </p:txBody>
      </p:sp>
      <p:sp>
        <p:nvSpPr>
          <p:cNvPr id="67" name="" descr="{&quot;isTemplate&quot;:true,&quot;type&quot;:&quot;text&quot;}"/>
          <p:cNvSpPr txBox="1"/>
          <p:nvPr/>
        </p:nvSpPr>
        <p:spPr>
          <a:xfrm rot="0" flipH="0" flipV="0">
            <a:off x="3352800" y="2628900"/>
            <a:ext cx="3695700" cy="257175"/>
          </a:xfrm>
          <a:prstGeom prst="rect"/>
        </p:spPr>
        <p:txBody>
          <a:bodyPr wrap="square" lIns="0" tIns="0" rIns="0" bIns="0"/>
          <a:p>
            <a:pPr>
              <a:lnSpc>
                <a:spcPct val="150000"/>
              </a:lnSpc>
            </a:pPr>
            <a:r>
              <a:rPr lang="zh-CN" sz="956">
                <a:solidFill>
                  <a:srgbClr val="44534C"/>
                </a:solidFill>
                <a:latin typeface="Microsoft YaHei"/>
                <a:ea typeface="Microsoft YaHei"/>
              </a:rPr>
              <a:t>Imported via transfer media, scanned, then released; usually lags by days to weeks</a:t>
            </a:r>
            <a:endParaRPr/>
          </a:p>
        </p:txBody>
      </p:sp>
      <p:sp>
        <p:nvSpPr>
          <p:cNvPr id="68" name="" descr="{&quot;isTemplate&quot;:true,&quot;type&quot;:&quot;text&quot;}"/>
          <p:cNvSpPr txBox="1"/>
          <p:nvPr/>
        </p:nvSpPr>
        <p:spPr>
          <a:xfrm rot="0" flipH="0" flipV="0">
            <a:off x="609600" y="3124200"/>
            <a:ext cx="2743200" cy="257175"/>
          </a:xfrm>
          <a:prstGeom prst="rect"/>
        </p:spPr>
        <p:txBody>
          <a:bodyPr wrap="none" lIns="0" tIns="0" rIns="0" bIns="0"/>
          <a:p>
            <a:pPr>
              <a:lnSpc>
                <a:spcPct val="100000"/>
              </a:lnSpc>
            </a:pPr>
            <a:r>
              <a:rPr lang="zh-CN" sz="1200">
                <a:solidFill>
                  <a:srgbClr val="0F1E19"/>
                </a:solidFill>
                <a:latin typeface="Microsoft YaHei"/>
                <a:ea typeface="Microsoft YaHei"/>
              </a:rPr>
              <a:t>Model updates</a:t>
            </a:r>
            <a:endParaRPr/>
          </a:p>
        </p:txBody>
      </p:sp>
      <p:sp>
        <p:nvSpPr>
          <p:cNvPr id="69" name="" descr="{&quot;isTemplate&quot;:true,&quot;type&quot;:&quot;text&quot;}"/>
          <p:cNvSpPr txBox="1"/>
          <p:nvPr/>
        </p:nvSpPr>
        <p:spPr>
          <a:xfrm rot="0" flipH="0" flipV="0">
            <a:off x="3352800" y="3124200"/>
            <a:ext cx="3695700" cy="257175"/>
          </a:xfrm>
          <a:prstGeom prst="rect"/>
        </p:spPr>
        <p:txBody>
          <a:bodyPr wrap="square" lIns="0" tIns="0" rIns="0" bIns="0"/>
          <a:p>
            <a:pPr>
              <a:lnSpc>
                <a:spcPct val="150000"/>
              </a:lnSpc>
            </a:pPr>
            <a:r>
              <a:rPr lang="zh-CN" sz="956">
                <a:solidFill>
                  <a:srgbClr val="44534C"/>
                </a:solidFill>
                <a:latin typeface="Microsoft YaHei"/>
                <a:ea typeface="Microsoft YaHei"/>
              </a:rPr>
              <a:t>Weights are downloaded offline, verified, and redistributed; you cannot just click "update"</a:t>
            </a:r>
            <a:endParaRPr/>
          </a:p>
        </p:txBody>
      </p:sp>
      <p:sp>
        <p:nvSpPr>
          <p:cNvPr id="70" name=""/>
          <p:cNvSpPr/>
          <p:nvPr/>
        </p:nvSpPr>
        <p:spPr>
          <a:xfrm rot="0" flipH="0" flipV="0">
            <a:off x="609600" y="5743575"/>
            <a:ext cx="6438900" cy="504825"/>
          </a:xfrm>
          <a:prstGeom prst="roundRect">
            <a:avLst>
              <a:gd name="adj" fmla="val 11321"/>
            </a:avLst>
          </a:prstGeom>
          <a:solidFill>
            <a:srgbClr val="167762">
              <a:alpha val="7000"/>
            </a:srgbClr>
          </a:solidFill>
          <a:ln/>
        </p:spPr>
        <p:txBody>
          <a:bodyPr/>
          <a:p/>
        </p:txBody>
      </p:sp>
      <p:sp>
        <p:nvSpPr>
          <p:cNvPr id="71" name="" descr="{&quot;isTemplate&quot;:true,&quot;type&quot;:&quot;text&quot;}"/>
          <p:cNvSpPr txBox="1"/>
          <p:nvPr/>
        </p:nvSpPr>
        <p:spPr>
          <a:xfrm rot="0" flipH="0" flipV="0">
            <a:off x="762000" y="5857875"/>
            <a:ext cx="7143571" cy="276225"/>
          </a:xfrm>
          <a:prstGeom prst="rect"/>
        </p:spPr>
        <p:txBody>
          <a:bodyPr wrap="none" lIns="0" tIns="0" rIns="0" bIns="0"/>
          <a:p>
            <a:pPr>
              <a:lnSpc>
                <a:spcPct val="160000"/>
              </a:lnSpc>
            </a:pPr>
            <a:r>
              <a:rPr lang="zh-CN" sz="1125">
                <a:solidFill>
                  <a:srgbClr val="0F1E19"/>
                </a:solidFill>
                <a:latin typeface="Microsoft YaHei"/>
                <a:ea typeface="Microsoft YaHei"/>
              </a:rPr>
              <a:t>So the real design question is not "can we go offline?" but "once offline, who runs this narrow channel?"</a:t>
            </a:r>
            <a:endParaRPr/>
          </a:p>
        </p:txBody>
      </p:sp>
      <p:sp>
        <p:nvSpPr>
          <p:cNvPr id="72" name="" descr="{&quot;isTemplate&quot;:true,&quot;type&quot;:&quot;text&quot;}"/>
          <p:cNvSpPr txBox="1"/>
          <p:nvPr/>
        </p:nvSpPr>
        <p:spPr>
          <a:xfrm rot="0" flipH="0" flipV="0">
            <a:off x="7429500" y="1714500"/>
            <a:ext cx="4152900" cy="161925"/>
          </a:xfrm>
          <a:prstGeom prst="rect"/>
        </p:spPr>
        <p:txBody>
          <a:bodyPr wrap="none" lIns="0" tIns="0" rIns="0" bIns="0"/>
          <a:p>
            <a:pPr>
              <a:lnSpc>
                <a:spcPct val="100000"/>
              </a:lnSpc>
            </a:pPr>
            <a:r>
              <a:rPr lang="zh-CN" sz="1050" spc="150">
                <a:solidFill>
                  <a:srgbClr val="167762"/>
                </a:solidFill>
                <a:latin typeface="Microsoft YaHei"/>
                <a:ea typeface="Microsoft YaHei"/>
              </a:rPr>
              <a:t>When something breaks</a:t>
            </a:r>
            <a:endParaRPr/>
          </a:p>
        </p:txBody>
      </p:sp>
      <p:sp>
        <p:nvSpPr>
          <p:cNvPr id="73" name="" descr="{&quot;isTemplate&quot;:true,&quot;type&quot;:&quot;text&quot;}"/>
          <p:cNvSpPr txBox="1"/>
          <p:nvPr/>
        </p:nvSpPr>
        <p:spPr>
          <a:xfrm rot="0" flipH="0" flipV="0">
            <a:off x="7429500" y="2047875"/>
            <a:ext cx="4152900" cy="209550"/>
          </a:xfrm>
          <a:prstGeom prst="rect"/>
        </p:spPr>
        <p:txBody>
          <a:bodyPr wrap="none" lIns="0" tIns="0" rIns="0" bIns="0"/>
          <a:p>
            <a:pPr>
              <a:lnSpc>
                <a:spcPct val="100000"/>
              </a:lnSpc>
            </a:pPr>
            <a:r>
              <a:rPr lang="zh-CN" sz="1350" b="1">
                <a:solidFill>
                  <a:srgbClr val="0F1E19"/>
                </a:solidFill>
                <a:latin typeface="Microsoft YaHei"/>
                <a:ea typeface="Microsoft YaHei"/>
              </a:rPr>
              <a:t>Backup</a:t>
            </a:r>
            <a:endParaRPr/>
          </a:p>
        </p:txBody>
      </p:sp>
      <p:sp>
        <p:nvSpPr>
          <p:cNvPr id="74" name="" descr="{&quot;isTemplate&quot;:true,&quot;type&quot;:&quot;text&quot;}"/>
          <p:cNvSpPr txBox="1"/>
          <p:nvPr/>
        </p:nvSpPr>
        <p:spPr>
          <a:xfrm rot="0" flipH="0" flipV="0">
            <a:off x="7429500" y="2295525"/>
            <a:ext cx="4152900" cy="552450"/>
          </a:xfrm>
          <a:prstGeom prst="rect"/>
        </p:spPr>
        <p:txBody>
          <a:bodyPr wrap="square" lIns="0" tIns="0" rIns="0" bIns="0">
            <a:normAutofit/>
          </a:bodyPr>
          <a:p>
            <a:pPr>
              <a:lnSpc>
                <a:spcPct val="160000"/>
              </a:lnSpc>
            </a:pPr>
            <a:r>
              <a:rPr lang="zh-CN" sz="1125">
                <a:solidFill>
                  <a:srgbClr val="44534C"/>
                </a:solidFill>
                <a:latin typeface="Microsoft YaHei"/>
                <a:ea typeface="Microsoft YaHei"/>
              </a:rPr>
              <a:t>Repository mirror + document store + keys, encrypted and sent off-site. Keeping one copy in the original data center does not count as a backup.</a:t>
            </a:r>
            <a:endParaRPr/>
          </a:p>
        </p:txBody>
      </p:sp>
      <p:sp>
        <p:nvSpPr>
          <p:cNvPr id="75" name="" descr="{&quot;isTemplate&quot;:true,&quot;type&quot;:&quot;text&quot;}"/>
          <p:cNvSpPr txBox="1"/>
          <p:nvPr/>
        </p:nvSpPr>
        <p:spPr>
          <a:xfrm rot="0" flipH="0" flipV="0">
            <a:off x="7429500" y="3019425"/>
            <a:ext cx="4152900" cy="209550"/>
          </a:xfrm>
          <a:prstGeom prst="rect"/>
        </p:spPr>
        <p:txBody>
          <a:bodyPr wrap="none" lIns="0" tIns="0" rIns="0" bIns="0"/>
          <a:p>
            <a:pPr>
              <a:lnSpc>
                <a:spcPct val="100000"/>
              </a:lnSpc>
            </a:pPr>
            <a:r>
              <a:rPr lang="zh-CN" sz="1350" b="1">
                <a:solidFill>
                  <a:srgbClr val="0F1E19"/>
                </a:solidFill>
                <a:latin typeface="Microsoft YaHei"/>
                <a:ea typeface="Microsoft YaHei"/>
              </a:rPr>
              <a:t>Rebuild</a:t>
            </a:r>
            <a:endParaRPr/>
          </a:p>
        </p:txBody>
      </p:sp>
      <p:sp>
        <p:nvSpPr>
          <p:cNvPr id="76" name="" descr="{&quot;isTemplate&quot;:true,&quot;type&quot;:&quot;text&quot;}"/>
          <p:cNvSpPr txBox="1"/>
          <p:nvPr/>
        </p:nvSpPr>
        <p:spPr>
          <a:xfrm rot="0" flipH="0" flipV="0">
            <a:off x="7429500" y="3267075"/>
            <a:ext cx="4152900" cy="552450"/>
          </a:xfrm>
          <a:prstGeom prst="rect"/>
        </p:spPr>
        <p:txBody>
          <a:bodyPr wrap="square" lIns="0" tIns="0" rIns="0" bIns="0">
            <a:normAutofit/>
          </a:bodyPr>
          <a:p>
            <a:pPr>
              <a:lnSpc>
                <a:spcPct val="160000"/>
              </a:lnSpc>
            </a:pPr>
            <a:r>
              <a:rPr lang="zh-CN" sz="1125">
                <a:solidFill>
                  <a:srgbClr val="44534C"/>
                </a:solidFill>
                <a:latin typeface="Microsoft YaHei"/>
                <a:ea typeface="Microsoft YaHei"/>
              </a:rPr>
              <a:t>Environments are described as code (IaC + images). When a machine fails, you reinstall rather than rebuild by hand. Recovery time drops from days to hours.</a:t>
            </a:r>
            <a:endParaRPr/>
          </a:p>
        </p:txBody>
      </p:sp>
      <p:sp>
        <p:nvSpPr>
          <p:cNvPr id="77" name="" descr="{&quot;isTemplate&quot;:true,&quot;type&quot;:&quot;text&quot;}"/>
          <p:cNvSpPr txBox="1"/>
          <p:nvPr/>
        </p:nvSpPr>
        <p:spPr>
          <a:xfrm rot="0" flipH="0" flipV="0">
            <a:off x="7429500" y="3990975"/>
            <a:ext cx="4152900" cy="209550"/>
          </a:xfrm>
          <a:prstGeom prst="rect"/>
        </p:spPr>
        <p:txBody>
          <a:bodyPr wrap="none" lIns="0" tIns="0" rIns="0" bIns="0"/>
          <a:p>
            <a:pPr>
              <a:lnSpc>
                <a:spcPct val="100000"/>
              </a:lnSpc>
            </a:pPr>
            <a:r>
              <a:rPr lang="zh-CN" sz="1350" b="1">
                <a:solidFill>
                  <a:srgbClr val="0F1E19"/>
                </a:solidFill>
                <a:latin typeface="Microsoft YaHei"/>
                <a:ea typeface="Microsoft YaHei"/>
              </a:rPr>
              <a:t>Drills</a:t>
            </a:r>
            <a:endParaRPr/>
          </a:p>
        </p:txBody>
      </p:sp>
      <p:sp>
        <p:nvSpPr>
          <p:cNvPr id="78" name="" descr="{&quot;isTemplate&quot;:true,&quot;type&quot;:&quot;text&quot;}"/>
          <p:cNvSpPr txBox="1"/>
          <p:nvPr/>
        </p:nvSpPr>
        <p:spPr>
          <a:xfrm rot="0" flipH="0" flipV="0">
            <a:off x="7429500" y="4238625"/>
            <a:ext cx="4152900" cy="276225"/>
          </a:xfrm>
          <a:prstGeom prst="rect"/>
        </p:spPr>
        <p:txBody>
          <a:bodyPr wrap="square" lIns="0" tIns="0" rIns="0" bIns="0"/>
          <a:p>
            <a:pPr>
              <a:lnSpc>
                <a:spcPct val="160000"/>
              </a:lnSpc>
            </a:pPr>
            <a:r>
              <a:rPr lang="zh-CN" sz="1012">
                <a:solidFill>
                  <a:srgbClr val="44534C"/>
                </a:solidFill>
                <a:latin typeface="Microsoft YaHei"/>
                <a:ea typeface="Microsoft YaHei"/>
              </a:rPr>
              <a:t>Do a real restore once a quarter. A backup that has never been drilled is only a hope.</a:t>
            </a:r>
            <a:endParaRPr/>
          </a:p>
        </p:txBody>
      </p:sp>
      <p:sp>
        <p:nvSpPr>
          <p:cNvPr id="79" name=""/>
          <p:cNvSpPr/>
          <p:nvPr/>
        </p:nvSpPr>
        <p:spPr>
          <a:xfrm rot="0" flipH="0" flipV="0">
            <a:off x="7429500" y="4743450"/>
            <a:ext cx="4152900" cy="1028700"/>
          </a:xfrm>
          <a:prstGeom prst="roundRect">
            <a:avLst>
              <a:gd name="adj" fmla="val 5556"/>
            </a:avLst>
          </a:prstGeom>
          <a:solidFill>
            <a:srgbClr val="C2410C">
              <a:alpha val="8000"/>
            </a:srgbClr>
          </a:solidFill>
          <a:ln/>
        </p:spPr>
        <p:txBody>
          <a:bodyPr/>
          <a:p/>
        </p:txBody>
      </p:sp>
      <p:sp>
        <p:nvSpPr>
          <p:cNvPr id="80" name="" descr="{&quot;isTemplate&quot;:true,&quot;type&quot;:&quot;text&quot;}"/>
          <p:cNvSpPr txBox="1"/>
          <p:nvPr/>
        </p:nvSpPr>
        <p:spPr>
          <a:xfrm rot="0" flipH="0" flipV="0">
            <a:off x="7562850" y="4876800"/>
            <a:ext cx="3886200" cy="171450"/>
          </a:xfrm>
          <a:prstGeom prst="rect"/>
        </p:spPr>
        <p:txBody>
          <a:bodyPr wrap="none" lIns="0" tIns="0" rIns="0" bIns="0"/>
          <a:p>
            <a:pPr>
              <a:lnSpc>
                <a:spcPct val="100000"/>
              </a:lnSpc>
            </a:pPr>
            <a:r>
              <a:rPr lang="zh-CN" sz="1125" b="1">
                <a:solidFill>
                  <a:srgbClr val="C2410C"/>
                </a:solidFill>
                <a:latin typeface="Microsoft YaHei"/>
                <a:ea typeface="Microsoft YaHei"/>
              </a:rPr>
              <a:t>We need two numbers from you</a:t>
            </a:r>
            <a:endParaRPr/>
          </a:p>
        </p:txBody>
      </p:sp>
      <p:sp>
        <p:nvSpPr>
          <p:cNvPr id="81" name="" descr="{&quot;isTemplate&quot;:true,&quot;type&quot;:&quot;text&quot;}"/>
          <p:cNvSpPr txBox="1"/>
          <p:nvPr/>
        </p:nvSpPr>
        <p:spPr>
          <a:xfrm rot="0" flipH="0" flipV="0">
            <a:off x="7562850" y="5086350"/>
            <a:ext cx="3886200" cy="552450"/>
          </a:xfrm>
          <a:prstGeom prst="rect"/>
        </p:spPr>
        <p:txBody>
          <a:bodyPr wrap="square" lIns="0" tIns="0" rIns="0" bIns="0">
            <a:normAutofit/>
          </a:bodyPr>
          <a:p>
            <a:pPr>
              <a:lnSpc>
                <a:spcPct val="160000"/>
              </a:lnSpc>
            </a:pPr>
            <a:r>
              <a:rPr lang="en-US" sz="1125">
                <a:solidFill>
                  <a:srgbClr val="0F1E19"/>
                </a:solidFill>
                <a:latin typeface="Microsoft YaHei"/>
                <a:ea typeface="Microsoft YaHei"/>
              </a:rPr>
              <a:t>RPO: how much data can be lost at most. RTO: how quickly service must be restored. These two numbers directly set the backup frequency and the investment.</a:t>
            </a:r>
            <a:endParaRPr/>
          </a:p>
        </p:txBody>
      </p:sp>
      <p:sp>
        <p:nvSpPr>
          <p:cNvPr id="82"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83"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11 / 15</a:t>
            </a:r>
            <a:endParaRPr/>
          </a:p>
        </p:txBody>
      </p:sp>
    </p:spTree>
  </p:cSld>
</p:sld>
</file>

<file path=ppt/slides/slide12.xml><?xml version="1.0" encoding="utf-8"?>
<p:sld xmlns:p="http://schemas.openxmlformats.org/presentationml/2006/main" xmlns:a="http://schemas.openxmlformats.org/drawingml/2006/main">
  <p:cSld>
    <p:spTree>
      <p:nvGrpSpPr>
        <p:cNvPr id="84" name="" descr="&lt;Slide style={{ width: 1280, height: 720, background: '#FFFFFF', position: 'relative', padding: 0, fontFamily: 'Microsoft YaHei' }}&gt;&#10;    &lt;Box style={{ position: 'absolute', left: 0, top: 0, width: 480, height: 720, background: '#167762', alignItems: 'center', justifyContent: 'center' }}&gt;&#10;        &lt;Text style={{ fontSize: 220, fontWeight: 'bold', color: 'rgba(255,255,255,0.24)', fontFamily: 'Consolas', lineHeight: 1 }}&gt;03&lt;/Text&gt;&#10;    &lt;/Box&gt;&#10;    &lt;Box style={{ position: 'absolute', left: 480, top: 0, width: 800, height: 720, padding: '0 88px 0 72px', flexDirection: 'column', justifyContent: 'center', gap: 22 }}&gt;&#10;        &lt;Text style={{ fontSize: 15, color: '#167762', letterSpacing: 3 }}&gt;第三章&lt;/Text&gt;&#10;        &lt;Text style={{ fontSize: 64, fontWeight: 'bold', color: '#0F1E19', lineHeight: 1.15 }}&gt;现状与下一步&lt;/Text&gt;&#10;        &lt;Box style={{ width: 64, height: 3, background: '#167762' }} /&gt;&#10;        &lt;Text style={{ fontSize: 22, color: '#44534C', lineHeight: 1.65 }}&gt;能验证的已经验证，剩下的需要你拍板。&lt;/Text&gt;&#10;        &lt;Text style={{ fontSize: 16, color: '#6B7A72', lineHeight: 1.6 }}&gt;我把&quot;做完了&quot;和&quot;还没做&quot;分开列，你可以逐条追问。&lt;/Text&gt;&#10;    &lt;/Box&gt;&#10;&lt;/Slide&gt;&#10;"/>
        <p:cNvGrpSpPr/>
        <p:nvPr/>
      </p:nvGrpSpPr>
      <p:grpSpPr>
        <a:xfrm>
          <a:off x="0" y="0"/>
          <a:ext cx="0" cy="0"/>
          <a:chOff x="0" y="0"/>
          <a:chExt cx="0" cy="0"/>
        </a:xfrm>
      </p:grpSpPr>
      <p:sp>
        <p:nvSpPr>
          <p:cNvPr id="85" name=""/>
          <p:cNvSpPr/>
          <p:nvPr/>
        </p:nvSpPr>
        <p:spPr>
          <a:xfrm rot="0" flipH="0" flipV="0">
            <a:off x="0" y="0"/>
            <a:ext cx="12192000" cy="6858000"/>
          </a:xfrm>
          <a:prstGeom prst="rect">
            <a:avLst/>
          </a:prstGeom>
          <a:solidFill>
            <a:srgbClr val="FFFFFF"/>
          </a:solidFill>
          <a:ln/>
        </p:spPr>
        <p:txBody>
          <a:bodyPr/>
          <a:p/>
        </p:txBody>
      </p:sp>
      <p:sp>
        <p:nvSpPr>
          <p:cNvPr id="86" name=""/>
          <p:cNvSpPr/>
          <p:nvPr/>
        </p:nvSpPr>
        <p:spPr>
          <a:xfrm rot="0" flipH="0" flipV="0">
            <a:off x="0" y="0"/>
            <a:ext cx="4572000" cy="6858000"/>
          </a:xfrm>
          <a:prstGeom prst="rect">
            <a:avLst/>
          </a:prstGeom>
          <a:solidFill>
            <a:srgbClr val="167762"/>
          </a:solidFill>
          <a:ln/>
        </p:spPr>
        <p:txBody>
          <a:bodyPr/>
          <a:p/>
        </p:txBody>
      </p:sp>
      <p:sp>
        <p:nvSpPr>
          <p:cNvPr id="87" name="" descr="{&quot;isTemplate&quot;:true,&quot;type&quot;:&quot;text&quot;}"/>
          <p:cNvSpPr txBox="1"/>
          <p:nvPr/>
        </p:nvSpPr>
        <p:spPr>
          <a:xfrm rot="0" flipH="0" flipV="0">
            <a:off x="1133475" y="2171700"/>
            <a:ext cx="2305050" cy="2514600"/>
          </a:xfrm>
          <a:prstGeom prst="rect"/>
        </p:spPr>
        <p:txBody>
          <a:bodyPr wrap="none" lIns="0" tIns="0" rIns="0" bIns="0"/>
          <a:p>
            <a:pPr>
              <a:lnSpc>
                <a:spcPct val="100000"/>
              </a:lnSpc>
            </a:pPr>
            <a:r>
              <a:rPr lang="en-US" sz="16500" b="1">
                <a:solidFill>
                  <a:srgbClr val="FFFFFF">
                    <a:alpha val="24000"/>
                  </a:srgbClr>
                </a:solidFill>
                <a:latin typeface="Consolas"/>
                <a:ea typeface="Consolas"/>
              </a:rPr>
              <a:t>03</a:t>
            </a:r>
            <a:endParaRPr/>
          </a:p>
        </p:txBody>
      </p:sp>
      <p:sp>
        <p:nvSpPr>
          <p:cNvPr id="88" name="" descr="{&quot;isTemplate&quot;:true,&quot;type&quot;:&quot;text&quot;}"/>
          <p:cNvSpPr txBox="1"/>
          <p:nvPr/>
        </p:nvSpPr>
        <p:spPr>
          <a:xfrm rot="0" flipH="0" flipV="0">
            <a:off x="5257800" y="2133600"/>
            <a:ext cx="6096000" cy="171450"/>
          </a:xfrm>
          <a:prstGeom prst="rect"/>
        </p:spPr>
        <p:txBody>
          <a:bodyPr wrap="none" lIns="0" tIns="0" rIns="0" bIns="0"/>
          <a:p>
            <a:pPr>
              <a:lnSpc>
                <a:spcPct val="100000"/>
              </a:lnSpc>
            </a:pPr>
            <a:r>
              <a:rPr lang="zh-CN" sz="1125" spc="225">
                <a:solidFill>
                  <a:srgbClr val="167762"/>
                </a:solidFill>
                <a:latin typeface="Microsoft YaHei"/>
                <a:ea typeface="Microsoft YaHei"/>
              </a:rPr>
              <a:t>Chapter 3</a:t>
            </a:r>
            <a:endParaRPr/>
          </a:p>
        </p:txBody>
      </p:sp>
      <p:sp>
        <p:nvSpPr>
          <p:cNvPr id="89" name="" descr="{&quot;isTemplate&quot;:true,&quot;type&quot;:&quot;text&quot;}"/>
          <p:cNvSpPr txBox="1"/>
          <p:nvPr/>
        </p:nvSpPr>
        <p:spPr>
          <a:xfrm rot="0" flipH="0" flipV="0">
            <a:off x="5257800" y="2514600"/>
            <a:ext cx="6477000" cy="847725"/>
          </a:xfrm>
          <a:prstGeom prst="rect"/>
        </p:spPr>
        <p:txBody>
          <a:bodyPr wrap="none" lIns="0" tIns="0" rIns="0" bIns="0"/>
          <a:p>
            <a:pPr>
              <a:lnSpc>
                <a:spcPct val="114999"/>
              </a:lnSpc>
            </a:pPr>
            <a:r>
              <a:rPr lang="zh-CN" sz="3450" b="1">
                <a:solidFill>
                  <a:srgbClr val="0F1E19"/>
                </a:solidFill>
                <a:latin typeface="Microsoft YaHei"/>
                <a:ea typeface="Microsoft YaHei"/>
              </a:rPr>
              <a:t>Current State and Next Steps</a:t>
            </a:r>
            <a:endParaRPr/>
          </a:p>
        </p:txBody>
      </p:sp>
      <p:sp>
        <p:nvSpPr>
          <p:cNvPr id="90" name=""/>
          <p:cNvSpPr/>
          <p:nvPr/>
        </p:nvSpPr>
        <p:spPr>
          <a:xfrm rot="0" flipH="0" flipV="0">
            <a:off x="5257800" y="3571875"/>
            <a:ext cx="609600" cy="28575"/>
          </a:xfrm>
          <a:prstGeom prst="rect">
            <a:avLst/>
          </a:prstGeom>
          <a:solidFill>
            <a:srgbClr val="167762"/>
          </a:solidFill>
          <a:ln/>
        </p:spPr>
        <p:txBody>
          <a:bodyPr/>
          <a:p/>
        </p:txBody>
      </p:sp>
      <p:sp>
        <p:nvSpPr>
          <p:cNvPr id="91" name="" descr="{&quot;isTemplate&quot;:true,&quot;type&quot;:&quot;text&quot;}"/>
          <p:cNvSpPr txBox="1"/>
          <p:nvPr/>
        </p:nvSpPr>
        <p:spPr>
          <a:xfrm rot="0" flipH="0" flipV="0">
            <a:off x="5257800" y="3810000"/>
            <a:ext cx="6096000" cy="419100"/>
          </a:xfrm>
          <a:prstGeom prst="rect"/>
        </p:spPr>
        <p:txBody>
          <a:bodyPr wrap="square" lIns="0" tIns="0" rIns="0" bIns="0"/>
          <a:p>
            <a:pPr>
              <a:lnSpc>
                <a:spcPct val="165000"/>
              </a:lnSpc>
            </a:pPr>
            <a:r>
              <a:rPr lang="zh-CN" sz="1485">
                <a:solidFill>
                  <a:srgbClr val="44534C"/>
                </a:solidFill>
                <a:latin typeface="Microsoft YaHei"/>
                <a:ea typeface="Microsoft YaHei"/>
              </a:rPr>
              <a:t>What can be verified has been verified; the rest needs your decision.</a:t>
            </a:r>
            <a:endParaRPr/>
          </a:p>
        </p:txBody>
      </p:sp>
      <p:sp>
        <p:nvSpPr>
          <p:cNvPr id="92" name="" descr="{&quot;isTemplate&quot;:true,&quot;type&quot;:&quot;text&quot;}"/>
          <p:cNvSpPr txBox="1"/>
          <p:nvPr/>
        </p:nvSpPr>
        <p:spPr>
          <a:xfrm rot="0" flipH="0" flipV="0">
            <a:off x="5257800" y="4438650"/>
            <a:ext cx="6096000" cy="295275"/>
          </a:xfrm>
          <a:prstGeom prst="rect"/>
        </p:spPr>
        <p:txBody>
          <a:bodyPr wrap="none" lIns="0" tIns="0" rIns="0" bIns="0"/>
          <a:p>
            <a:pPr>
              <a:lnSpc>
                <a:spcPct val="160000"/>
              </a:lnSpc>
            </a:pPr>
            <a:r>
              <a:rPr lang="zh-CN" sz="1200">
                <a:solidFill>
                  <a:srgbClr val="6B7A72"/>
                </a:solidFill>
                <a:latin typeface="Microsoft YaHei"/>
                <a:ea typeface="Microsoft YaHei"/>
              </a:rPr>
              <a:t>I list "done" and "not done" separately, so you can question them one by one.</a:t>
            </a:r>
            <a:endParaRPr/>
          </a:p>
        </p:txBody>
      </p:sp>
    </p:spTree>
  </p:cSld>
</p:sld>
</file>

<file path=ppt/slides/slide13.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93" name="" descr="&lt;Slide style={{ width: 1280, height: 720, background: '#FFFFFF', padding: '26px 64px 18px 64px', position: 'relative', fontFamily: 'Microsoft YaHei' }}&gt;&#13;&#10;    &lt;Box style={{ flexDirection: 'column', gap: 6, height: 104 }}&gt;&#13;&#10;        &lt;Text style={{ fontSize: 36, fontWeight: 'bold', color: '#0F1E19', lineHeight: 1.3 }}&gt;已验证的，和还没验证的&lt;/Text&gt;&#13;&#10;        &lt;Text style={{ fontSize: 17, color: '#6B7A72', lineHeight: 1.5 }}&gt;右边这一列不是&quot;以后再说&quot;，每一条都写了阻塞原因&lt;/Text&gt;&#13;&#10;    &lt;/Box&gt;&#13;&#10;    &lt;Box style={{ flexDirection: 'column', gap: 14, height: 526 }}&gt;&#13;&#10;        &lt;Table&#13;&#10;            style={{ width: 1152, height: 424 }}&#13;&#10;            defaultTextStyle={{ fontSize: 15, textAlign: 'left', color: '#0F1E19' }}&#13;&#10;            defaultCellStyle={{&#13;&#10;                border: {&#13;&#10;                    left: { width: 0, color: '#FFFFFF' },&#13;&#10;                    right: { width: 0, color: '#FFFFFF' },&#13;&#10;                    top: { width: 0, color: '#FFFFFF' },&#13;&#10;                    bottom: { width: 1, color: 'rgba(15,30,25,0.10)' },&#13;&#10;                },&#13;&#10;            }}&#13;&#10;            cells={[&#13;&#10;                [&#13;&#10;                    { text: '已经验证 · 本地可复跑', textStyle: { bold: true, color: '#FFFFFF', fontSize: 16 }, cellStyle: { background: { color: '#167762' } } },&#13;&#10;                    { text: '还没验证 · 有明确阻塞', textStyle: { bold: true, color: '#FFFFFF', fontSize: 16 }, cellStyle: { background: { color: '#C2410C' } } },&#13;&#10;                ],&#13;&#10;                ['26 项自动化测试全部通过', 'GitHub Actions 实际运行（需仓库权限）'],&#13;&#10;                ['密钥泄露被拦、修复后放行（真实扫描器）', 'CodeQL 代码扫描（私有仓库需许可）'],&#13;&#10;                ['暂存区绕过被拦：工作区已修复仍拦截', '镜像漏洞扫描（本机环境阻断）'],&#13;&#10;                ['容器非 root / 只读 / 限额，健康检查通过', 'Terraform init / validate（本机环境阻断）'],&#13;&#10;                ['本地 RAG 带引用回答，知识库外会拒答', '分支保护与 CODEOWNERS（模板未应用）'],&#13;&#10;            ]}&#13;&#10;        /&gt;&#13;&#10;        &lt;Box style={{ flexDirection: 'row', gap: 16, alignItems: 'center', padding: '14px 20px', background: 'rgba(22,119,98,0.07)', borderRadius: 6 }}&gt;&#13;&#10;            &lt;Text style={{ fontSize: 15, fontWeight: 'bold', color: '#167762' }}&gt;所以&lt;/Text&gt;&#13;&#10;            &lt;Text style={{ fontSize: 16, color: '#0F1E19', lineHeight: 1.55 }}&gt;现在能给你的是&quot;本地可复现的证据&quot;，不是&quot;已经全部上线&quot;。右边五项都需要你的仓库权限、许可或一台不受限的机器。&lt;/Text&gt;&#13;&#10;        &lt;/Box&gt;&#13;&#10;    &lt;/Box&gt;&#13;&#10;    &lt;Box style={{ position: 'absolute', left: 64, right: 64, bottom: 12, flexDirection: 'row', justifyContent: 'space-between' }}&gt;&#13;&#10;        &lt;Text style={{ fontSize: 14, color: '#6B7A72' }}&gt;SENTINEL · 安全开发环境方案&lt;/Text&gt;&#13;&#10;        &lt;Text style={{ fontSize: 14, color: '#6B7A72', fontFamily: 'Consolas' }}&gt;13 / 15&lt;/Text&gt;&#13;&#10;    &lt;/Box&gt;&#13;&#10;&lt;/Slide&gt;&#13;&#10;"/>
        <p:cNvGrpSpPr/>
        <p:nvPr/>
      </p:nvGrpSpPr>
      <p:grpSpPr>
        <a:xfrm>
          <a:off x="0" y="0"/>
          <a:ext cx="0" cy="0"/>
          <a:chOff x="0" y="0"/>
          <a:chExt cx="0" cy="0"/>
        </a:xfrm>
      </p:grpSpPr>
      <p:sp>
        <p:nvSpPr>
          <p:cNvPr id="94" name=""/>
          <p:cNvSpPr/>
          <p:nvPr/>
        </p:nvSpPr>
        <p:spPr>
          <a:xfrm rot="0" flipH="0" flipV="0">
            <a:off x="0" y="0"/>
            <a:ext cx="12192000" cy="6858000"/>
          </a:xfrm>
          <a:prstGeom prst="rect">
            <a:avLst/>
          </a:prstGeom>
          <a:solidFill>
            <a:srgbClr val="FFFFFF"/>
          </a:solidFill>
          <a:ln/>
        </p:spPr>
        <p:txBody>
          <a:bodyPr/>
          <a:p/>
        </p:txBody>
      </p:sp>
      <p:sp>
        <p:nvSpPr>
          <p:cNvPr id="95" name="" descr="{&quot;isTemplate&quot;:true,&quot;type&quot;:&quot;text&quot;}"/>
          <p:cNvSpPr txBox="1"/>
          <p:nvPr/>
        </p:nvSpPr>
        <p:spPr>
          <a:xfrm rot="0" flipH="0" flipV="0">
            <a:off x="609600" y="247650"/>
            <a:ext cx="10972800" cy="542925"/>
          </a:xfrm>
          <a:prstGeom prst="rect"/>
        </p:spPr>
        <p:txBody>
          <a:bodyPr wrap="none" lIns="0" tIns="0" rIns="0" bIns="0"/>
          <a:p>
            <a:pPr>
              <a:lnSpc>
                <a:spcPct val="130000"/>
              </a:lnSpc>
            </a:pPr>
            <a:r>
              <a:rPr lang="zh-CN" sz="2700" b="1">
                <a:solidFill>
                  <a:srgbClr val="0F1E19"/>
                </a:solidFill>
                <a:latin typeface="Microsoft YaHei"/>
                <a:ea typeface="Microsoft YaHei"/>
              </a:rPr>
              <a:t>What Is Verified, and What Is Not Yet</a:t>
            </a:r>
            <a:endParaRPr/>
          </a:p>
        </p:txBody>
      </p:sp>
      <p:sp>
        <p:nvSpPr>
          <p:cNvPr id="96" name="" descr="{&quot;isTemplate&quot;:true,&quot;type&quot;:&quot;text&quot;}"/>
          <p:cNvSpPr txBox="1"/>
          <p:nvPr/>
        </p:nvSpPr>
        <p:spPr>
          <a:xfrm rot="0" flipH="0" flipV="0">
            <a:off x="609600" y="847725"/>
            <a:ext cx="10972800" cy="295275"/>
          </a:xfrm>
          <a:prstGeom prst="rect"/>
        </p:spPr>
        <p:txBody>
          <a:bodyPr wrap="none" lIns="0" tIns="0" rIns="0" bIns="0"/>
          <a:p>
            <a:pPr>
              <a:lnSpc>
                <a:spcPct val="150000"/>
              </a:lnSpc>
            </a:pPr>
            <a:r>
              <a:rPr lang="zh-CN" sz="1275">
                <a:solidFill>
                  <a:srgbClr val="6B7A72"/>
                </a:solidFill>
                <a:latin typeface="Microsoft YaHei"/>
                <a:ea typeface="Microsoft YaHei"/>
              </a:rPr>
              <a:t>The right-hand column is not "later": every item states the reason it is blocked</a:t>
            </a:r>
            <a:endParaRPr/>
          </a:p>
        </p:txBody>
      </p:sp>
      <p:graphicFrame>
        <p:nvGraphicFramePr>
          <p:cNvPr id="97" name=""/>
          <p:cNvGraphicFramePr/>
          <p:nvPr/>
        </p:nvGraphicFramePr>
        <p:xfrm rot="0" flipH="0" flipV="0">
          <a:off x="609600" y="1238250"/>
          <a:ext cx="10972800" cy="4038600"/>
        </p:xfrm>
        <a:graphic>
          <a:graphicData uri="http://schemas.openxmlformats.org/drawingml/2006/table">
            <a:tbl>
              <a:tblGrid>
                <a:gridCol w="5412905">
                  <a:extLst>
                    <a:ext uri="{9D8B030D-6E8A-4147-A177-3AD203B41FA5}">
                      <a16:colId val="1"/>
                    </a:ext>
                  </a:extLst>
                </a:gridCol>
                <a:gridCol w="5559895">
                  <a:extLst>
                    <a:ext uri="{9D8B030D-6E8A-4147-A177-3AD203B41FA5}">
                      <a16:colId val="2"/>
                    </a:ext>
                  </a:extLst>
                </a:gridCol>
              </a:tblGrid>
              <a:tr h="70823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Verified · re-runnable locally</a:t>
                      </a:r>
                      <a:endParaRPr/>
                    </a:p>
                  </a:txBody>
                  <a:tcPr marL="45720" marR="45720" marT="45720" marB="45720" anchor="ctr">
                    <a:lnL>
                      <a:noFill/>
                    </a:lnL>
                    <a:lnR>
                      <a:noFill/>
                    </a:lnR>
                    <a:lnT>
                      <a:noFill/>
                    </a:lnT>
                    <a:lnB>
                      <a:noFill/>
                    </a:lnB>
                    <a:solidFill>
                      <a:srgbClr val="167762"/>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Not verified · clear blocker</a:t>
                      </a:r>
                      <a:endParaRPr/>
                    </a:p>
                  </a:txBody>
                  <a:tcPr marL="45720" marR="45720" marT="45720" marB="45720" anchor="ctr">
                    <a:lnL>
                      <a:noFill/>
                    </a:lnL>
                    <a:lnR>
                      <a:noFill/>
                    </a:lnR>
                    <a:lnT>
                      <a:noFill/>
                    </a:lnT>
                    <a:lnB>
                      <a:noFill/>
                    </a:lnB>
                    <a:solidFill>
                      <a:srgbClr val="C2410C"/>
                    </a:solidFill>
                  </a:tcPr>
                </a:tc>
                <a:extLst>
                  <a:ext uri="{0D108BD9-81ED-4DB2-BD59-A6C34878D82A}">
                    <a16:rowId val="1"/>
                  </a:ext>
                </a:extLst>
              </a:tr>
              <a:tr h="666074">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All 26 automated tests pass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GitHub Actions actually running (needs repository permissions)</a:t>
                      </a:r>
                      <a:endParaRPr/>
                    </a:p>
                  </a:txBody>
                  <a:tcPr marL="45720" marR="45720" marT="45720" marB="45720" anchor="ctr">
                    <a:lnL>
                      <a:noFill/>
                    </a:lnL>
                    <a:lnR>
                      <a:noFill/>
                    </a:lnR>
                    <a:lnT>
                      <a:noFill/>
                    </a:lnT>
                    <a:lnB>
                      <a:noFill/>
                    </a:lnB>
                  </a:tcPr>
                </a:tc>
                <a:extLst>
                  <a:ext uri="{0D108BD9-81ED-4DB2-BD59-A6C34878D82A}">
                    <a16:rowId val="2"/>
                  </a:ext>
                </a:extLst>
              </a:tr>
              <a:tr h="666074">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Leaked secret blocked, then passes after the fix (real scanner)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CodeQL code scanning (private repository needs a license)</a:t>
                      </a:r>
                      <a:endParaRPr/>
                    </a:p>
                  </a:txBody>
                  <a:tcPr marL="45720" marR="45720" marT="45720" marB="45720" anchor="ctr">
                    <a:lnL>
                      <a:noFill/>
                    </a:lnL>
                    <a:lnR>
                      <a:noFill/>
                    </a:lnR>
                    <a:lnT>
                      <a:noFill/>
                    </a:lnT>
                    <a:lnB>
                      <a:noFill/>
                    </a:lnB>
                  </a:tcPr>
                </a:tc>
                <a:extLst>
                  <a:ext uri="{0D108BD9-81ED-4DB2-BD59-A6C34878D82A}">
                    <a16:rowId val="3"/>
                  </a:ext>
                </a:extLst>
              </a:tr>
              <a:tr h="666074">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Staging-area bypass blocked: still blocked even after the working tree is fixed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Image vulnerability scan (blocked by the local environment)</a:t>
                      </a:r>
                      <a:endParaRPr/>
                    </a:p>
                  </a:txBody>
                  <a:tcPr marL="45720" marR="45720" marT="45720" marB="45720" anchor="ctr">
                    <a:lnL>
                      <a:noFill/>
                    </a:lnL>
                    <a:lnR>
                      <a:noFill/>
                    </a:lnR>
                    <a:lnT>
                      <a:noFill/>
                    </a:lnT>
                    <a:lnB>
                      <a:noFill/>
                    </a:lnB>
                  </a:tcPr>
                </a:tc>
                <a:extLst>
                  <a:ext uri="{0D108BD9-81ED-4DB2-BD59-A6C34878D82A}">
                    <a16:rowId val="4"/>
                  </a:ext>
                </a:extLst>
              </a:tr>
              <a:tr h="666074">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Container runs non-root / read-only / resource-limited; health check passes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Terraform init / validate (blocked by the local environment)</a:t>
                      </a:r>
                      <a:endParaRPr/>
                    </a:p>
                  </a:txBody>
                  <a:tcPr marL="45720" marR="45720" marT="45720" marB="45720" anchor="ctr">
                    <a:lnL>
                      <a:noFill/>
                    </a:lnL>
                    <a:lnR>
                      <a:noFill/>
                    </a:lnR>
                    <a:lnT>
                      <a:noFill/>
                    </a:lnT>
                    <a:lnB>
                      <a:noFill/>
                    </a:lnB>
                  </a:tcPr>
                </a:tc>
                <a:extLst>
                  <a:ext uri="{0D108BD9-81ED-4DB2-BD59-A6C34878D82A}">
                    <a16:rowId val="5"/>
                  </a:ext>
                </a:extLst>
              </a:tr>
              <a:tr h="666074">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Local RAG answers with citations; refuses questions outside the knowledge base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125">
                          <a:solidFill>
                            <a:srgbClr val="0F1E19"/>
                          </a:solidFill>
                          <a:latin typeface="Microsoft YaHei"/>
                          <a:ea typeface="Microsoft YaHei"/>
                        </a:rPr>
                        <a:t>Branch protection and CODEOWNERS (template not applied)</a:t>
                      </a:r>
                      <a:endParaRPr/>
                    </a:p>
                  </a:txBody>
                  <a:tcPr marL="45720" marR="45720" marT="45720" marB="45720" anchor="ctr">
                    <a:lnL>
                      <a:noFill/>
                    </a:lnL>
                    <a:lnR>
                      <a:noFill/>
                    </a:lnR>
                    <a:lnT>
                      <a:noFill/>
                    </a:lnT>
                    <a:lnB>
                      <a:noFill/>
                    </a:lnB>
                  </a:tcPr>
                </a:tc>
                <a:extLst>
                  <a:ext uri="{0D108BD9-81ED-4DB2-BD59-A6C34878D82A}">
                    <a16:rowId val="6"/>
                  </a:ext>
                </a:extLst>
              </a:tr>
            </a:tbl>
          </a:graphicData>
        </a:graphic>
      </p:graphicFrame>
      <p:sp>
        <p:nvSpPr>
          <p:cNvPr id="98" name=""/>
          <p:cNvSpPr/>
          <p:nvPr/>
        </p:nvSpPr>
        <p:spPr>
          <a:xfrm rot="0" flipH="0" flipV="0">
            <a:off x="609600" y="5410200"/>
            <a:ext cx="10972800" cy="552450"/>
          </a:xfrm>
          <a:prstGeom prst="roundRect">
            <a:avLst>
              <a:gd name="adj" fmla="val 10345"/>
            </a:avLst>
          </a:prstGeom>
          <a:solidFill>
            <a:srgbClr val="167762">
              <a:alpha val="7000"/>
            </a:srgbClr>
          </a:solidFill>
          <a:ln/>
        </p:spPr>
        <p:txBody>
          <a:bodyPr/>
          <a:p/>
        </p:txBody>
      </p:sp>
      <p:sp>
        <p:nvSpPr>
          <p:cNvPr id="99" name="" descr="{&quot;isTemplate&quot;:true,&quot;type&quot;:&quot;text&quot;}"/>
          <p:cNvSpPr txBox="1"/>
          <p:nvPr/>
        </p:nvSpPr>
        <p:spPr>
          <a:xfrm rot="0" flipH="0" flipV="0">
            <a:off x="800100" y="5600700"/>
            <a:ext cx="285750" cy="171450"/>
          </a:xfrm>
          <a:prstGeom prst="rect"/>
        </p:spPr>
        <p:txBody>
          <a:bodyPr wrap="none" lIns="0" tIns="0" rIns="0" bIns="0"/>
          <a:p>
            <a:pPr>
              <a:lnSpc>
                <a:spcPct val="100000"/>
              </a:lnSpc>
            </a:pPr>
            <a:r>
              <a:rPr lang="zh-CN" sz="1125" b="1">
                <a:solidFill>
                  <a:srgbClr val="167762"/>
                </a:solidFill>
                <a:latin typeface="Microsoft YaHei"/>
                <a:ea typeface="Microsoft YaHei"/>
              </a:rPr>
              <a:t>So</a:t>
            </a:r>
            <a:endParaRPr/>
          </a:p>
        </p:txBody>
      </p:sp>
      <p:sp>
        <p:nvSpPr>
          <p:cNvPr id="100" name="" descr="{&quot;isTemplate&quot;:true,&quot;type&quot;:&quot;text&quot;}"/>
          <p:cNvSpPr txBox="1"/>
          <p:nvPr/>
        </p:nvSpPr>
        <p:spPr>
          <a:xfrm rot="0" flipH="0" flipV="0">
            <a:off x="1238250" y="5543550"/>
            <a:ext cx="8039100" cy="285750"/>
          </a:xfrm>
          <a:prstGeom prst="rect"/>
        </p:spPr>
        <p:txBody>
          <a:bodyPr wrap="square" lIns="0" tIns="0" rIns="0" bIns="0"/>
          <a:p>
            <a:pPr>
              <a:lnSpc>
                <a:spcPct val="155000"/>
              </a:lnSpc>
            </a:pPr>
            <a:r>
              <a:rPr lang="zh-CN" sz="1020">
                <a:solidFill>
                  <a:srgbClr val="0F1E19"/>
                </a:solidFill>
                <a:latin typeface="Microsoft YaHei"/>
                <a:ea typeface="Microsoft YaHei"/>
              </a:rPr>
              <a:t>What we can give you now is "locally reproducible evidence," not "everything is already live." All five items on the right need your repository permissions, a license, or an unrestricted machine.</a:t>
            </a:r>
            <a:endParaRPr/>
          </a:p>
        </p:txBody>
      </p:sp>
      <p:sp>
        <p:nvSpPr>
          <p:cNvPr id="101"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102"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13 / 15</a:t>
            </a:r>
            <a:endParaRPr/>
          </a:p>
        </p:txBody>
      </p:sp>
    </p:spTree>
  </p:cSld>
</p:sld>
</file>

<file path=ppt/slides/slide14.xml><?xml version="1.0" encoding="utf-8"?>
<p:sld xmlns:p="http://schemas.openxmlformats.org/presentationml/2006/main" xmlns:a="http://schemas.openxmlformats.org/drawingml/2006/main">
  <p:cSld>
    <p:spTree>
      <p:nvGrpSpPr>
        <p:cNvPr id="103" name="" descr="&lt;Slide style={{ width: 1280, height: 720, background: '#FFFFFF', padding: '26px 64px 18px 64px', position: 'relative', fontFamily: 'Microsoft YaHei' }}&gt;&#10;    &lt;Box style={{ flexDirection: 'row', gap: 44, height: 620 }}&gt;&#10;        &lt;Box style={{ width: 316, flexDirection: 'column', justifyContent: 'center', gap: 14, paddingRight: 28, borderRight: '1px solid rgba(15,30,25,0.10)' }}&gt;&#10;            &lt;Text style={{ fontSize: 15, color: '#C2410C', letterSpacing: 3 }}&gt;需要你决定&lt;/Text&gt;&#10;            &lt;Text style={{ fontSize: 40, fontWeight: 'bold', color: '#0F1E19', lineHeight: 1.25 }}&gt;五件事&lt;br /&gt;定了才能往下走&lt;/Text&gt;&#10;            &lt;Box style={{ width: 48, height: 3, background: '#C2410C' }} /&gt;&#10;            &lt;Text style={{ fontSize: 15, color: '#6B7A72', lineHeight: 1.65 }}&gt;这五个答案决定路线、预算和时间表。其它细节我们可以在过程里补。&lt;/Text&gt;&#10;        &lt;/Box&gt;&#10;        &lt;Box style={{ flex: 1, flexDirection: 'column', justifyContent: 'space-between' }}&gt;&#10;            &lt;Box style={{ flexDirection: 'row', gap: 18, paddingBottom: 14, borderBottom: '1px solid rgba(15,30,25,0.10)' }}&gt;&#10;                &lt;Text style={{ width: 40, fontSize: 22, fontWeight: 'bold', color: '#C2410C', fontFamily: 'Consolas' }}&gt;01&lt;/Text&gt;&#10;                &lt;Box style={{ flex: 1, flexDirection: 'column', gap: 3 }}&gt;&#10;                    &lt;Text style={{ fontSize: 20, fontWeight: 'bold', color: '#0F1E19' }}&gt;代码和资料，能不能出内网&lt;/Text&gt;&#10;                    &lt;Text style={{ fontSize: 15, color: '#44534C', lineHeight: 1.6 }}&gt;这一条直接决定走云端 Copilot、Azure 自建，还是全离线自建（见 P07）。&lt;/Text&gt;&#10;                &lt;/Box&gt;&#10;            &lt;/Box&gt;&#10;            &lt;Box style={{ flexDirection: 'row', gap: 18, paddingBottom: 14, borderBottom: '1px solid rgba(15,30,25,0.10)' }}&gt;&#10;                &lt;Text style={{ width: 40, fontSize: 22, fontWeight: 'bold', color: '#C2410C', fontFamily: 'Consolas' }}&gt;02&lt;/Text&gt;&#10;                &lt;Box style={{ flex: 1, flexDirection: 'column', gap: 3 }}&gt;&#10;                    &lt;Text style={{ fontSize: 20, fontWeight: 'bold', color: '#0F1E19' }}&gt;现在有没有 M365 / E5 许可&lt;/Text&gt;&#10;                    &lt;Text style={{ fontSize: 15, color: '#44534C', lineHeight: 1.6 }}&gt;有许可，Copilot 路线可能几周就见效；没有许可，等于自建，时间与成本完全不同。&lt;/Text&gt;&#10;                &lt;/Box&gt;&#10;            &lt;/Box&gt;&#10;            &lt;Box style={{ flexDirection: 'row', gap: 18, paddingBottom: 14, borderBottom: '1px solid rgba(15,30,25,0.10)' }}&gt;&#10;                &lt;Text style={{ width: 40, fontSize: 22, fontWeight: 'bold', color: '#C2410C', fontFamily: 'Consolas' }}&gt;03&lt;/Text&gt;&#10;                &lt;Box style={{ flex: 1, flexDirection: 'column', gap: 3 }}&gt;&#10;                    &lt;Text style={{ fontSize: 20, fontWeight: 'bold', color: '#0F1E19' }}&gt;身份源用哪一个&lt;/Text&gt;&#10;                    &lt;Text style={{ fontSize: 15, color: '#44534C', lineHeight: 1.6 }}&gt;Entra ID、本地 AD 还是别的人力系统。这决定权限怎么接、离职怎么即时断权。&lt;/Text&gt;&#10;                &lt;/Box&gt;&#10;            &lt;/Box&gt;&#10;            &lt;Box style={{ flexDirection: 'row', gap: 18, paddingBottom: 14, borderBottom: '1px solid rgba(15,30,25,0.10)' }}&gt;&#10;                &lt;Text style={{ width: 40, fontSize: 22, fontWeight: 'bold', color: '#C2410C', fontFamily: 'Consolas' }}&gt;04&lt;/Text&gt;&#10;                &lt;Box style={{ flex: 1, flexDirection: 'column', gap: 3 }}&gt;&#10;                    &lt;Text style={{ fontSize: 20, fontWeight: 'bold', color: '#0F1E19' }}&gt;环境分几套，谁能碰生产&lt;/Text&gt;&#10;                    &lt;Text style={{ fontSize: 15, color: '#44534C', lineHeight: 1.6 }}&gt;Test / UAT / PROD 要几套、生产权限给谁。环境越多，权限模型和运维成本越高。&lt;/Text&gt;&#10;                &lt;/Box&gt;&#10;            &lt;/Box&gt;&#10;            &lt;Box style={{ flexDirection: 'row', gap: 18 }}&gt;&#10;                &lt;Text style={{ width: 40, fontSize: 22, fontWeight: 'bold', color: '#C2410C', fontFamily: 'Consolas' }}&gt;05&lt;/Text&gt;&#10;                &lt;Box style={{ flex: 1, flexDirection: 'column', gap: 3 }}&gt;&#10;                    &lt;Text style={{ fontSize: 20, fontWeight: 'bold', color: '#0F1E19' }}&gt;RPO / RTO，以及预算形态&lt;/Text&gt;&#10;                    &lt;Text style={{ fontSize: 15, color: '#44534C', lineHeight: 1.6 }}&gt;能丢多少数据、多久要恢复、按年买还是按项目。这三个数决定备份与容灾的投入。&lt;/Text&gt;&#10;                &lt;/Box&gt;&#10;            &lt;/Box&gt;&#10;        &lt;/Box&gt;&#10;    &lt;/Box&gt;&#10;    &lt;Box style={{ position: 'absolute', left: 64, right: 64, bottom: 12, flexDirection: 'row', justifyContent: 'space-between' }}&gt;&#10;        &lt;Text style={{ fontSize: 14, color: '#6B7A72' }}&gt;SENTINEL · 安全开发环境方案&lt;/Text&gt;&#10;        &lt;Text style={{ fontSize: 14, color: '#6B7A72', fontFamily: 'Consolas' }}&gt;14 / 15&lt;/Text&gt;&#10;    &lt;/Box&gt;&#10;&lt;/Slide&gt;&#10;"/>
        <p:cNvGrpSpPr/>
        <p:nvPr/>
      </p:nvGrpSpPr>
      <p:grpSpPr>
        <a:xfrm>
          <a:off x="0" y="0"/>
          <a:ext cx="0" cy="0"/>
          <a:chOff x="0" y="0"/>
          <a:chExt cx="0" cy="0"/>
        </a:xfrm>
      </p:grpSpPr>
      <p:sp>
        <p:nvSpPr>
          <p:cNvPr id="104" name=""/>
          <p:cNvSpPr/>
          <p:nvPr/>
        </p:nvSpPr>
        <p:spPr>
          <a:xfrm rot="0" flipH="0" flipV="0">
            <a:off x="0" y="0"/>
            <a:ext cx="12192000" cy="6858000"/>
          </a:xfrm>
          <a:prstGeom prst="rect">
            <a:avLst/>
          </a:prstGeom>
          <a:solidFill>
            <a:srgbClr val="FFFFFF"/>
          </a:solidFill>
          <a:ln/>
        </p:spPr>
        <p:txBody>
          <a:bodyPr/>
          <a:p/>
        </p:txBody>
      </p:sp>
      <p:sp>
        <p:nvSpPr>
          <p:cNvPr id="105" name=""/>
          <p:cNvSpPr/>
          <p:nvPr/>
        </p:nvSpPr>
        <p:spPr>
          <a:xfrm rot="0" flipH="0" flipV="0">
            <a:off x="609600" y="247650"/>
            <a:ext cx="3009900" cy="5905500"/>
          </a:xfrm>
          <a:custGeom>
            <a:pathLst>
              <a:path w="316" h="620">
                <a:moveTo>
                  <a:pt x="315" y="0"/>
                </a:moveTo>
                <a:lnTo>
                  <a:pt x="316" y="0"/>
                </a:lnTo>
                <a:lnTo>
                  <a:pt x="316" y="620"/>
                </a:lnTo>
                <a:lnTo>
                  <a:pt x="315" y="620"/>
                </a:lnTo>
                <a:close/>
              </a:path>
            </a:pathLst>
          </a:custGeom>
          <a:solidFill>
            <a:srgbClr val="0F1E19">
              <a:alpha val="10000"/>
            </a:srgbClr>
          </a:solidFill>
          <a:ln/>
        </p:spPr>
        <p:txBody>
          <a:bodyPr/>
          <a:p/>
        </p:txBody>
      </p:sp>
      <p:sp>
        <p:nvSpPr>
          <p:cNvPr id="106" name="" descr="{&quot;isTemplate&quot;:true,&quot;type&quot;:&quot;text&quot;}"/>
          <p:cNvSpPr txBox="1"/>
          <p:nvPr/>
        </p:nvSpPr>
        <p:spPr>
          <a:xfrm rot="0" flipH="0" flipV="0">
            <a:off x="609600" y="2047875"/>
            <a:ext cx="2733675" cy="171450"/>
          </a:xfrm>
          <a:prstGeom prst="rect"/>
        </p:spPr>
        <p:txBody>
          <a:bodyPr wrap="none" lIns="0" tIns="0" rIns="0" bIns="0"/>
          <a:p>
            <a:pPr>
              <a:lnSpc>
                <a:spcPct val="100000"/>
              </a:lnSpc>
            </a:pPr>
            <a:r>
              <a:rPr lang="zh-CN" sz="1125" spc="225">
                <a:solidFill>
                  <a:srgbClr val="C2410C"/>
                </a:solidFill>
                <a:latin typeface="Microsoft YaHei"/>
                <a:ea typeface="Microsoft YaHei"/>
              </a:rPr>
              <a:t>Needs your decision</a:t>
            </a:r>
            <a:endParaRPr/>
          </a:p>
        </p:txBody>
      </p:sp>
      <p:sp>
        <p:nvSpPr>
          <p:cNvPr id="107" name="" descr="{&quot;isTemplate&quot;:true,&quot;type&quot;:&quot;text&quot;}"/>
          <p:cNvSpPr txBox="1"/>
          <p:nvPr/>
        </p:nvSpPr>
        <p:spPr>
          <a:xfrm rot="0" flipH="0" flipV="0">
            <a:off x="609600" y="2352675"/>
            <a:ext cx="2733675" cy="1143000"/>
          </a:xfrm>
          <a:prstGeom prst="rect"/>
        </p:spPr>
        <p:txBody>
          <a:bodyPr wrap="square" lIns="0" tIns="0" rIns="0" bIns="0"/>
          <a:p>
            <a:pPr>
              <a:lnSpc>
                <a:spcPct val="125000"/>
              </a:lnSpc>
            </a:pPr>
            <a:r>
              <a:rPr lang="zh-CN" sz="2550" b="1">
                <a:solidFill>
                  <a:srgbClr val="0F1E19"/>
                </a:solidFill>
                <a:latin typeface="Microsoft YaHei"/>
                <a:ea typeface="Microsoft YaHei"/>
              </a:rPr>
              <a:t>Five decisions</a:t>
            </a:r>
            <a:endParaRPr/>
          </a:p>
          <a:p>
            <a:pPr>
              <a:lnSpc>
                <a:spcPct val="125000"/>
              </a:lnSpc>
            </a:pPr>
            <a:r>
              <a:rPr lang="zh-CN" sz="2550" b="1">
                <a:solidFill>
                  <a:srgbClr val="0F1E19"/>
                </a:solidFill>
                <a:latin typeface="Microsoft YaHei"/>
                <a:ea typeface="Microsoft YaHei"/>
              </a:rPr>
              <a:t>before we can move forward</a:t>
            </a:r>
            <a:endParaRPr/>
          </a:p>
        </p:txBody>
      </p:sp>
      <p:sp>
        <p:nvSpPr>
          <p:cNvPr id="108" name=""/>
          <p:cNvSpPr/>
          <p:nvPr/>
        </p:nvSpPr>
        <p:spPr>
          <a:xfrm rot="0" flipH="0" flipV="0">
            <a:off x="609600" y="3629025"/>
            <a:ext cx="457200" cy="28575"/>
          </a:xfrm>
          <a:prstGeom prst="rect">
            <a:avLst/>
          </a:prstGeom>
          <a:solidFill>
            <a:srgbClr val="C2410C"/>
          </a:solidFill>
          <a:ln/>
        </p:spPr>
        <p:txBody>
          <a:bodyPr/>
          <a:p/>
        </p:txBody>
      </p:sp>
      <p:sp>
        <p:nvSpPr>
          <p:cNvPr id="109" name="" descr="{&quot;isTemplate&quot;:true,&quot;type&quot;:&quot;text&quot;}"/>
          <p:cNvSpPr txBox="1"/>
          <p:nvPr/>
        </p:nvSpPr>
        <p:spPr>
          <a:xfrm rot="0" flipH="0" flipV="0">
            <a:off x="609600" y="3790950"/>
            <a:ext cx="2733675" cy="571500"/>
          </a:xfrm>
          <a:prstGeom prst="rect"/>
        </p:spPr>
        <p:txBody>
          <a:bodyPr wrap="square" lIns="0" tIns="0" rIns="0" bIns="0">
            <a:normAutofit/>
          </a:bodyPr>
          <a:p>
            <a:pPr>
              <a:lnSpc>
                <a:spcPct val="165000"/>
              </a:lnSpc>
            </a:pPr>
            <a:r>
              <a:rPr lang="zh-CN" sz="1125">
                <a:solidFill>
                  <a:srgbClr val="6B7A72"/>
                </a:solidFill>
                <a:latin typeface="Microsoft YaHei"/>
                <a:ea typeface="Microsoft YaHei"/>
              </a:rPr>
              <a:t>These five answers set the route, the budget, and the timeline. Other details can be filled in along the way.</a:t>
            </a:r>
            <a:endParaRPr/>
          </a:p>
        </p:txBody>
      </p:sp>
      <p:sp>
        <p:nvSpPr>
          <p:cNvPr id="110" name=""/>
          <p:cNvSpPr/>
          <p:nvPr/>
        </p:nvSpPr>
        <p:spPr>
          <a:xfrm rot="0" flipH="0" flipV="0">
            <a:off x="4038600" y="247650"/>
            <a:ext cx="7543800" cy="685800"/>
          </a:xfrm>
          <a:custGeom>
            <a:pathLst>
              <a:path w="792" h="72">
                <a:moveTo>
                  <a:pt x="0" y="71"/>
                </a:moveTo>
                <a:lnTo>
                  <a:pt x="792" y="71"/>
                </a:lnTo>
                <a:lnTo>
                  <a:pt x="792" y="72"/>
                </a:lnTo>
                <a:lnTo>
                  <a:pt x="0" y="72"/>
                </a:lnTo>
                <a:close/>
              </a:path>
            </a:pathLst>
          </a:custGeom>
          <a:solidFill>
            <a:srgbClr val="0F1E19">
              <a:alpha val="10000"/>
            </a:srgbClr>
          </a:solidFill>
          <a:ln/>
        </p:spPr>
        <p:txBody>
          <a:bodyPr/>
          <a:p/>
        </p:txBody>
      </p:sp>
      <p:sp>
        <p:nvSpPr>
          <p:cNvPr id="111" name="" descr="{&quot;isTemplate&quot;:true,&quot;type&quot;:&quot;text&quot;}"/>
          <p:cNvSpPr txBox="1"/>
          <p:nvPr/>
        </p:nvSpPr>
        <p:spPr>
          <a:xfrm rot="0" flipH="0" flipV="0">
            <a:off x="4038600" y="247650"/>
            <a:ext cx="381000" cy="533400"/>
          </a:xfrm>
          <a:prstGeom prst="rect"/>
        </p:spPr>
        <p:txBody>
          <a:bodyPr wrap="none" lIns="0" tIns="0" rIns="0" bIns="0"/>
          <a:p>
            <a:pPr>
              <a:lnSpc>
                <a:spcPct val="100000"/>
              </a:lnSpc>
            </a:pPr>
            <a:r>
              <a:rPr lang="en-US" sz="1650" b="1">
                <a:solidFill>
                  <a:srgbClr val="C2410C"/>
                </a:solidFill>
                <a:latin typeface="Consolas"/>
                <a:ea typeface="Consolas"/>
              </a:rPr>
              <a:t>01</a:t>
            </a:r>
            <a:endParaRPr/>
          </a:p>
        </p:txBody>
      </p:sp>
      <p:sp>
        <p:nvSpPr>
          <p:cNvPr id="112" name="" descr="{&quot;isTemplate&quot;:true,&quot;type&quot;:&quot;text&quot;}"/>
          <p:cNvSpPr txBox="1"/>
          <p:nvPr/>
        </p:nvSpPr>
        <p:spPr>
          <a:xfrm rot="0" flipH="0" flipV="0">
            <a:off x="4591050" y="247650"/>
            <a:ext cx="6991350" cy="228600"/>
          </a:xfrm>
          <a:prstGeom prst="rect"/>
        </p:spPr>
        <p:txBody>
          <a:bodyPr wrap="none" lIns="0" tIns="0" rIns="0" bIns="0"/>
          <a:p>
            <a:pPr>
              <a:lnSpc>
                <a:spcPct val="100000"/>
              </a:lnSpc>
            </a:pPr>
            <a:r>
              <a:rPr lang="zh-CN" sz="1500" b="1">
                <a:solidFill>
                  <a:srgbClr val="0F1E19"/>
                </a:solidFill>
                <a:latin typeface="Microsoft YaHei"/>
                <a:ea typeface="Microsoft YaHei"/>
              </a:rPr>
              <a:t>Can code and documents leave the internal network?</a:t>
            </a:r>
            <a:endParaRPr/>
          </a:p>
        </p:txBody>
      </p:sp>
      <p:sp>
        <p:nvSpPr>
          <p:cNvPr id="113" name="" descr="{&quot;isTemplate&quot;:true,&quot;type&quot;:&quot;text&quot;}"/>
          <p:cNvSpPr txBox="1"/>
          <p:nvPr/>
        </p:nvSpPr>
        <p:spPr>
          <a:xfrm rot="0" flipH="0" flipV="0">
            <a:off x="4591050" y="504825"/>
            <a:ext cx="6991350" cy="276225"/>
          </a:xfrm>
          <a:prstGeom prst="rect"/>
        </p:spPr>
        <p:txBody>
          <a:bodyPr wrap="square" lIns="0" tIns="0" rIns="0" bIns="0"/>
          <a:p>
            <a:pPr>
              <a:lnSpc>
                <a:spcPct val="160000"/>
              </a:lnSpc>
            </a:pPr>
            <a:r>
              <a:rPr lang="zh-CN" sz="1012">
                <a:solidFill>
                  <a:srgbClr val="44534C"/>
                </a:solidFill>
                <a:latin typeface="Microsoft YaHei"/>
                <a:ea typeface="Microsoft YaHei"/>
              </a:rPr>
              <a:t>This one directly decides whether we go with cloud Copilot, self-built on Azure, or fully offline self-built (see P07).</a:t>
            </a:r>
            <a:endParaRPr/>
          </a:p>
        </p:txBody>
      </p:sp>
      <p:sp>
        <p:nvSpPr>
          <p:cNvPr id="114" name=""/>
          <p:cNvSpPr/>
          <p:nvPr/>
        </p:nvSpPr>
        <p:spPr>
          <a:xfrm rot="0" flipH="0" flipV="0">
            <a:off x="4038600" y="1590675"/>
            <a:ext cx="7543800" cy="685800"/>
          </a:xfrm>
          <a:custGeom>
            <a:pathLst>
              <a:path w="792" h="72">
                <a:moveTo>
                  <a:pt x="0" y="71"/>
                </a:moveTo>
                <a:lnTo>
                  <a:pt x="792" y="71"/>
                </a:lnTo>
                <a:lnTo>
                  <a:pt x="792" y="72"/>
                </a:lnTo>
                <a:lnTo>
                  <a:pt x="0" y="72"/>
                </a:lnTo>
                <a:close/>
              </a:path>
            </a:pathLst>
          </a:custGeom>
          <a:solidFill>
            <a:srgbClr val="0F1E19">
              <a:alpha val="10000"/>
            </a:srgbClr>
          </a:solidFill>
          <a:ln/>
        </p:spPr>
        <p:txBody>
          <a:bodyPr/>
          <a:p/>
        </p:txBody>
      </p:sp>
      <p:sp>
        <p:nvSpPr>
          <p:cNvPr id="115" name="" descr="{&quot;isTemplate&quot;:true,&quot;type&quot;:&quot;text&quot;}"/>
          <p:cNvSpPr txBox="1"/>
          <p:nvPr/>
        </p:nvSpPr>
        <p:spPr>
          <a:xfrm rot="0" flipH="0" flipV="0">
            <a:off x="4038600" y="1590675"/>
            <a:ext cx="381000" cy="533400"/>
          </a:xfrm>
          <a:prstGeom prst="rect"/>
        </p:spPr>
        <p:txBody>
          <a:bodyPr wrap="none" lIns="0" tIns="0" rIns="0" bIns="0"/>
          <a:p>
            <a:pPr>
              <a:lnSpc>
                <a:spcPct val="100000"/>
              </a:lnSpc>
            </a:pPr>
            <a:r>
              <a:rPr lang="en-US" sz="1650" b="1">
                <a:solidFill>
                  <a:srgbClr val="C2410C"/>
                </a:solidFill>
                <a:latin typeface="Consolas"/>
                <a:ea typeface="Consolas"/>
              </a:rPr>
              <a:t>02</a:t>
            </a:r>
            <a:endParaRPr/>
          </a:p>
        </p:txBody>
      </p:sp>
      <p:sp>
        <p:nvSpPr>
          <p:cNvPr id="116" name="" descr="{&quot;isTemplate&quot;:true,&quot;type&quot;:&quot;text&quot;}"/>
          <p:cNvSpPr txBox="1"/>
          <p:nvPr/>
        </p:nvSpPr>
        <p:spPr>
          <a:xfrm rot="0" flipH="0" flipV="0">
            <a:off x="4591050" y="1590675"/>
            <a:ext cx="6991350" cy="228600"/>
          </a:xfrm>
          <a:prstGeom prst="rect"/>
        </p:spPr>
        <p:txBody>
          <a:bodyPr wrap="none" lIns="0" tIns="0" rIns="0" bIns="0"/>
          <a:p>
            <a:pPr>
              <a:lnSpc>
                <a:spcPct val="100000"/>
              </a:lnSpc>
            </a:pPr>
            <a:r>
              <a:rPr lang="zh-CN" sz="1500" b="1">
                <a:solidFill>
                  <a:srgbClr val="0F1E19"/>
                </a:solidFill>
                <a:latin typeface="Microsoft YaHei"/>
                <a:ea typeface="Microsoft YaHei"/>
              </a:rPr>
              <a:t>Do you currently have M365 / E5 licenses?</a:t>
            </a:r>
            <a:endParaRPr/>
          </a:p>
        </p:txBody>
      </p:sp>
      <p:sp>
        <p:nvSpPr>
          <p:cNvPr id="117" name="" descr="{&quot;isTemplate&quot;:true,&quot;type&quot;:&quot;text&quot;}"/>
          <p:cNvSpPr txBox="1"/>
          <p:nvPr/>
        </p:nvSpPr>
        <p:spPr>
          <a:xfrm rot="0" flipH="0" flipV="0">
            <a:off x="4591050" y="1847850"/>
            <a:ext cx="6991350" cy="276225"/>
          </a:xfrm>
          <a:prstGeom prst="rect"/>
        </p:spPr>
        <p:txBody>
          <a:bodyPr wrap="square" lIns="0" tIns="0" rIns="0" bIns="0"/>
          <a:p>
            <a:pPr>
              <a:lnSpc>
                <a:spcPct val="160000"/>
              </a:lnSpc>
            </a:pPr>
            <a:r>
              <a:rPr lang="zh-CN" sz="1012">
                <a:solidFill>
                  <a:srgbClr val="44534C"/>
                </a:solidFill>
                <a:latin typeface="Microsoft YaHei"/>
                <a:ea typeface="Microsoft YaHei"/>
              </a:rPr>
              <a:t>With licenses, the Copilot route could show results within weeks. Without them, it means self-building, and the timeline and cost are completely different.</a:t>
            </a:r>
            <a:endParaRPr/>
          </a:p>
        </p:txBody>
      </p:sp>
      <p:sp>
        <p:nvSpPr>
          <p:cNvPr id="118" name=""/>
          <p:cNvSpPr/>
          <p:nvPr/>
        </p:nvSpPr>
        <p:spPr>
          <a:xfrm rot="0" flipH="0" flipV="0">
            <a:off x="4038600" y="2933700"/>
            <a:ext cx="7543800" cy="685800"/>
          </a:xfrm>
          <a:custGeom>
            <a:pathLst>
              <a:path w="792" h="72">
                <a:moveTo>
                  <a:pt x="0" y="71"/>
                </a:moveTo>
                <a:lnTo>
                  <a:pt x="792" y="71"/>
                </a:lnTo>
                <a:lnTo>
                  <a:pt x="792" y="72"/>
                </a:lnTo>
                <a:lnTo>
                  <a:pt x="0" y="72"/>
                </a:lnTo>
                <a:close/>
              </a:path>
            </a:pathLst>
          </a:custGeom>
          <a:solidFill>
            <a:srgbClr val="0F1E19">
              <a:alpha val="10000"/>
            </a:srgbClr>
          </a:solidFill>
          <a:ln/>
        </p:spPr>
        <p:txBody>
          <a:bodyPr/>
          <a:p/>
        </p:txBody>
      </p:sp>
      <p:sp>
        <p:nvSpPr>
          <p:cNvPr id="119" name="" descr="{&quot;isTemplate&quot;:true,&quot;type&quot;:&quot;text&quot;}"/>
          <p:cNvSpPr txBox="1"/>
          <p:nvPr/>
        </p:nvSpPr>
        <p:spPr>
          <a:xfrm rot="0" flipH="0" flipV="0">
            <a:off x="4038600" y="2933700"/>
            <a:ext cx="381000" cy="533400"/>
          </a:xfrm>
          <a:prstGeom prst="rect"/>
        </p:spPr>
        <p:txBody>
          <a:bodyPr wrap="none" lIns="0" tIns="0" rIns="0" bIns="0"/>
          <a:p>
            <a:pPr>
              <a:lnSpc>
                <a:spcPct val="100000"/>
              </a:lnSpc>
            </a:pPr>
            <a:r>
              <a:rPr lang="en-US" sz="1650" b="1">
                <a:solidFill>
                  <a:srgbClr val="C2410C"/>
                </a:solidFill>
                <a:latin typeface="Consolas"/>
                <a:ea typeface="Consolas"/>
              </a:rPr>
              <a:t>03</a:t>
            </a:r>
            <a:endParaRPr/>
          </a:p>
        </p:txBody>
      </p:sp>
      <p:sp>
        <p:nvSpPr>
          <p:cNvPr id="120" name="" descr="{&quot;isTemplate&quot;:true,&quot;type&quot;:&quot;text&quot;}"/>
          <p:cNvSpPr txBox="1"/>
          <p:nvPr/>
        </p:nvSpPr>
        <p:spPr>
          <a:xfrm rot="0" flipH="0" flipV="0">
            <a:off x="4591050" y="2933700"/>
            <a:ext cx="6991350" cy="228600"/>
          </a:xfrm>
          <a:prstGeom prst="rect"/>
        </p:spPr>
        <p:txBody>
          <a:bodyPr wrap="none" lIns="0" tIns="0" rIns="0" bIns="0"/>
          <a:p>
            <a:pPr>
              <a:lnSpc>
                <a:spcPct val="100000"/>
              </a:lnSpc>
            </a:pPr>
            <a:r>
              <a:rPr lang="zh-CN" sz="1500" b="1">
                <a:solidFill>
                  <a:srgbClr val="0F1E19"/>
                </a:solidFill>
                <a:latin typeface="Microsoft YaHei"/>
                <a:ea typeface="Microsoft YaHei"/>
              </a:rPr>
              <a:t>Which identity source should we use?</a:t>
            </a:r>
            <a:endParaRPr/>
          </a:p>
        </p:txBody>
      </p:sp>
      <p:sp>
        <p:nvSpPr>
          <p:cNvPr id="121" name="" descr="{&quot;isTemplate&quot;:true,&quot;type&quot;:&quot;text&quot;}"/>
          <p:cNvSpPr txBox="1"/>
          <p:nvPr/>
        </p:nvSpPr>
        <p:spPr>
          <a:xfrm rot="0" flipH="0" flipV="0">
            <a:off x="4591050" y="3190875"/>
            <a:ext cx="6991350" cy="276225"/>
          </a:xfrm>
          <a:prstGeom prst="rect"/>
        </p:spPr>
        <p:txBody>
          <a:bodyPr wrap="square" lIns="0" tIns="0" rIns="0" bIns="0"/>
          <a:p>
            <a:pPr>
              <a:lnSpc>
                <a:spcPct val="160000"/>
              </a:lnSpc>
            </a:pPr>
            <a:r>
              <a:rPr lang="en-US" sz="1012">
                <a:solidFill>
                  <a:srgbClr val="44534C"/>
                </a:solidFill>
                <a:latin typeface="Microsoft YaHei"/>
                <a:ea typeface="Microsoft YaHei"/>
              </a:rPr>
              <a:t>Entra ID, on-premises AD, or another HR system. This decides how permissions connect and how access is cut off immediately when someone leaves.</a:t>
            </a:r>
            <a:endParaRPr/>
          </a:p>
        </p:txBody>
      </p:sp>
      <p:sp>
        <p:nvSpPr>
          <p:cNvPr id="122" name=""/>
          <p:cNvSpPr/>
          <p:nvPr/>
        </p:nvSpPr>
        <p:spPr>
          <a:xfrm rot="0" flipH="0" flipV="0">
            <a:off x="4038600" y="4276725"/>
            <a:ext cx="7543800" cy="685800"/>
          </a:xfrm>
          <a:custGeom>
            <a:pathLst>
              <a:path w="792" h="72">
                <a:moveTo>
                  <a:pt x="0" y="71"/>
                </a:moveTo>
                <a:lnTo>
                  <a:pt x="792" y="71"/>
                </a:lnTo>
                <a:lnTo>
                  <a:pt x="792" y="72"/>
                </a:lnTo>
                <a:lnTo>
                  <a:pt x="0" y="72"/>
                </a:lnTo>
                <a:close/>
              </a:path>
            </a:pathLst>
          </a:custGeom>
          <a:solidFill>
            <a:srgbClr val="0F1E19">
              <a:alpha val="10000"/>
            </a:srgbClr>
          </a:solidFill>
          <a:ln/>
        </p:spPr>
        <p:txBody>
          <a:bodyPr/>
          <a:p/>
        </p:txBody>
      </p:sp>
      <p:sp>
        <p:nvSpPr>
          <p:cNvPr id="123" name="" descr="{&quot;isTemplate&quot;:true,&quot;type&quot;:&quot;text&quot;}"/>
          <p:cNvSpPr txBox="1"/>
          <p:nvPr/>
        </p:nvSpPr>
        <p:spPr>
          <a:xfrm rot="0" flipH="0" flipV="0">
            <a:off x="4038600" y="4276725"/>
            <a:ext cx="381000" cy="533400"/>
          </a:xfrm>
          <a:prstGeom prst="rect"/>
        </p:spPr>
        <p:txBody>
          <a:bodyPr wrap="none" lIns="0" tIns="0" rIns="0" bIns="0"/>
          <a:p>
            <a:pPr>
              <a:lnSpc>
                <a:spcPct val="100000"/>
              </a:lnSpc>
            </a:pPr>
            <a:r>
              <a:rPr lang="en-US" sz="1650" b="1">
                <a:solidFill>
                  <a:srgbClr val="C2410C"/>
                </a:solidFill>
                <a:latin typeface="Consolas"/>
                <a:ea typeface="Consolas"/>
              </a:rPr>
              <a:t>04</a:t>
            </a:r>
            <a:endParaRPr/>
          </a:p>
        </p:txBody>
      </p:sp>
      <p:sp>
        <p:nvSpPr>
          <p:cNvPr id="124" name="" descr="{&quot;isTemplate&quot;:true,&quot;type&quot;:&quot;text&quot;}"/>
          <p:cNvSpPr txBox="1"/>
          <p:nvPr/>
        </p:nvSpPr>
        <p:spPr>
          <a:xfrm rot="0" flipH="0" flipV="0">
            <a:off x="4591050" y="4276725"/>
            <a:ext cx="6991350" cy="228600"/>
          </a:xfrm>
          <a:prstGeom prst="rect"/>
        </p:spPr>
        <p:txBody>
          <a:bodyPr wrap="none" lIns="0" tIns="0" rIns="0" bIns="0"/>
          <a:p>
            <a:pPr>
              <a:lnSpc>
                <a:spcPct val="100000"/>
              </a:lnSpc>
            </a:pPr>
            <a:r>
              <a:rPr lang="zh-CN" sz="1500" b="1">
                <a:solidFill>
                  <a:srgbClr val="0F1E19"/>
                </a:solidFill>
                <a:latin typeface="Microsoft YaHei"/>
                <a:ea typeface="Microsoft YaHei"/>
              </a:rPr>
              <a:t>How many environments, and who can touch production?</a:t>
            </a:r>
            <a:endParaRPr/>
          </a:p>
        </p:txBody>
      </p:sp>
      <p:sp>
        <p:nvSpPr>
          <p:cNvPr id="125" name="" descr="{&quot;isTemplate&quot;:true,&quot;type&quot;:&quot;text&quot;}"/>
          <p:cNvSpPr txBox="1"/>
          <p:nvPr/>
        </p:nvSpPr>
        <p:spPr>
          <a:xfrm rot="0" flipH="0" flipV="0">
            <a:off x="4591050" y="4533900"/>
            <a:ext cx="6991350" cy="276225"/>
          </a:xfrm>
          <a:prstGeom prst="rect"/>
        </p:spPr>
        <p:txBody>
          <a:bodyPr wrap="square" lIns="0" tIns="0" rIns="0" bIns="0"/>
          <a:p>
            <a:pPr>
              <a:lnSpc>
                <a:spcPct val="160000"/>
              </a:lnSpc>
            </a:pPr>
            <a:r>
              <a:rPr lang="en-US" sz="1012">
                <a:solidFill>
                  <a:srgbClr val="44534C"/>
                </a:solidFill>
                <a:latin typeface="Microsoft YaHei"/>
                <a:ea typeface="Microsoft YaHei"/>
              </a:rPr>
              <a:t>How many Test / UAT / PROD environments, and who gets production access. The more environments, the higher the permission model and operations cost.</a:t>
            </a:r>
            <a:endParaRPr/>
          </a:p>
        </p:txBody>
      </p:sp>
      <p:sp>
        <p:nvSpPr>
          <p:cNvPr id="126" name="" descr="{&quot;isTemplate&quot;:true,&quot;type&quot;:&quot;text&quot;}"/>
          <p:cNvSpPr txBox="1"/>
          <p:nvPr/>
        </p:nvSpPr>
        <p:spPr>
          <a:xfrm rot="0" flipH="0" flipV="0">
            <a:off x="4038600" y="5619750"/>
            <a:ext cx="381000" cy="533400"/>
          </a:xfrm>
          <a:prstGeom prst="rect"/>
        </p:spPr>
        <p:txBody>
          <a:bodyPr wrap="none" lIns="0" tIns="0" rIns="0" bIns="0"/>
          <a:p>
            <a:pPr>
              <a:lnSpc>
                <a:spcPct val="100000"/>
              </a:lnSpc>
            </a:pPr>
            <a:r>
              <a:rPr lang="en-US" sz="1650" b="1">
                <a:solidFill>
                  <a:srgbClr val="C2410C"/>
                </a:solidFill>
                <a:latin typeface="Consolas"/>
                <a:ea typeface="Consolas"/>
              </a:rPr>
              <a:t>05</a:t>
            </a:r>
            <a:endParaRPr/>
          </a:p>
        </p:txBody>
      </p:sp>
      <p:sp>
        <p:nvSpPr>
          <p:cNvPr id="127" name="" descr="{&quot;isTemplate&quot;:true,&quot;type&quot;:&quot;text&quot;}"/>
          <p:cNvSpPr txBox="1"/>
          <p:nvPr/>
        </p:nvSpPr>
        <p:spPr>
          <a:xfrm rot="0" flipH="0" flipV="0">
            <a:off x="4591050" y="5619750"/>
            <a:ext cx="6991350" cy="228600"/>
          </a:xfrm>
          <a:prstGeom prst="rect"/>
        </p:spPr>
        <p:txBody>
          <a:bodyPr wrap="none" lIns="0" tIns="0" rIns="0" bIns="0"/>
          <a:p>
            <a:pPr>
              <a:lnSpc>
                <a:spcPct val="100000"/>
              </a:lnSpc>
            </a:pPr>
            <a:r>
              <a:rPr lang="en-US" sz="1500" b="1">
                <a:solidFill>
                  <a:srgbClr val="0F1E19"/>
                </a:solidFill>
                <a:latin typeface="Microsoft YaHei"/>
                <a:ea typeface="Microsoft YaHei"/>
              </a:rPr>
              <a:t>RPO / RTO, and budget shape</a:t>
            </a:r>
            <a:endParaRPr/>
          </a:p>
        </p:txBody>
      </p:sp>
      <p:sp>
        <p:nvSpPr>
          <p:cNvPr id="128" name="" descr="{&quot;isTemplate&quot;:true,&quot;type&quot;:&quot;text&quot;}"/>
          <p:cNvSpPr txBox="1"/>
          <p:nvPr/>
        </p:nvSpPr>
        <p:spPr>
          <a:xfrm rot="0" flipH="0" flipV="0">
            <a:off x="4591050" y="5876925"/>
            <a:ext cx="6991350" cy="276225"/>
          </a:xfrm>
          <a:prstGeom prst="rect"/>
        </p:spPr>
        <p:txBody>
          <a:bodyPr wrap="square" lIns="0" tIns="0" rIns="0" bIns="0"/>
          <a:p>
            <a:pPr>
              <a:lnSpc>
                <a:spcPct val="160000"/>
              </a:lnSpc>
            </a:pPr>
            <a:r>
              <a:rPr lang="zh-CN" sz="1012">
                <a:solidFill>
                  <a:srgbClr val="44534C"/>
                </a:solidFill>
                <a:latin typeface="Microsoft YaHei"/>
                <a:ea typeface="Microsoft YaHei"/>
              </a:rPr>
              <a:t>How much data can be lost, how quickly service must be restored, and whether it is bought annually or per project. These three answers set the investment in backup and disaster recovery.</a:t>
            </a:r>
            <a:endParaRPr/>
          </a:p>
        </p:txBody>
      </p:sp>
      <p:sp>
        <p:nvSpPr>
          <p:cNvPr id="129" name="" descr="{&quot;isTemplate&quot;:true,&quot;type&quot;:&quot;text&quot;}"/>
          <p:cNvSpPr txBox="1"/>
          <p:nvPr/>
        </p:nvSpPr>
        <p:spPr>
          <a:xfrm rot="0" flipH="0" flipV="0">
            <a:off x="609600" y="6581775"/>
            <a:ext cx="3282890" cy="161925"/>
          </a:xfrm>
          <a:prstGeom prst="rect"/>
        </p:spPr>
        <p:txBody>
          <a:bodyPr wrap="none" lIns="0" tIns="0" rIns="0" bIns="0"/>
          <a:p>
            <a:pPr>
              <a:lnSpc>
                <a:spcPct val="100000"/>
              </a:lnSpc>
            </a:pPr>
            <a:r>
              <a:rPr lang="en-US" sz="1050">
                <a:solidFill>
                  <a:srgbClr val="6B7A72"/>
                </a:solidFill>
                <a:latin typeface="Microsoft YaHei"/>
                <a:ea typeface="Microsoft YaHei"/>
              </a:rPr>
              <a:t>SENTINEL · Secure Development Environment Plan</a:t>
            </a:r>
            <a:endParaRPr/>
          </a:p>
        </p:txBody>
      </p:sp>
      <p:sp>
        <p:nvSpPr>
          <p:cNvPr id="130" name="" descr="{&quot;isTemplate&quot;:true,&quot;type&quot;:&quot;text&quot;}"/>
          <p:cNvSpPr txBox="1"/>
          <p:nvPr/>
        </p:nvSpPr>
        <p:spPr>
          <a:xfrm rot="0" flipH="0" flipV="0">
            <a:off x="11068050" y="6581775"/>
            <a:ext cx="514350" cy="161925"/>
          </a:xfrm>
          <a:prstGeom prst="rect"/>
        </p:spPr>
        <p:txBody>
          <a:bodyPr wrap="none" lIns="0" tIns="0" rIns="0" bIns="0"/>
          <a:p>
            <a:pPr>
              <a:lnSpc>
                <a:spcPct val="100000"/>
              </a:lnSpc>
            </a:pPr>
            <a:r>
              <a:rPr lang="en-US" sz="1050">
                <a:solidFill>
                  <a:srgbClr val="6B7A72"/>
                </a:solidFill>
                <a:latin typeface="Consolas"/>
                <a:ea typeface="Consolas"/>
              </a:rPr>
              <a:t>14 / 15</a:t>
            </a:r>
            <a:endParaRPr/>
          </a:p>
        </p:txBody>
      </p:sp>
    </p:spTree>
  </p:cSld>
</p:sld>
</file>

<file path=ppt/slides/slide15.xml><?xml version="1.0" encoding="utf-8"?>
<p:sld xmlns:p="http://schemas.openxmlformats.org/presentationml/2006/main" xmlns:a="http://schemas.openxmlformats.org/drawingml/2006/main">
  <p:cSld>
    <p:spTree>
      <p:nvGrpSpPr>
        <p:cNvPr id="131" name="" descr="&lt;Slide style={{ width: 1280, height: 720, background: '#0F1E19', position: 'relative', padding: 0, fontFamily: 'Microsoft YaHei' }}&gt;&#10;    &lt;Box style={{ position: 'absolute', left: 0, top: 0, width: 1280, height: 720, padding: '0 120px', flexDirection: 'column', justifyContent: 'center', gap: 30 }}&gt;&#10;        &lt;Text style={{ fontSize: 15, color: 'rgba(255,255,255,0.5)', letterSpacing: 4 }}&gt;SENTINEL&lt;/Text&gt;&#10;        &lt;Text style={{ fontSize: 44, fontWeight: 'bold', color: '#FFFFFF', lineHeight: 1.4 }}&gt;&#10;            安全不是加了多少扫描器，&lt;br /&gt;而是每条必经之路上，&lt;br /&gt;都有一个绕不过去的关卡。&#10;        &lt;/Text&gt;&#10;        &lt;Box style={{ width: 72, height: 3, background: '#167762' }} /&gt;&#10;        &lt;Box style={{ flexDirection: 'row', gap: 56 }}&gt;&#10;            &lt;Box style={{ flexDirection: 'column', gap: 4 }}&gt;&#10;                &lt;Text style={{ fontSize: 15, color: 'rgba(255,255,255,0.45)' }}&gt;下一步&lt;/Text&gt;&#10;                &lt;Text style={{ fontSize: 18, color: '#FFFFFF' }}&gt;30 分钟对齐会，先把 P14 的五个答案定下来&lt;/Text&gt;&#10;            &lt;/Box&gt;&#10;            &lt;Box style={{ flexDirection: 'column', gap: 4 }}&gt;&#10;                &lt;Text style={{ fontSize: 15, color: 'rgba(255,255,255,0.45)' }}&gt;可提供的&lt;/Text&gt;&#10;                &lt;Text style={{ fontSize: 18, color: '#FFFFFF' }}&gt;本地演示 · 证据清单 · 可复跑的测试&lt;/Text&gt;&#10;            &lt;/Box&gt;&#10;        &lt;/Box&gt;&#10;    &lt;/Box&gt;&#10;&lt;/Slide&gt;&#10;"/>
        <p:cNvGrpSpPr/>
        <p:nvPr/>
      </p:nvGrpSpPr>
      <p:grpSpPr>
        <a:xfrm>
          <a:off x="0" y="0"/>
          <a:ext cx="0" cy="0"/>
          <a:chOff x="0" y="0"/>
          <a:chExt cx="0" cy="0"/>
        </a:xfrm>
      </p:grpSpPr>
      <p:sp>
        <p:nvSpPr>
          <p:cNvPr id="132" name=""/>
          <p:cNvSpPr/>
          <p:nvPr/>
        </p:nvSpPr>
        <p:spPr>
          <a:xfrm rot="0" flipH="0" flipV="0">
            <a:off x="0" y="0"/>
            <a:ext cx="12192000" cy="6858000"/>
          </a:xfrm>
          <a:prstGeom prst="rect">
            <a:avLst/>
          </a:prstGeom>
          <a:solidFill>
            <a:srgbClr val="0F1E19"/>
          </a:solidFill>
          <a:ln/>
        </p:spPr>
        <p:txBody>
          <a:bodyPr/>
          <a:p/>
        </p:txBody>
      </p:sp>
      <p:sp>
        <p:nvSpPr>
          <p:cNvPr id="133" name="" descr="{&quot;isTemplate&quot;:true,&quot;type&quot;:&quot;text&quot;}"/>
          <p:cNvSpPr txBox="1"/>
          <p:nvPr/>
        </p:nvSpPr>
        <p:spPr>
          <a:xfrm rot="0" flipH="0" flipV="0">
            <a:off x="1143000" y="1638300"/>
            <a:ext cx="9906000" cy="171450"/>
          </a:xfrm>
          <a:prstGeom prst="rect"/>
        </p:spPr>
        <p:txBody>
          <a:bodyPr wrap="none" lIns="0" tIns="0" rIns="0" bIns="0"/>
          <a:p>
            <a:pPr>
              <a:lnSpc>
                <a:spcPct val="100000"/>
              </a:lnSpc>
            </a:pPr>
            <a:r>
              <a:rPr lang="en-US" sz="1125" spc="300">
                <a:solidFill>
                  <a:srgbClr val="FFFFFF">
                    <a:alpha val="50000"/>
                  </a:srgbClr>
                </a:solidFill>
                <a:latin typeface="Microsoft YaHei"/>
                <a:ea typeface="Microsoft YaHei"/>
              </a:rPr>
              <a:t>SENTINEL</a:t>
            </a:r>
            <a:endParaRPr/>
          </a:p>
        </p:txBody>
      </p:sp>
      <p:sp>
        <p:nvSpPr>
          <p:cNvPr id="134" name="" descr="{&quot;isTemplate&quot;:true,&quot;type&quot;:&quot;text&quot;}"/>
          <p:cNvSpPr txBox="1"/>
          <p:nvPr/>
        </p:nvSpPr>
        <p:spPr>
          <a:xfrm rot="0" flipH="0" flipV="0">
            <a:off x="1143000" y="2095500"/>
            <a:ext cx="9906000" cy="2114550"/>
          </a:xfrm>
          <a:prstGeom prst="rect"/>
        </p:spPr>
        <p:txBody>
          <a:bodyPr wrap="none" lIns="0" tIns="0" rIns="0" bIns="0"/>
          <a:p>
            <a:pPr>
              <a:lnSpc>
                <a:spcPct val="140000"/>
              </a:lnSpc>
            </a:pPr>
            <a:r>
              <a:rPr lang="zh-CN" sz="3300" b="1">
                <a:solidFill>
                  <a:srgbClr val="FFFFFF"/>
                </a:solidFill>
                <a:latin typeface="Microsoft YaHei"/>
                <a:ea typeface="Microsoft YaHei"/>
              </a:rPr>
              <a:t>Security is not how many scanners you add,</a:t>
            </a:r>
            <a:endParaRPr/>
          </a:p>
          <a:p>
            <a:pPr>
              <a:lnSpc>
                <a:spcPct val="140000"/>
              </a:lnSpc>
            </a:pPr>
            <a:r>
              <a:rPr lang="zh-CN" sz="3300" b="1">
                <a:solidFill>
                  <a:srgbClr val="FFFFFF"/>
                </a:solidFill>
                <a:latin typeface="Microsoft YaHei"/>
                <a:ea typeface="Microsoft YaHei"/>
              </a:rPr>
              <a:t>but a gate on every mandatory path</a:t>
            </a:r>
            <a:endParaRPr/>
          </a:p>
          <a:p>
            <a:pPr>
              <a:lnSpc>
                <a:spcPct val="140000"/>
              </a:lnSpc>
            </a:pPr>
            <a:r>
              <a:rPr lang="zh-CN" sz="3300" b="1">
                <a:solidFill>
                  <a:srgbClr val="FFFFFF"/>
                </a:solidFill>
                <a:latin typeface="Microsoft YaHei"/>
                <a:ea typeface="Microsoft YaHei"/>
              </a:rPr>
              <a:t>that cannot be bypassed.</a:t>
            </a:r>
            <a:endParaRPr/>
          </a:p>
        </p:txBody>
      </p:sp>
      <p:sp>
        <p:nvSpPr>
          <p:cNvPr id="135" name=""/>
          <p:cNvSpPr/>
          <p:nvPr/>
        </p:nvSpPr>
        <p:spPr>
          <a:xfrm rot="0" flipH="0" flipV="0">
            <a:off x="1143000" y="4495800"/>
            <a:ext cx="685800" cy="28575"/>
          </a:xfrm>
          <a:prstGeom prst="rect">
            <a:avLst/>
          </a:prstGeom>
          <a:solidFill>
            <a:srgbClr val="167762"/>
          </a:solidFill>
          <a:ln/>
        </p:spPr>
        <p:txBody>
          <a:bodyPr/>
          <a:p/>
        </p:txBody>
      </p:sp>
      <p:sp>
        <p:nvSpPr>
          <p:cNvPr id="136" name="" descr="{&quot;isTemplate&quot;:true,&quot;type&quot;:&quot;text&quot;}"/>
          <p:cNvSpPr txBox="1"/>
          <p:nvPr/>
        </p:nvSpPr>
        <p:spPr>
          <a:xfrm rot="0" flipH="0" flipV="0">
            <a:off x="1143000" y="4810125"/>
            <a:ext cx="3409950" cy="171450"/>
          </a:xfrm>
          <a:prstGeom prst="rect"/>
        </p:spPr>
        <p:txBody>
          <a:bodyPr wrap="none" lIns="0" tIns="0" rIns="0" bIns="0"/>
          <a:p>
            <a:pPr>
              <a:lnSpc>
                <a:spcPct val="100000"/>
              </a:lnSpc>
            </a:pPr>
            <a:r>
              <a:rPr lang="zh-CN" sz="1125">
                <a:solidFill>
                  <a:srgbClr val="FFFFFF">
                    <a:alpha val="45000"/>
                  </a:srgbClr>
                </a:solidFill>
                <a:latin typeface="Microsoft YaHei"/>
                <a:ea typeface="Microsoft YaHei"/>
              </a:rPr>
              <a:t>Next step</a:t>
            </a:r>
            <a:endParaRPr/>
          </a:p>
        </p:txBody>
      </p:sp>
      <p:sp>
        <p:nvSpPr>
          <p:cNvPr id="137" name="" descr="{&quot;isTemplate&quot;:true,&quot;type&quot;:&quot;text&quot;}"/>
          <p:cNvSpPr txBox="1"/>
          <p:nvPr/>
        </p:nvSpPr>
        <p:spPr>
          <a:xfrm rot="0" flipH="0" flipV="0">
            <a:off x="1143000" y="5019675"/>
            <a:ext cx="3409950" cy="209550"/>
          </a:xfrm>
          <a:prstGeom prst="rect"/>
        </p:spPr>
        <p:txBody>
          <a:bodyPr wrap="square" lIns="0" tIns="0" rIns="0" bIns="0"/>
          <a:p>
            <a:pPr>
              <a:lnSpc>
                <a:spcPct val="100000"/>
              </a:lnSpc>
            </a:pPr>
            <a:r>
              <a:rPr lang="en-US" sz="945">
                <a:solidFill>
                  <a:srgbClr val="FFFFFF"/>
                </a:solidFill>
                <a:latin typeface="Microsoft YaHei"/>
                <a:ea typeface="Microsoft YaHei"/>
              </a:rPr>
              <a:t>A 30-minute alignment meeting to settle the five answers on P14 first</a:t>
            </a:r>
            <a:endParaRPr/>
          </a:p>
        </p:txBody>
      </p:sp>
      <p:sp>
        <p:nvSpPr>
          <p:cNvPr id="138" name="" descr="{&quot;isTemplate&quot;:true,&quot;type&quot;:&quot;text&quot;}"/>
          <p:cNvSpPr txBox="1"/>
          <p:nvPr/>
        </p:nvSpPr>
        <p:spPr>
          <a:xfrm rot="0" flipH="0" flipV="0">
            <a:off x="5086350" y="4810125"/>
            <a:ext cx="2686050" cy="171450"/>
          </a:xfrm>
          <a:prstGeom prst="rect"/>
        </p:spPr>
        <p:txBody>
          <a:bodyPr wrap="none" lIns="0" tIns="0" rIns="0" bIns="0"/>
          <a:p>
            <a:pPr>
              <a:lnSpc>
                <a:spcPct val="100000"/>
              </a:lnSpc>
            </a:pPr>
            <a:r>
              <a:rPr lang="zh-CN" sz="1125">
                <a:solidFill>
                  <a:srgbClr val="FFFFFF">
                    <a:alpha val="45000"/>
                  </a:srgbClr>
                </a:solidFill>
                <a:latin typeface="Microsoft YaHei"/>
                <a:ea typeface="Microsoft YaHei"/>
              </a:rPr>
              <a:t>What we can provide</a:t>
            </a:r>
            <a:endParaRPr/>
          </a:p>
        </p:txBody>
      </p:sp>
      <p:sp>
        <p:nvSpPr>
          <p:cNvPr id="139" name="" descr="{&quot;isTemplate&quot;:true,&quot;type&quot;:&quot;text&quot;}"/>
          <p:cNvSpPr txBox="1"/>
          <p:nvPr/>
        </p:nvSpPr>
        <p:spPr>
          <a:xfrm rot="0" flipH="0" flipV="0">
            <a:off x="5086350" y="5019675"/>
            <a:ext cx="4175700" cy="209550"/>
          </a:xfrm>
          <a:prstGeom prst="rect"/>
        </p:spPr>
        <p:txBody>
          <a:bodyPr wrap="none" lIns="0" tIns="0" rIns="0" bIns="0"/>
          <a:p>
            <a:pPr>
              <a:lnSpc>
                <a:spcPct val="100000"/>
              </a:lnSpc>
            </a:pPr>
            <a:r>
              <a:rPr lang="zh-CN" sz="1350">
                <a:solidFill>
                  <a:srgbClr val="FFFFFF"/>
                </a:solidFill>
                <a:latin typeface="Microsoft YaHei"/>
                <a:ea typeface="Microsoft YaHei"/>
              </a:rPr>
              <a:t>Local demo · evidence checklist · re-runnable tests</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2026-10-22T09:15:03Z</dcterms:created>
  <dcterms:modified xsi:type="dcterms:W3CDTF">2026-10-22T09:15:03Z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{"AIGC":{"Label":"1","ContentProducer":"00119111010856365494821B355","ProduceID":"01a16423df5a738ca0ba7fc6bd42b289","ReservedCode1":"","ContentPropagator":"00119111010856365494821B355","PropagateID":"01a16423df5a738ca0ba7fc6bd42b289","ReservedCode2":""}}</vt:lpwstr>
  </property>
</Properties>
</file>